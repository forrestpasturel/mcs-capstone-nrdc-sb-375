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9" r:id="rId2"/>
    <p:sldId id="256" r:id="rId3"/>
    <p:sldId id="272" r:id="rId4"/>
    <p:sldId id="257" r:id="rId5"/>
    <p:sldId id="258" r:id="rId6"/>
    <p:sldId id="259" r:id="rId7"/>
    <p:sldId id="260" r:id="rId8"/>
    <p:sldId id="261" r:id="rId9"/>
    <p:sldId id="262" r:id="rId10"/>
    <p:sldId id="263" r:id="rId11"/>
    <p:sldId id="264" r:id="rId12"/>
    <p:sldId id="265" r:id="rId13"/>
    <p:sldId id="266" r:id="rId14"/>
    <p:sldId id="267" r:id="rId15"/>
    <p:sldId id="27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967A"/>
    <a:srgbClr val="E3B99E"/>
    <a:srgbClr val="F5E6D3"/>
    <a:srgbClr val="2284A8"/>
    <a:srgbClr val="0F7166"/>
    <a:srgbClr val="076C60"/>
    <a:srgbClr val="005A62"/>
    <a:srgbClr val="BEA20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6041"/>
  </p:normalViewPr>
  <p:slideViewPr>
    <p:cSldViewPr snapToGrid="0" snapToObjects="1">
      <p:cViewPr varScale="1">
        <p:scale>
          <a:sx n="118" d="100"/>
          <a:sy n="118" d="100"/>
        </p:scale>
        <p:origin x="384"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811567-72F8-4A25-8D44-A44510E0E3F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546BB92-A7F7-4A31-A342-57F429D01D68}">
      <dgm:prSet custT="1"/>
      <dgm:spPr/>
      <dgm:t>
        <a:bodyPr/>
        <a:lstStyle/>
        <a:p>
          <a:pPr>
            <a:lnSpc>
              <a:spcPct val="100000"/>
            </a:lnSpc>
          </a:pPr>
          <a:r>
            <a:rPr lang="en-US" sz="1800" b="0" dirty="0">
              <a:solidFill>
                <a:srgbClr val="076C60"/>
              </a:solidFill>
            </a:rPr>
            <a:t>VMT: CA's daily driving tab</a:t>
          </a:r>
        </a:p>
      </dgm:t>
    </dgm:pt>
    <dgm:pt modelId="{35325462-366E-4C34-AE61-78BCF17885A9}" type="parTrans" cxnId="{4B7B028E-1987-4997-835A-EC27B7166C5C}">
      <dgm:prSet/>
      <dgm:spPr/>
      <dgm:t>
        <a:bodyPr/>
        <a:lstStyle/>
        <a:p>
          <a:endParaRPr lang="en-US"/>
        </a:p>
      </dgm:t>
    </dgm:pt>
    <dgm:pt modelId="{F4DB988E-AF93-4E8E-8D5E-AE423C89435E}" type="sibTrans" cxnId="{4B7B028E-1987-4997-835A-EC27B7166C5C}">
      <dgm:prSet/>
      <dgm:spPr/>
      <dgm:t>
        <a:bodyPr/>
        <a:lstStyle/>
        <a:p>
          <a:endParaRPr lang="en-US"/>
        </a:p>
      </dgm:t>
    </dgm:pt>
    <dgm:pt modelId="{A8DD809B-B1B2-4FDC-9E55-B819AE50B24F}">
      <dgm:prSet custT="1"/>
      <dgm:spPr/>
      <dgm:t>
        <a:bodyPr/>
        <a:lstStyle/>
        <a:p>
          <a:pPr>
            <a:lnSpc>
              <a:spcPct val="100000"/>
            </a:lnSpc>
          </a:pPr>
          <a:r>
            <a:rPr lang="en-US" sz="1800" dirty="0">
              <a:solidFill>
                <a:srgbClr val="076C60"/>
              </a:solidFill>
            </a:rPr>
            <a:t>Californians drive about 24–25 miles per person per day</a:t>
          </a:r>
        </a:p>
      </dgm:t>
    </dgm:pt>
    <dgm:pt modelId="{9EA0EA97-0E61-4A2F-8B69-FD8DDE7D1259}" type="parTrans" cxnId="{E747EE07-8C60-4057-99D6-B0E8FAD8BD03}">
      <dgm:prSet/>
      <dgm:spPr/>
      <dgm:t>
        <a:bodyPr/>
        <a:lstStyle/>
        <a:p>
          <a:endParaRPr lang="en-US"/>
        </a:p>
      </dgm:t>
    </dgm:pt>
    <dgm:pt modelId="{06F81574-ACED-4362-AFF1-0F17C935A174}" type="sibTrans" cxnId="{E747EE07-8C60-4057-99D6-B0E8FAD8BD03}">
      <dgm:prSet/>
      <dgm:spPr/>
      <dgm:t>
        <a:bodyPr/>
        <a:lstStyle/>
        <a:p>
          <a:endParaRPr lang="en-US"/>
        </a:p>
      </dgm:t>
    </dgm:pt>
    <dgm:pt modelId="{F59F0AA0-3699-4B4A-B476-50FEC2C89173}">
      <dgm:prSet/>
      <dgm:spPr/>
      <dgm:t>
        <a:bodyPr/>
        <a:lstStyle/>
        <a:p>
          <a:pPr>
            <a:lnSpc>
              <a:spcPct val="100000"/>
            </a:lnSpc>
          </a:pPr>
          <a:r>
            <a:rPr lang="en-US" dirty="0">
              <a:solidFill>
                <a:srgbClr val="076C60"/>
              </a:solidFill>
            </a:rPr>
            <a:t>Carbon neutrality by 2045: ~17 miles per person per day</a:t>
          </a:r>
        </a:p>
      </dgm:t>
    </dgm:pt>
    <dgm:pt modelId="{91E6A957-D306-4B56-A00A-7C7538F6914D}" type="parTrans" cxnId="{86BF92DF-600F-49C6-AA4D-4FBC9196A1E9}">
      <dgm:prSet/>
      <dgm:spPr/>
      <dgm:t>
        <a:bodyPr/>
        <a:lstStyle/>
        <a:p>
          <a:endParaRPr lang="en-US"/>
        </a:p>
      </dgm:t>
    </dgm:pt>
    <dgm:pt modelId="{643B9523-E721-4EF7-BB37-C831701409C4}" type="sibTrans" cxnId="{86BF92DF-600F-49C6-AA4D-4FBC9196A1E9}">
      <dgm:prSet/>
      <dgm:spPr/>
      <dgm:t>
        <a:bodyPr/>
        <a:lstStyle/>
        <a:p>
          <a:endParaRPr lang="en-US"/>
        </a:p>
      </dgm:t>
    </dgm:pt>
    <dgm:pt modelId="{DBE5C2DF-4608-4162-A0C7-5E210BE1DD9B}">
      <dgm:prSet custT="1"/>
      <dgm:spPr/>
      <dgm:t>
        <a:bodyPr/>
        <a:lstStyle/>
        <a:p>
          <a:pPr>
            <a:lnSpc>
              <a:spcPct val="100000"/>
            </a:lnSpc>
          </a:pPr>
          <a:r>
            <a:rPr lang="en-US" sz="1800" dirty="0">
              <a:solidFill>
                <a:srgbClr val="076C60"/>
              </a:solidFill>
            </a:rPr>
            <a:t>Gap is only growing</a:t>
          </a:r>
        </a:p>
      </dgm:t>
    </dgm:pt>
    <dgm:pt modelId="{367C625B-A0BA-48D6-B622-0134CAF0BFE6}" type="parTrans" cxnId="{6B52D943-7420-4CC7-9903-87F261B76A3C}">
      <dgm:prSet/>
      <dgm:spPr/>
      <dgm:t>
        <a:bodyPr/>
        <a:lstStyle/>
        <a:p>
          <a:endParaRPr lang="en-US"/>
        </a:p>
      </dgm:t>
    </dgm:pt>
    <dgm:pt modelId="{A6329CB1-A78C-4293-86CB-0C27D5693478}" type="sibTrans" cxnId="{6B52D943-7420-4CC7-9903-87F261B76A3C}">
      <dgm:prSet/>
      <dgm:spPr/>
      <dgm:t>
        <a:bodyPr/>
        <a:lstStyle/>
        <a:p>
          <a:endParaRPr lang="en-US"/>
        </a:p>
      </dgm:t>
    </dgm:pt>
    <dgm:pt modelId="{139DE956-1DE9-46A8-8873-0FECE7B02EF7}" type="pres">
      <dgm:prSet presAssocID="{31811567-72F8-4A25-8D44-A44510E0E3F1}" presName="root" presStyleCnt="0">
        <dgm:presLayoutVars>
          <dgm:dir/>
          <dgm:resizeHandles val="exact"/>
        </dgm:presLayoutVars>
      </dgm:prSet>
      <dgm:spPr/>
    </dgm:pt>
    <dgm:pt modelId="{392F3CEE-BC1F-4BAA-83B3-1881039FC4F5}" type="pres">
      <dgm:prSet presAssocID="{6546BB92-A7F7-4A31-A342-57F429D01D68}" presName="compNode" presStyleCnt="0"/>
      <dgm:spPr/>
    </dgm:pt>
    <dgm:pt modelId="{C3E2916A-C6FD-43B2-A348-E1B8F49934D5}" type="pres">
      <dgm:prSet presAssocID="{6546BB92-A7F7-4A31-A342-57F429D01D68}" presName="bgRect" presStyleLbl="bgShp" presStyleIdx="0" presStyleCnt="4" custLinFactNeighborX="-4808" custLinFactNeighborY="1225"/>
      <dgm:spPr/>
    </dgm:pt>
    <dgm:pt modelId="{98EC76C2-D29B-4A72-A5AB-56CE3435AD89}" type="pres">
      <dgm:prSet presAssocID="{6546BB92-A7F7-4A31-A342-57F429D01D68}"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ar"/>
        </a:ext>
      </dgm:extLst>
    </dgm:pt>
    <dgm:pt modelId="{E341862C-3FC3-4A27-9E0E-8420A83794EB}" type="pres">
      <dgm:prSet presAssocID="{6546BB92-A7F7-4A31-A342-57F429D01D68}" presName="spaceRect" presStyleCnt="0"/>
      <dgm:spPr/>
    </dgm:pt>
    <dgm:pt modelId="{5E2DA22C-3CDA-4668-B9CF-475178571BDC}" type="pres">
      <dgm:prSet presAssocID="{6546BB92-A7F7-4A31-A342-57F429D01D68}" presName="parTx" presStyleLbl="revTx" presStyleIdx="0" presStyleCnt="4">
        <dgm:presLayoutVars>
          <dgm:chMax val="0"/>
          <dgm:chPref val="0"/>
        </dgm:presLayoutVars>
      </dgm:prSet>
      <dgm:spPr/>
    </dgm:pt>
    <dgm:pt modelId="{8765B425-30FB-4467-B58D-AF7A651ACB54}" type="pres">
      <dgm:prSet presAssocID="{F4DB988E-AF93-4E8E-8D5E-AE423C89435E}" presName="sibTrans" presStyleCnt="0"/>
      <dgm:spPr/>
    </dgm:pt>
    <dgm:pt modelId="{D073E730-33D4-4C2C-BFF4-90591D8F540A}" type="pres">
      <dgm:prSet presAssocID="{A8DD809B-B1B2-4FDC-9E55-B819AE50B24F}" presName="compNode" presStyleCnt="0"/>
      <dgm:spPr/>
    </dgm:pt>
    <dgm:pt modelId="{678CB97D-009F-44F7-B82F-B1CA4A81DE83}" type="pres">
      <dgm:prSet presAssocID="{A8DD809B-B1B2-4FDC-9E55-B819AE50B24F}" presName="bgRect" presStyleLbl="bgShp" presStyleIdx="1" presStyleCnt="4"/>
      <dgm:spPr/>
    </dgm:pt>
    <dgm:pt modelId="{764EDC78-01CB-4256-BE87-1D512E465A0D}" type="pres">
      <dgm:prSet presAssocID="{A8DD809B-B1B2-4FDC-9E55-B819AE50B24F}"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lippery Road with solid fill"/>
        </a:ext>
      </dgm:extLst>
    </dgm:pt>
    <dgm:pt modelId="{7DBF3C79-9E02-4F77-8417-3F0D5B6971B5}" type="pres">
      <dgm:prSet presAssocID="{A8DD809B-B1B2-4FDC-9E55-B819AE50B24F}" presName="spaceRect" presStyleCnt="0"/>
      <dgm:spPr/>
    </dgm:pt>
    <dgm:pt modelId="{F161548B-35E4-4997-8219-8284EE08D973}" type="pres">
      <dgm:prSet presAssocID="{A8DD809B-B1B2-4FDC-9E55-B819AE50B24F}" presName="parTx" presStyleLbl="revTx" presStyleIdx="1" presStyleCnt="4">
        <dgm:presLayoutVars>
          <dgm:chMax val="0"/>
          <dgm:chPref val="0"/>
        </dgm:presLayoutVars>
      </dgm:prSet>
      <dgm:spPr/>
    </dgm:pt>
    <dgm:pt modelId="{C4A89D46-4AC5-455C-85DF-53D1239A3155}" type="pres">
      <dgm:prSet presAssocID="{06F81574-ACED-4362-AFF1-0F17C935A174}" presName="sibTrans" presStyleCnt="0"/>
      <dgm:spPr/>
    </dgm:pt>
    <dgm:pt modelId="{D7C2BD85-3176-4544-9EE1-746E9D5F91AB}" type="pres">
      <dgm:prSet presAssocID="{F59F0AA0-3699-4B4A-B476-50FEC2C89173}" presName="compNode" presStyleCnt="0"/>
      <dgm:spPr/>
    </dgm:pt>
    <dgm:pt modelId="{DF9AA32B-986B-42B1-9A80-7915C2EF6030}" type="pres">
      <dgm:prSet presAssocID="{F59F0AA0-3699-4B4A-B476-50FEC2C89173}" presName="bgRect" presStyleLbl="bgShp" presStyleIdx="2" presStyleCnt="4"/>
      <dgm:spPr/>
    </dgm:pt>
    <dgm:pt modelId="{9B3FE012-0DF7-4F15-B74B-52A93C518317}" type="pres">
      <dgm:prSet presAssocID="{F59F0AA0-3699-4B4A-B476-50FEC2C89173}"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Leaf with solid fill"/>
        </a:ext>
      </dgm:extLst>
    </dgm:pt>
    <dgm:pt modelId="{6A6C845F-E44A-44E2-9190-6FD1AF0CCBA5}" type="pres">
      <dgm:prSet presAssocID="{F59F0AA0-3699-4B4A-B476-50FEC2C89173}" presName="spaceRect" presStyleCnt="0"/>
      <dgm:spPr/>
    </dgm:pt>
    <dgm:pt modelId="{3D9C40AA-61F5-4E87-9E25-DC4E15B47BF9}" type="pres">
      <dgm:prSet presAssocID="{F59F0AA0-3699-4B4A-B476-50FEC2C89173}" presName="parTx" presStyleLbl="revTx" presStyleIdx="2" presStyleCnt="4">
        <dgm:presLayoutVars>
          <dgm:chMax val="0"/>
          <dgm:chPref val="0"/>
        </dgm:presLayoutVars>
      </dgm:prSet>
      <dgm:spPr/>
    </dgm:pt>
    <dgm:pt modelId="{2655F50F-F869-4267-BFB0-16028F4C2DC5}" type="pres">
      <dgm:prSet presAssocID="{643B9523-E721-4EF7-BB37-C831701409C4}" presName="sibTrans" presStyleCnt="0"/>
      <dgm:spPr/>
    </dgm:pt>
    <dgm:pt modelId="{A52FECE9-36E4-45AF-8943-0168FE58F1FE}" type="pres">
      <dgm:prSet presAssocID="{DBE5C2DF-4608-4162-A0C7-5E210BE1DD9B}" presName="compNode" presStyleCnt="0"/>
      <dgm:spPr/>
    </dgm:pt>
    <dgm:pt modelId="{44CA1364-1866-499F-B7B0-866F23A12D96}" type="pres">
      <dgm:prSet presAssocID="{DBE5C2DF-4608-4162-A0C7-5E210BE1DD9B}" presName="bgRect" presStyleLbl="bgShp" presStyleIdx="3" presStyleCnt="4"/>
      <dgm:spPr/>
    </dgm:pt>
    <dgm:pt modelId="{90D85597-EAF8-4B28-BA37-91A6392A6AC4}" type="pres">
      <dgm:prSet presAssocID="{DBE5C2DF-4608-4162-A0C7-5E210BE1DD9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ximize"/>
        </a:ext>
      </dgm:extLst>
    </dgm:pt>
    <dgm:pt modelId="{C96F4EC9-2CB7-487C-9B7B-4F7101DC7086}" type="pres">
      <dgm:prSet presAssocID="{DBE5C2DF-4608-4162-A0C7-5E210BE1DD9B}" presName="spaceRect" presStyleCnt="0"/>
      <dgm:spPr/>
    </dgm:pt>
    <dgm:pt modelId="{4BFEDFBE-21D1-4D51-AD11-BFD20ACFE16F}" type="pres">
      <dgm:prSet presAssocID="{DBE5C2DF-4608-4162-A0C7-5E210BE1DD9B}" presName="parTx" presStyleLbl="revTx" presStyleIdx="3" presStyleCnt="4">
        <dgm:presLayoutVars>
          <dgm:chMax val="0"/>
          <dgm:chPref val="0"/>
        </dgm:presLayoutVars>
      </dgm:prSet>
      <dgm:spPr/>
    </dgm:pt>
  </dgm:ptLst>
  <dgm:cxnLst>
    <dgm:cxn modelId="{E747EE07-8C60-4057-99D6-B0E8FAD8BD03}" srcId="{31811567-72F8-4A25-8D44-A44510E0E3F1}" destId="{A8DD809B-B1B2-4FDC-9E55-B819AE50B24F}" srcOrd="1" destOrd="0" parTransId="{9EA0EA97-0E61-4A2F-8B69-FD8DDE7D1259}" sibTransId="{06F81574-ACED-4362-AFF1-0F17C935A174}"/>
    <dgm:cxn modelId="{C544B319-43B5-4174-A8B9-CFB7FFF7BB3C}" type="presOf" srcId="{6546BB92-A7F7-4A31-A342-57F429D01D68}" destId="{5E2DA22C-3CDA-4668-B9CF-475178571BDC}" srcOrd="0" destOrd="0" presId="urn:microsoft.com/office/officeart/2018/2/layout/IconVerticalSolidList"/>
    <dgm:cxn modelId="{688BA61F-DDBE-4E91-AB58-CCD2305BF3B2}" type="presOf" srcId="{A8DD809B-B1B2-4FDC-9E55-B819AE50B24F}" destId="{F161548B-35E4-4997-8219-8284EE08D973}" srcOrd="0" destOrd="0" presId="urn:microsoft.com/office/officeart/2018/2/layout/IconVerticalSolidList"/>
    <dgm:cxn modelId="{6B52D943-7420-4CC7-9903-87F261B76A3C}" srcId="{31811567-72F8-4A25-8D44-A44510E0E3F1}" destId="{DBE5C2DF-4608-4162-A0C7-5E210BE1DD9B}" srcOrd="3" destOrd="0" parTransId="{367C625B-A0BA-48D6-B622-0134CAF0BFE6}" sibTransId="{A6329CB1-A78C-4293-86CB-0C27D5693478}"/>
    <dgm:cxn modelId="{EEAF7981-2946-47FA-B9B7-10A873853B87}" type="presOf" srcId="{DBE5C2DF-4608-4162-A0C7-5E210BE1DD9B}" destId="{4BFEDFBE-21D1-4D51-AD11-BFD20ACFE16F}" srcOrd="0" destOrd="0" presId="urn:microsoft.com/office/officeart/2018/2/layout/IconVerticalSolidList"/>
    <dgm:cxn modelId="{4B7B028E-1987-4997-835A-EC27B7166C5C}" srcId="{31811567-72F8-4A25-8D44-A44510E0E3F1}" destId="{6546BB92-A7F7-4A31-A342-57F429D01D68}" srcOrd="0" destOrd="0" parTransId="{35325462-366E-4C34-AE61-78BCF17885A9}" sibTransId="{F4DB988E-AF93-4E8E-8D5E-AE423C89435E}"/>
    <dgm:cxn modelId="{243CF39B-4C15-4359-BF99-BBC0EAB4F2C6}" type="presOf" srcId="{31811567-72F8-4A25-8D44-A44510E0E3F1}" destId="{139DE956-1DE9-46A8-8873-0FECE7B02EF7}" srcOrd="0" destOrd="0" presId="urn:microsoft.com/office/officeart/2018/2/layout/IconVerticalSolidList"/>
    <dgm:cxn modelId="{86BF92DF-600F-49C6-AA4D-4FBC9196A1E9}" srcId="{31811567-72F8-4A25-8D44-A44510E0E3F1}" destId="{F59F0AA0-3699-4B4A-B476-50FEC2C89173}" srcOrd="2" destOrd="0" parTransId="{91E6A957-D306-4B56-A00A-7C7538F6914D}" sibTransId="{643B9523-E721-4EF7-BB37-C831701409C4}"/>
    <dgm:cxn modelId="{21AA72FF-BB4C-4D75-8D83-25064AB353DD}" type="presOf" srcId="{F59F0AA0-3699-4B4A-B476-50FEC2C89173}" destId="{3D9C40AA-61F5-4E87-9E25-DC4E15B47BF9}" srcOrd="0" destOrd="0" presId="urn:microsoft.com/office/officeart/2018/2/layout/IconVerticalSolidList"/>
    <dgm:cxn modelId="{DD937467-B365-422D-95E2-7D2D6E5E84E3}" type="presParOf" srcId="{139DE956-1DE9-46A8-8873-0FECE7B02EF7}" destId="{392F3CEE-BC1F-4BAA-83B3-1881039FC4F5}" srcOrd="0" destOrd="0" presId="urn:microsoft.com/office/officeart/2018/2/layout/IconVerticalSolidList"/>
    <dgm:cxn modelId="{1C11B6DA-FD56-45C2-9C02-C21D064DA094}" type="presParOf" srcId="{392F3CEE-BC1F-4BAA-83B3-1881039FC4F5}" destId="{C3E2916A-C6FD-43B2-A348-E1B8F49934D5}" srcOrd="0" destOrd="0" presId="urn:microsoft.com/office/officeart/2018/2/layout/IconVerticalSolidList"/>
    <dgm:cxn modelId="{9D23F986-F835-42A0-AF94-99CCA358C6BB}" type="presParOf" srcId="{392F3CEE-BC1F-4BAA-83B3-1881039FC4F5}" destId="{98EC76C2-D29B-4A72-A5AB-56CE3435AD89}" srcOrd="1" destOrd="0" presId="urn:microsoft.com/office/officeart/2018/2/layout/IconVerticalSolidList"/>
    <dgm:cxn modelId="{734905B0-C54C-42AD-858A-10DC3E09EBD1}" type="presParOf" srcId="{392F3CEE-BC1F-4BAA-83B3-1881039FC4F5}" destId="{E341862C-3FC3-4A27-9E0E-8420A83794EB}" srcOrd="2" destOrd="0" presId="urn:microsoft.com/office/officeart/2018/2/layout/IconVerticalSolidList"/>
    <dgm:cxn modelId="{D930716D-0D44-4D8C-A023-A4DB91DBABC7}" type="presParOf" srcId="{392F3CEE-BC1F-4BAA-83B3-1881039FC4F5}" destId="{5E2DA22C-3CDA-4668-B9CF-475178571BDC}" srcOrd="3" destOrd="0" presId="urn:microsoft.com/office/officeart/2018/2/layout/IconVerticalSolidList"/>
    <dgm:cxn modelId="{110146A9-9426-4DCF-8A90-3F28B3D90720}" type="presParOf" srcId="{139DE956-1DE9-46A8-8873-0FECE7B02EF7}" destId="{8765B425-30FB-4467-B58D-AF7A651ACB54}" srcOrd="1" destOrd="0" presId="urn:microsoft.com/office/officeart/2018/2/layout/IconVerticalSolidList"/>
    <dgm:cxn modelId="{52F5B621-4571-41A8-9A65-C5C5587537DB}" type="presParOf" srcId="{139DE956-1DE9-46A8-8873-0FECE7B02EF7}" destId="{D073E730-33D4-4C2C-BFF4-90591D8F540A}" srcOrd="2" destOrd="0" presId="urn:microsoft.com/office/officeart/2018/2/layout/IconVerticalSolidList"/>
    <dgm:cxn modelId="{24A4B84B-7C66-4866-A3E3-E5F25243C4A4}" type="presParOf" srcId="{D073E730-33D4-4C2C-BFF4-90591D8F540A}" destId="{678CB97D-009F-44F7-B82F-B1CA4A81DE83}" srcOrd="0" destOrd="0" presId="urn:microsoft.com/office/officeart/2018/2/layout/IconVerticalSolidList"/>
    <dgm:cxn modelId="{12960FBA-6D26-4387-8557-CAAC27616D55}" type="presParOf" srcId="{D073E730-33D4-4C2C-BFF4-90591D8F540A}" destId="{764EDC78-01CB-4256-BE87-1D512E465A0D}" srcOrd="1" destOrd="0" presId="urn:microsoft.com/office/officeart/2018/2/layout/IconVerticalSolidList"/>
    <dgm:cxn modelId="{4D273B9B-7799-4FDB-AE72-1170EB4032EB}" type="presParOf" srcId="{D073E730-33D4-4C2C-BFF4-90591D8F540A}" destId="{7DBF3C79-9E02-4F77-8417-3F0D5B6971B5}" srcOrd="2" destOrd="0" presId="urn:microsoft.com/office/officeart/2018/2/layout/IconVerticalSolidList"/>
    <dgm:cxn modelId="{B193804B-7B84-45FA-8D67-6205C2803DE2}" type="presParOf" srcId="{D073E730-33D4-4C2C-BFF4-90591D8F540A}" destId="{F161548B-35E4-4997-8219-8284EE08D973}" srcOrd="3" destOrd="0" presId="urn:microsoft.com/office/officeart/2018/2/layout/IconVerticalSolidList"/>
    <dgm:cxn modelId="{A3E3FCAF-5009-4BB9-B9F2-37BCF68F5CE6}" type="presParOf" srcId="{139DE956-1DE9-46A8-8873-0FECE7B02EF7}" destId="{C4A89D46-4AC5-455C-85DF-53D1239A3155}" srcOrd="3" destOrd="0" presId="urn:microsoft.com/office/officeart/2018/2/layout/IconVerticalSolidList"/>
    <dgm:cxn modelId="{733A9752-30A7-435C-8B81-D99A131C15B1}" type="presParOf" srcId="{139DE956-1DE9-46A8-8873-0FECE7B02EF7}" destId="{D7C2BD85-3176-4544-9EE1-746E9D5F91AB}" srcOrd="4" destOrd="0" presId="urn:microsoft.com/office/officeart/2018/2/layout/IconVerticalSolidList"/>
    <dgm:cxn modelId="{941DE25A-94A5-4BF1-9C82-91365B0A32A9}" type="presParOf" srcId="{D7C2BD85-3176-4544-9EE1-746E9D5F91AB}" destId="{DF9AA32B-986B-42B1-9A80-7915C2EF6030}" srcOrd="0" destOrd="0" presId="urn:microsoft.com/office/officeart/2018/2/layout/IconVerticalSolidList"/>
    <dgm:cxn modelId="{1E662D08-160F-42D3-94BE-05CC15FC30C1}" type="presParOf" srcId="{D7C2BD85-3176-4544-9EE1-746E9D5F91AB}" destId="{9B3FE012-0DF7-4F15-B74B-52A93C518317}" srcOrd="1" destOrd="0" presId="urn:microsoft.com/office/officeart/2018/2/layout/IconVerticalSolidList"/>
    <dgm:cxn modelId="{338106D5-304A-46FE-8871-9CDD2B380318}" type="presParOf" srcId="{D7C2BD85-3176-4544-9EE1-746E9D5F91AB}" destId="{6A6C845F-E44A-44E2-9190-6FD1AF0CCBA5}" srcOrd="2" destOrd="0" presId="urn:microsoft.com/office/officeart/2018/2/layout/IconVerticalSolidList"/>
    <dgm:cxn modelId="{73002CC1-9EBA-44D0-9B41-74C62B7B1EB8}" type="presParOf" srcId="{D7C2BD85-3176-4544-9EE1-746E9D5F91AB}" destId="{3D9C40AA-61F5-4E87-9E25-DC4E15B47BF9}" srcOrd="3" destOrd="0" presId="urn:microsoft.com/office/officeart/2018/2/layout/IconVerticalSolidList"/>
    <dgm:cxn modelId="{25D49079-A2F4-4ECB-AA1B-42507411BCF8}" type="presParOf" srcId="{139DE956-1DE9-46A8-8873-0FECE7B02EF7}" destId="{2655F50F-F869-4267-BFB0-16028F4C2DC5}" srcOrd="5" destOrd="0" presId="urn:microsoft.com/office/officeart/2018/2/layout/IconVerticalSolidList"/>
    <dgm:cxn modelId="{3C1C5C28-C357-434D-B213-292A3F82B66A}" type="presParOf" srcId="{139DE956-1DE9-46A8-8873-0FECE7B02EF7}" destId="{A52FECE9-36E4-45AF-8943-0168FE58F1FE}" srcOrd="6" destOrd="0" presId="urn:microsoft.com/office/officeart/2018/2/layout/IconVerticalSolidList"/>
    <dgm:cxn modelId="{F1B071DB-F532-49ED-9624-E0B640F01023}" type="presParOf" srcId="{A52FECE9-36E4-45AF-8943-0168FE58F1FE}" destId="{44CA1364-1866-499F-B7B0-866F23A12D96}" srcOrd="0" destOrd="0" presId="urn:microsoft.com/office/officeart/2018/2/layout/IconVerticalSolidList"/>
    <dgm:cxn modelId="{11D0D24E-DF75-4FEF-8097-E1EDB85096CC}" type="presParOf" srcId="{A52FECE9-36E4-45AF-8943-0168FE58F1FE}" destId="{90D85597-EAF8-4B28-BA37-91A6392A6AC4}" srcOrd="1" destOrd="0" presId="urn:microsoft.com/office/officeart/2018/2/layout/IconVerticalSolidList"/>
    <dgm:cxn modelId="{76F2DBEB-476C-46F3-A223-258B8E323265}" type="presParOf" srcId="{A52FECE9-36E4-45AF-8943-0168FE58F1FE}" destId="{C96F4EC9-2CB7-487C-9B7B-4F7101DC7086}" srcOrd="2" destOrd="0" presId="urn:microsoft.com/office/officeart/2018/2/layout/IconVerticalSolidList"/>
    <dgm:cxn modelId="{4924D674-0F3B-4F7E-AE23-1F5B1868A8A1}" type="presParOf" srcId="{A52FECE9-36E4-45AF-8943-0168FE58F1FE}" destId="{4BFEDFBE-21D1-4D51-AD11-BFD20ACFE16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4E33F9-D01E-4AD2-9C12-89D0FF5E03BE}" type="doc">
      <dgm:prSet loTypeId="urn:microsoft.com/office/officeart/2005/8/layout/vProcess5" loCatId="process" qsTypeId="urn:microsoft.com/office/officeart/2005/8/quickstyle/simple1" qsCatId="simple" csTypeId="urn:microsoft.com/office/officeart/2005/8/colors/accent3_5" csCatId="accent3" phldr="1"/>
      <dgm:spPr/>
      <dgm:t>
        <a:bodyPr/>
        <a:lstStyle/>
        <a:p>
          <a:endParaRPr lang="en-US"/>
        </a:p>
      </dgm:t>
    </dgm:pt>
    <dgm:pt modelId="{8BE9585C-A8F8-42A9-8658-80F3409648CA}">
      <dgm:prSet/>
      <dgm:spPr/>
      <dgm:t>
        <a:bodyPr/>
        <a:lstStyle/>
        <a:p>
          <a:r>
            <a:rPr lang="en-US" dirty="0"/>
            <a:t>SB 375 requires California's 18 MPOs to each produce a "Sustainable Communities Strategy" (SCS): a transportation and land use plan aligned with state climate targets</a:t>
          </a:r>
        </a:p>
      </dgm:t>
    </dgm:pt>
    <dgm:pt modelId="{8A633ADF-8EFB-46F3-AFEF-0D164461A679}" type="parTrans" cxnId="{37A969FB-9101-499B-8374-7423EDFF7F2F}">
      <dgm:prSet/>
      <dgm:spPr/>
      <dgm:t>
        <a:bodyPr/>
        <a:lstStyle/>
        <a:p>
          <a:endParaRPr lang="en-US"/>
        </a:p>
      </dgm:t>
    </dgm:pt>
    <dgm:pt modelId="{7813AD38-C7C3-4634-8863-9CDD4E74A5A8}" type="sibTrans" cxnId="{37A969FB-9101-499B-8374-7423EDFF7F2F}">
      <dgm:prSet/>
      <dgm:spPr/>
      <dgm:t>
        <a:bodyPr/>
        <a:lstStyle/>
        <a:p>
          <a:endParaRPr lang="en-US"/>
        </a:p>
      </dgm:t>
    </dgm:pt>
    <dgm:pt modelId="{B646EFFB-7D0D-401D-8425-46E0292EF821}">
      <dgm:prSet/>
      <dgm:spPr/>
      <dgm:t>
        <a:bodyPr/>
        <a:lstStyle/>
        <a:p>
          <a:r>
            <a:rPr lang="en-US" dirty="0"/>
            <a:t>Regions must show, on paper, how their plan achieves those targets</a:t>
          </a:r>
        </a:p>
      </dgm:t>
    </dgm:pt>
    <dgm:pt modelId="{D79032D7-0A38-40B7-A3AF-9D890F1588DD}" type="parTrans" cxnId="{0D9ABD3F-9A2D-4FD5-BFCA-F87D1811CBFA}">
      <dgm:prSet/>
      <dgm:spPr/>
      <dgm:t>
        <a:bodyPr/>
        <a:lstStyle/>
        <a:p>
          <a:endParaRPr lang="en-US"/>
        </a:p>
      </dgm:t>
    </dgm:pt>
    <dgm:pt modelId="{C9DDF12B-A19F-4884-8E0A-367597E96C4F}" type="sibTrans" cxnId="{0D9ABD3F-9A2D-4FD5-BFCA-F87D1811CBFA}">
      <dgm:prSet/>
      <dgm:spPr/>
      <dgm:t>
        <a:bodyPr/>
        <a:lstStyle/>
        <a:p>
          <a:endParaRPr lang="en-US"/>
        </a:p>
      </dgm:t>
    </dgm:pt>
    <dgm:pt modelId="{BF7E1C46-AE1B-4653-B2BC-DDFB9767DE32}">
      <dgm:prSet/>
      <dgm:spPr/>
      <dgm:t>
        <a:bodyPr/>
        <a:lstStyle/>
        <a:p>
          <a:r>
            <a:rPr lang="en-US" dirty="0"/>
            <a:t>SB 375 was groundbreaking in 2008. Sixteen years later, VMT and GHG emissions are still rising</a:t>
          </a:r>
        </a:p>
      </dgm:t>
    </dgm:pt>
    <dgm:pt modelId="{E9F51B6B-FFF1-45A0-95D0-B49DBFC4AC10}" type="parTrans" cxnId="{1F9F16B9-35F5-428F-B181-179B12F46162}">
      <dgm:prSet/>
      <dgm:spPr/>
      <dgm:t>
        <a:bodyPr/>
        <a:lstStyle/>
        <a:p>
          <a:endParaRPr lang="en-US"/>
        </a:p>
      </dgm:t>
    </dgm:pt>
    <dgm:pt modelId="{A0CBC561-C573-4B9B-A734-6001FF33B8A5}" type="sibTrans" cxnId="{1F9F16B9-35F5-428F-B181-179B12F46162}">
      <dgm:prSet/>
      <dgm:spPr/>
      <dgm:t>
        <a:bodyPr/>
        <a:lstStyle/>
        <a:p>
          <a:endParaRPr lang="en-US"/>
        </a:p>
      </dgm:t>
    </dgm:pt>
    <dgm:pt modelId="{8C3914E2-AF22-EF4A-A28E-BE035A30167A}" type="pres">
      <dgm:prSet presAssocID="{E54E33F9-D01E-4AD2-9C12-89D0FF5E03BE}" presName="outerComposite" presStyleCnt="0">
        <dgm:presLayoutVars>
          <dgm:chMax val="5"/>
          <dgm:dir/>
          <dgm:resizeHandles val="exact"/>
        </dgm:presLayoutVars>
      </dgm:prSet>
      <dgm:spPr/>
    </dgm:pt>
    <dgm:pt modelId="{36A174F2-D5AD-A34C-9D45-4D6B35A67D85}" type="pres">
      <dgm:prSet presAssocID="{E54E33F9-D01E-4AD2-9C12-89D0FF5E03BE}" presName="dummyMaxCanvas" presStyleCnt="0">
        <dgm:presLayoutVars/>
      </dgm:prSet>
      <dgm:spPr/>
    </dgm:pt>
    <dgm:pt modelId="{700D5A65-89D3-934B-A5B9-CA6574CBAB1E}" type="pres">
      <dgm:prSet presAssocID="{E54E33F9-D01E-4AD2-9C12-89D0FF5E03BE}" presName="ThreeNodes_1" presStyleLbl="node1" presStyleIdx="0" presStyleCnt="3">
        <dgm:presLayoutVars>
          <dgm:bulletEnabled val="1"/>
        </dgm:presLayoutVars>
      </dgm:prSet>
      <dgm:spPr/>
    </dgm:pt>
    <dgm:pt modelId="{88FB3B4C-3DC5-9B4A-BC25-1724C51E1A6F}" type="pres">
      <dgm:prSet presAssocID="{E54E33F9-D01E-4AD2-9C12-89D0FF5E03BE}" presName="ThreeNodes_2" presStyleLbl="node1" presStyleIdx="1" presStyleCnt="3">
        <dgm:presLayoutVars>
          <dgm:bulletEnabled val="1"/>
        </dgm:presLayoutVars>
      </dgm:prSet>
      <dgm:spPr/>
    </dgm:pt>
    <dgm:pt modelId="{326E1867-FF67-EC4D-94EC-90F7342A8B1A}" type="pres">
      <dgm:prSet presAssocID="{E54E33F9-D01E-4AD2-9C12-89D0FF5E03BE}" presName="ThreeNodes_3" presStyleLbl="node1" presStyleIdx="2" presStyleCnt="3">
        <dgm:presLayoutVars>
          <dgm:bulletEnabled val="1"/>
        </dgm:presLayoutVars>
      </dgm:prSet>
      <dgm:spPr/>
    </dgm:pt>
    <dgm:pt modelId="{74AD3859-25BF-7B4A-A500-F4E86C00550A}" type="pres">
      <dgm:prSet presAssocID="{E54E33F9-D01E-4AD2-9C12-89D0FF5E03BE}" presName="ThreeConn_1-2" presStyleLbl="fgAccFollowNode1" presStyleIdx="0" presStyleCnt="2">
        <dgm:presLayoutVars>
          <dgm:bulletEnabled val="1"/>
        </dgm:presLayoutVars>
      </dgm:prSet>
      <dgm:spPr/>
    </dgm:pt>
    <dgm:pt modelId="{2ABD8AD4-F5BB-7743-B8C7-95851AA52066}" type="pres">
      <dgm:prSet presAssocID="{E54E33F9-D01E-4AD2-9C12-89D0FF5E03BE}" presName="ThreeConn_2-3" presStyleLbl="fgAccFollowNode1" presStyleIdx="1" presStyleCnt="2">
        <dgm:presLayoutVars>
          <dgm:bulletEnabled val="1"/>
        </dgm:presLayoutVars>
      </dgm:prSet>
      <dgm:spPr/>
    </dgm:pt>
    <dgm:pt modelId="{B6985008-8F6D-304D-BCCB-900E4C05AE95}" type="pres">
      <dgm:prSet presAssocID="{E54E33F9-D01E-4AD2-9C12-89D0FF5E03BE}" presName="ThreeNodes_1_text" presStyleLbl="node1" presStyleIdx="2" presStyleCnt="3">
        <dgm:presLayoutVars>
          <dgm:bulletEnabled val="1"/>
        </dgm:presLayoutVars>
      </dgm:prSet>
      <dgm:spPr/>
    </dgm:pt>
    <dgm:pt modelId="{93B3DDBA-2B0B-9742-BE05-CBAE1D00AC13}" type="pres">
      <dgm:prSet presAssocID="{E54E33F9-D01E-4AD2-9C12-89D0FF5E03BE}" presName="ThreeNodes_2_text" presStyleLbl="node1" presStyleIdx="2" presStyleCnt="3">
        <dgm:presLayoutVars>
          <dgm:bulletEnabled val="1"/>
        </dgm:presLayoutVars>
      </dgm:prSet>
      <dgm:spPr/>
    </dgm:pt>
    <dgm:pt modelId="{B943F051-4D70-7C4F-B96C-3CD8B0F96AB5}" type="pres">
      <dgm:prSet presAssocID="{E54E33F9-D01E-4AD2-9C12-89D0FF5E03BE}" presName="ThreeNodes_3_text" presStyleLbl="node1" presStyleIdx="2" presStyleCnt="3">
        <dgm:presLayoutVars>
          <dgm:bulletEnabled val="1"/>
        </dgm:presLayoutVars>
      </dgm:prSet>
      <dgm:spPr/>
    </dgm:pt>
  </dgm:ptLst>
  <dgm:cxnLst>
    <dgm:cxn modelId="{D5810D0D-060F-5D4C-878E-94BF483AE3D6}" type="presOf" srcId="{C9DDF12B-A19F-4884-8E0A-367597E96C4F}" destId="{2ABD8AD4-F5BB-7743-B8C7-95851AA52066}" srcOrd="0" destOrd="0" presId="urn:microsoft.com/office/officeart/2005/8/layout/vProcess5"/>
    <dgm:cxn modelId="{1273EA18-7C6F-264F-B310-0385FECA775A}" type="presOf" srcId="{B646EFFB-7D0D-401D-8425-46E0292EF821}" destId="{93B3DDBA-2B0B-9742-BE05-CBAE1D00AC13}" srcOrd="1" destOrd="0" presId="urn:microsoft.com/office/officeart/2005/8/layout/vProcess5"/>
    <dgm:cxn modelId="{B8F71133-781D-8F47-8023-F5B4B5653E1B}" type="presOf" srcId="{8BE9585C-A8F8-42A9-8658-80F3409648CA}" destId="{B6985008-8F6D-304D-BCCB-900E4C05AE95}" srcOrd="1" destOrd="0" presId="urn:microsoft.com/office/officeart/2005/8/layout/vProcess5"/>
    <dgm:cxn modelId="{0D9ABD3F-9A2D-4FD5-BFCA-F87D1811CBFA}" srcId="{E54E33F9-D01E-4AD2-9C12-89D0FF5E03BE}" destId="{B646EFFB-7D0D-401D-8425-46E0292EF821}" srcOrd="1" destOrd="0" parTransId="{D79032D7-0A38-40B7-A3AF-9D890F1588DD}" sibTransId="{C9DDF12B-A19F-4884-8E0A-367597E96C4F}"/>
    <dgm:cxn modelId="{A6339B43-5DBA-1444-B33A-A2E022102AAC}" type="presOf" srcId="{8BE9585C-A8F8-42A9-8658-80F3409648CA}" destId="{700D5A65-89D3-934B-A5B9-CA6574CBAB1E}" srcOrd="0" destOrd="0" presId="urn:microsoft.com/office/officeart/2005/8/layout/vProcess5"/>
    <dgm:cxn modelId="{9D9C335A-B66A-E34C-B733-8D97456CF9EA}" type="presOf" srcId="{7813AD38-C7C3-4634-8863-9CDD4E74A5A8}" destId="{74AD3859-25BF-7B4A-A500-F4E86C00550A}" srcOrd="0" destOrd="0" presId="urn:microsoft.com/office/officeart/2005/8/layout/vProcess5"/>
    <dgm:cxn modelId="{C52BE68A-3B3E-AA46-87DF-B98E31508B25}" type="presOf" srcId="{B646EFFB-7D0D-401D-8425-46E0292EF821}" destId="{88FB3B4C-3DC5-9B4A-BC25-1724C51E1A6F}" srcOrd="0" destOrd="0" presId="urn:microsoft.com/office/officeart/2005/8/layout/vProcess5"/>
    <dgm:cxn modelId="{5FB6F18C-0AE0-1544-A950-4A2FFE4C8B77}" type="presOf" srcId="{BF7E1C46-AE1B-4653-B2BC-DDFB9767DE32}" destId="{326E1867-FF67-EC4D-94EC-90F7342A8B1A}" srcOrd="0" destOrd="0" presId="urn:microsoft.com/office/officeart/2005/8/layout/vProcess5"/>
    <dgm:cxn modelId="{1F9F16B9-35F5-428F-B181-179B12F46162}" srcId="{E54E33F9-D01E-4AD2-9C12-89D0FF5E03BE}" destId="{BF7E1C46-AE1B-4653-B2BC-DDFB9767DE32}" srcOrd="2" destOrd="0" parTransId="{E9F51B6B-FFF1-45A0-95D0-B49DBFC4AC10}" sibTransId="{A0CBC561-C573-4B9B-A734-6001FF33B8A5}"/>
    <dgm:cxn modelId="{E496F3CD-E191-DA43-B94B-21B6FBF652E8}" type="presOf" srcId="{E54E33F9-D01E-4AD2-9C12-89D0FF5E03BE}" destId="{8C3914E2-AF22-EF4A-A28E-BE035A30167A}" srcOrd="0" destOrd="0" presId="urn:microsoft.com/office/officeart/2005/8/layout/vProcess5"/>
    <dgm:cxn modelId="{6ACA6BF6-F5BF-694F-9BC5-7BFFEFC0F416}" type="presOf" srcId="{BF7E1C46-AE1B-4653-B2BC-DDFB9767DE32}" destId="{B943F051-4D70-7C4F-B96C-3CD8B0F96AB5}" srcOrd="1" destOrd="0" presId="urn:microsoft.com/office/officeart/2005/8/layout/vProcess5"/>
    <dgm:cxn modelId="{37A969FB-9101-499B-8374-7423EDFF7F2F}" srcId="{E54E33F9-D01E-4AD2-9C12-89D0FF5E03BE}" destId="{8BE9585C-A8F8-42A9-8658-80F3409648CA}" srcOrd="0" destOrd="0" parTransId="{8A633ADF-8EFB-46F3-AFEF-0D164461A679}" sibTransId="{7813AD38-C7C3-4634-8863-9CDD4E74A5A8}"/>
    <dgm:cxn modelId="{49F7CF9B-F96C-514D-BFBC-2A12E5121A48}" type="presParOf" srcId="{8C3914E2-AF22-EF4A-A28E-BE035A30167A}" destId="{36A174F2-D5AD-A34C-9D45-4D6B35A67D85}" srcOrd="0" destOrd="0" presId="urn:microsoft.com/office/officeart/2005/8/layout/vProcess5"/>
    <dgm:cxn modelId="{0026A86F-AA0C-7142-B566-75B980210F52}" type="presParOf" srcId="{8C3914E2-AF22-EF4A-A28E-BE035A30167A}" destId="{700D5A65-89D3-934B-A5B9-CA6574CBAB1E}" srcOrd="1" destOrd="0" presId="urn:microsoft.com/office/officeart/2005/8/layout/vProcess5"/>
    <dgm:cxn modelId="{DFEFFF3A-4888-6E46-B46B-9482EF819027}" type="presParOf" srcId="{8C3914E2-AF22-EF4A-A28E-BE035A30167A}" destId="{88FB3B4C-3DC5-9B4A-BC25-1724C51E1A6F}" srcOrd="2" destOrd="0" presId="urn:microsoft.com/office/officeart/2005/8/layout/vProcess5"/>
    <dgm:cxn modelId="{1768E522-4AC5-3741-898A-624417096A9C}" type="presParOf" srcId="{8C3914E2-AF22-EF4A-A28E-BE035A30167A}" destId="{326E1867-FF67-EC4D-94EC-90F7342A8B1A}" srcOrd="3" destOrd="0" presId="urn:microsoft.com/office/officeart/2005/8/layout/vProcess5"/>
    <dgm:cxn modelId="{893D84B3-537D-BB4B-9EEC-01419462351C}" type="presParOf" srcId="{8C3914E2-AF22-EF4A-A28E-BE035A30167A}" destId="{74AD3859-25BF-7B4A-A500-F4E86C00550A}" srcOrd="4" destOrd="0" presId="urn:microsoft.com/office/officeart/2005/8/layout/vProcess5"/>
    <dgm:cxn modelId="{1DBBAFEF-87A1-3B4F-9720-86FCAA6AF23A}" type="presParOf" srcId="{8C3914E2-AF22-EF4A-A28E-BE035A30167A}" destId="{2ABD8AD4-F5BB-7743-B8C7-95851AA52066}" srcOrd="5" destOrd="0" presId="urn:microsoft.com/office/officeart/2005/8/layout/vProcess5"/>
    <dgm:cxn modelId="{4FD31648-4C26-9942-8343-B9F779EB3DD3}" type="presParOf" srcId="{8C3914E2-AF22-EF4A-A28E-BE035A30167A}" destId="{B6985008-8F6D-304D-BCCB-900E4C05AE95}" srcOrd="6" destOrd="0" presId="urn:microsoft.com/office/officeart/2005/8/layout/vProcess5"/>
    <dgm:cxn modelId="{69D3BA3E-8360-6141-AFF9-02BC33D5517B}" type="presParOf" srcId="{8C3914E2-AF22-EF4A-A28E-BE035A30167A}" destId="{93B3DDBA-2B0B-9742-BE05-CBAE1D00AC13}" srcOrd="7" destOrd="0" presId="urn:microsoft.com/office/officeart/2005/8/layout/vProcess5"/>
    <dgm:cxn modelId="{4EF12A9A-B5E4-AA45-A15B-C59E061E0CDF}" type="presParOf" srcId="{8C3914E2-AF22-EF4A-A28E-BE035A30167A}" destId="{B943F051-4D70-7C4F-B96C-3CD8B0F96AB5}"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E2916A-C6FD-43B2-A348-E1B8F49934D5}">
      <dsp:nvSpPr>
        <dsp:cNvPr id="0" name=""/>
        <dsp:cNvSpPr/>
      </dsp:nvSpPr>
      <dsp:spPr>
        <a:xfrm>
          <a:off x="0" y="13269"/>
          <a:ext cx="4069080" cy="9329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EC76C2-D29B-4A72-A5AB-56CE3435AD89}">
      <dsp:nvSpPr>
        <dsp:cNvPr id="0" name=""/>
        <dsp:cNvSpPr/>
      </dsp:nvSpPr>
      <dsp:spPr>
        <a:xfrm>
          <a:off x="282217" y="211754"/>
          <a:ext cx="513121" cy="5131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2DA22C-3CDA-4668-B9CF-475178571BDC}">
      <dsp:nvSpPr>
        <dsp:cNvPr id="0" name=""/>
        <dsp:cNvSpPr/>
      </dsp:nvSpPr>
      <dsp:spPr>
        <a:xfrm>
          <a:off x="1077556" y="1840"/>
          <a:ext cx="2991523" cy="932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737" tIns="98737" rIns="98737" bIns="98737" numCol="1" spcCol="1270" anchor="ctr" anchorCtr="0">
          <a:noAutofit/>
        </a:bodyPr>
        <a:lstStyle/>
        <a:p>
          <a:pPr marL="0" lvl="0" indent="0" algn="l" defTabSz="800100">
            <a:lnSpc>
              <a:spcPct val="100000"/>
            </a:lnSpc>
            <a:spcBef>
              <a:spcPct val="0"/>
            </a:spcBef>
            <a:spcAft>
              <a:spcPct val="35000"/>
            </a:spcAft>
            <a:buNone/>
          </a:pPr>
          <a:r>
            <a:rPr lang="en-US" sz="1800" b="0" kern="1200" dirty="0">
              <a:solidFill>
                <a:srgbClr val="076C60"/>
              </a:solidFill>
            </a:rPr>
            <a:t>VMT: CA's daily driving tab</a:t>
          </a:r>
        </a:p>
      </dsp:txBody>
      <dsp:txXfrm>
        <a:off x="1077556" y="1840"/>
        <a:ext cx="2991523" cy="932948"/>
      </dsp:txXfrm>
    </dsp:sp>
    <dsp:sp modelId="{678CB97D-009F-44F7-B82F-B1CA4A81DE83}">
      <dsp:nvSpPr>
        <dsp:cNvPr id="0" name=""/>
        <dsp:cNvSpPr/>
      </dsp:nvSpPr>
      <dsp:spPr>
        <a:xfrm>
          <a:off x="0" y="1168026"/>
          <a:ext cx="4069080" cy="9329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4EDC78-01CB-4256-BE87-1D512E465A0D}">
      <dsp:nvSpPr>
        <dsp:cNvPr id="0" name=""/>
        <dsp:cNvSpPr/>
      </dsp:nvSpPr>
      <dsp:spPr>
        <a:xfrm>
          <a:off x="282217" y="1377940"/>
          <a:ext cx="513121" cy="513121"/>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61548B-35E4-4997-8219-8284EE08D973}">
      <dsp:nvSpPr>
        <dsp:cNvPr id="0" name=""/>
        <dsp:cNvSpPr/>
      </dsp:nvSpPr>
      <dsp:spPr>
        <a:xfrm>
          <a:off x="1077556" y="1168026"/>
          <a:ext cx="2991523" cy="932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737" tIns="98737" rIns="98737" bIns="98737" numCol="1" spcCol="1270" anchor="ctr" anchorCtr="0">
          <a:noAutofit/>
        </a:bodyPr>
        <a:lstStyle/>
        <a:p>
          <a:pPr marL="0" lvl="0" indent="0" algn="l" defTabSz="800100">
            <a:lnSpc>
              <a:spcPct val="100000"/>
            </a:lnSpc>
            <a:spcBef>
              <a:spcPct val="0"/>
            </a:spcBef>
            <a:spcAft>
              <a:spcPct val="35000"/>
            </a:spcAft>
            <a:buNone/>
          </a:pPr>
          <a:r>
            <a:rPr lang="en-US" sz="1800" kern="1200" dirty="0">
              <a:solidFill>
                <a:srgbClr val="076C60"/>
              </a:solidFill>
            </a:rPr>
            <a:t>Californians drive about 24–25 miles per person per day</a:t>
          </a:r>
        </a:p>
      </dsp:txBody>
      <dsp:txXfrm>
        <a:off x="1077556" y="1168026"/>
        <a:ext cx="2991523" cy="932948"/>
      </dsp:txXfrm>
    </dsp:sp>
    <dsp:sp modelId="{DF9AA32B-986B-42B1-9A80-7915C2EF6030}">
      <dsp:nvSpPr>
        <dsp:cNvPr id="0" name=""/>
        <dsp:cNvSpPr/>
      </dsp:nvSpPr>
      <dsp:spPr>
        <a:xfrm>
          <a:off x="0" y="2334213"/>
          <a:ext cx="4069080" cy="9329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3FE012-0DF7-4F15-B74B-52A93C518317}">
      <dsp:nvSpPr>
        <dsp:cNvPr id="0" name=""/>
        <dsp:cNvSpPr/>
      </dsp:nvSpPr>
      <dsp:spPr>
        <a:xfrm>
          <a:off x="282217" y="2544126"/>
          <a:ext cx="513121" cy="513121"/>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9C40AA-61F5-4E87-9E25-DC4E15B47BF9}">
      <dsp:nvSpPr>
        <dsp:cNvPr id="0" name=""/>
        <dsp:cNvSpPr/>
      </dsp:nvSpPr>
      <dsp:spPr>
        <a:xfrm>
          <a:off x="1077556" y="2334213"/>
          <a:ext cx="2991523" cy="932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737" tIns="98737" rIns="98737" bIns="98737" numCol="1" spcCol="1270" anchor="ctr" anchorCtr="0">
          <a:noAutofit/>
        </a:bodyPr>
        <a:lstStyle/>
        <a:p>
          <a:pPr marL="0" lvl="0" indent="0" algn="l" defTabSz="800100">
            <a:lnSpc>
              <a:spcPct val="100000"/>
            </a:lnSpc>
            <a:spcBef>
              <a:spcPct val="0"/>
            </a:spcBef>
            <a:spcAft>
              <a:spcPct val="35000"/>
            </a:spcAft>
            <a:buNone/>
          </a:pPr>
          <a:r>
            <a:rPr lang="en-US" sz="1800" kern="1200" dirty="0">
              <a:solidFill>
                <a:srgbClr val="076C60"/>
              </a:solidFill>
            </a:rPr>
            <a:t>Carbon neutrality by 2045: ~17 miles per person per day</a:t>
          </a:r>
        </a:p>
      </dsp:txBody>
      <dsp:txXfrm>
        <a:off x="1077556" y="2334213"/>
        <a:ext cx="2991523" cy="932948"/>
      </dsp:txXfrm>
    </dsp:sp>
    <dsp:sp modelId="{44CA1364-1866-499F-B7B0-866F23A12D96}">
      <dsp:nvSpPr>
        <dsp:cNvPr id="0" name=""/>
        <dsp:cNvSpPr/>
      </dsp:nvSpPr>
      <dsp:spPr>
        <a:xfrm>
          <a:off x="0" y="3500399"/>
          <a:ext cx="4069080" cy="9329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D85597-EAF8-4B28-BA37-91A6392A6AC4}">
      <dsp:nvSpPr>
        <dsp:cNvPr id="0" name=""/>
        <dsp:cNvSpPr/>
      </dsp:nvSpPr>
      <dsp:spPr>
        <a:xfrm>
          <a:off x="282217" y="3710312"/>
          <a:ext cx="513121" cy="5131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FEDFBE-21D1-4D51-AD11-BFD20ACFE16F}">
      <dsp:nvSpPr>
        <dsp:cNvPr id="0" name=""/>
        <dsp:cNvSpPr/>
      </dsp:nvSpPr>
      <dsp:spPr>
        <a:xfrm>
          <a:off x="1077556" y="3500399"/>
          <a:ext cx="2991523" cy="932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737" tIns="98737" rIns="98737" bIns="98737" numCol="1" spcCol="1270" anchor="ctr" anchorCtr="0">
          <a:noAutofit/>
        </a:bodyPr>
        <a:lstStyle/>
        <a:p>
          <a:pPr marL="0" lvl="0" indent="0" algn="l" defTabSz="800100">
            <a:lnSpc>
              <a:spcPct val="100000"/>
            </a:lnSpc>
            <a:spcBef>
              <a:spcPct val="0"/>
            </a:spcBef>
            <a:spcAft>
              <a:spcPct val="35000"/>
            </a:spcAft>
            <a:buNone/>
          </a:pPr>
          <a:r>
            <a:rPr lang="en-US" sz="1800" kern="1200" dirty="0">
              <a:solidFill>
                <a:srgbClr val="076C60"/>
              </a:solidFill>
            </a:rPr>
            <a:t>Gap is only growing</a:t>
          </a:r>
        </a:p>
      </dsp:txBody>
      <dsp:txXfrm>
        <a:off x="1077556" y="3500399"/>
        <a:ext cx="2991523" cy="932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D5A65-89D3-934B-A5B9-CA6574CBAB1E}">
      <dsp:nvSpPr>
        <dsp:cNvPr id="0" name=""/>
        <dsp:cNvSpPr/>
      </dsp:nvSpPr>
      <dsp:spPr>
        <a:xfrm>
          <a:off x="0" y="0"/>
          <a:ext cx="5829300" cy="1352216"/>
        </a:xfrm>
        <a:prstGeom prst="roundRect">
          <a:avLst>
            <a:gd name="adj" fmla="val 10000"/>
          </a:avLst>
        </a:prstGeom>
        <a:solidFill>
          <a:schemeClr val="accent3">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SB 375 requires California's 18 MPOs to each produce a "Sustainable Communities Strategy" (SCS): a transportation and land use plan aligned with state climate targets</a:t>
          </a:r>
        </a:p>
      </dsp:txBody>
      <dsp:txXfrm>
        <a:off x="39605" y="39605"/>
        <a:ext cx="4370153" cy="1273006"/>
      </dsp:txXfrm>
    </dsp:sp>
    <dsp:sp modelId="{88FB3B4C-3DC5-9B4A-BC25-1724C51E1A6F}">
      <dsp:nvSpPr>
        <dsp:cNvPr id="0" name=""/>
        <dsp:cNvSpPr/>
      </dsp:nvSpPr>
      <dsp:spPr>
        <a:xfrm>
          <a:off x="514349" y="1577585"/>
          <a:ext cx="5829300" cy="1352216"/>
        </a:xfrm>
        <a:prstGeom prst="roundRect">
          <a:avLst>
            <a:gd name="adj" fmla="val 10000"/>
          </a:avLst>
        </a:prstGeom>
        <a:solidFill>
          <a:schemeClr val="accent3">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Regions must show, on paper, how their plan achieves those targets</a:t>
          </a:r>
        </a:p>
      </dsp:txBody>
      <dsp:txXfrm>
        <a:off x="553954" y="1617190"/>
        <a:ext cx="4356799" cy="1273006"/>
      </dsp:txXfrm>
    </dsp:sp>
    <dsp:sp modelId="{326E1867-FF67-EC4D-94EC-90F7342A8B1A}">
      <dsp:nvSpPr>
        <dsp:cNvPr id="0" name=""/>
        <dsp:cNvSpPr/>
      </dsp:nvSpPr>
      <dsp:spPr>
        <a:xfrm>
          <a:off x="1028699" y="3155171"/>
          <a:ext cx="5829300" cy="1352216"/>
        </a:xfrm>
        <a:prstGeom prst="roundRect">
          <a:avLst>
            <a:gd name="adj" fmla="val 10000"/>
          </a:avLst>
        </a:prstGeom>
        <a:solidFill>
          <a:schemeClr val="accent3">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SB 375 was groundbreaking in 2008. Sixteen years later, VMT and GHG emissions are still rising</a:t>
          </a:r>
        </a:p>
      </dsp:txBody>
      <dsp:txXfrm>
        <a:off x="1068304" y="3194776"/>
        <a:ext cx="4356799" cy="1273006"/>
      </dsp:txXfrm>
    </dsp:sp>
    <dsp:sp modelId="{74AD3859-25BF-7B4A-A500-F4E86C00550A}">
      <dsp:nvSpPr>
        <dsp:cNvPr id="0" name=""/>
        <dsp:cNvSpPr/>
      </dsp:nvSpPr>
      <dsp:spPr>
        <a:xfrm>
          <a:off x="4950359" y="1025430"/>
          <a:ext cx="878940" cy="878940"/>
        </a:xfrm>
        <a:prstGeom prst="downArrow">
          <a:avLst>
            <a:gd name="adj1" fmla="val 55000"/>
            <a:gd name="adj2" fmla="val 45000"/>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148120" y="1025430"/>
        <a:ext cx="483418" cy="661402"/>
      </dsp:txXfrm>
    </dsp:sp>
    <dsp:sp modelId="{2ABD8AD4-F5BB-7743-B8C7-95851AA52066}">
      <dsp:nvSpPr>
        <dsp:cNvPr id="0" name=""/>
        <dsp:cNvSpPr/>
      </dsp:nvSpPr>
      <dsp:spPr>
        <a:xfrm>
          <a:off x="5464709" y="2594001"/>
          <a:ext cx="878940" cy="878940"/>
        </a:xfrm>
        <a:prstGeom prst="downArrow">
          <a:avLst>
            <a:gd name="adj1" fmla="val 55000"/>
            <a:gd name="adj2" fmla="val 45000"/>
          </a:avLst>
        </a:prstGeom>
        <a:solidFill>
          <a:schemeClr val="accent3">
            <a:alpha val="90000"/>
            <a:tint val="40000"/>
            <a:hueOff val="0"/>
            <a:satOff val="0"/>
            <a:lumOff val="0"/>
            <a:alphaOff val="-4000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662470" y="2594001"/>
        <a:ext cx="483418" cy="6614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809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want to start not with policy — but with something everyone in this room has experienced. Sitting in traffic. Watching the air quality index tick up on a hot afternoon. Wondering why, despite everything we've heard about California's climate leadership, our roads keep getting more congested and our air keeps getting worse. That's what this project is about. And the answer isn't 'drive less.' It's about changing what we fund.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091271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capstone was done through UC Berkeley's Rausser College of Natural Resources. My partner on the project was NRDC — the Natural Resources Defense Council — specifically Zak Accuardi, who works on exactly these questions professionally. I want to be upfront: this is a policy analysis project, not an engineering one. We're looking at how laws are written and how money flows — not at individual driver behavior.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VMT is the single most important metric in this presentation, so I want to make sure it's crystal clear. It's not complicated — it's just the total mileage bill California runs up every day. The reason it matters for climate is simple: more miles driven equals more fuel burned equals more emissions. What's striking is that even as electric vehicles have grown, total VMT has continued to climb — which means electrification alone won't get us there. We have to actually drive less, collectively.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SB 375 was genuinely a landmark law when it passed. It was the first in the country to link transportation planning to climate targets at a regional level. The idea was: if we require regions to plan for lower emissions, the spending will follow. Spoiler: it didn't. And the reason why is what I want to show you next.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nSpc>
                <a:spcPct val="150000"/>
              </a:lnSpc>
              <a:spcAft>
                <a:spcPts val="600"/>
              </a:spcAft>
            </a:pPr>
            <a:r>
              <a:rPr dirty="0"/>
              <a:t>This is the core insight of the whole project, and I want to make sure it lands. SB 375 is a planning mandate. It requires good documents. It does not require good spending decisions. And in practice, what we've seen is that regions produce plans showing impressive VMT reductions — and then fund projects that do the opposite. There's no mechanism that says: if you miss your target, you lose your highway funding. That's the gap we're trying to close.</a:t>
            </a:r>
            <a:br>
              <a:rPr lang="en-US" dirty="0"/>
            </a:br>
            <a:br>
              <a:rPr lang="en-US" dirty="0"/>
            </a:br>
            <a:r>
              <a:rPr lang="en-US" sz="1200" dirty="0">
                <a:solidFill>
                  <a:srgbClr val="F5E6D3"/>
                </a:solidFill>
                <a:latin typeface="Calibri"/>
              </a:rPr>
              <a:t>•  Think of it like a gym membership where you write a detailed workout schedule every four years — but no one ever checks if you showed up</a:t>
            </a:r>
          </a:p>
          <a:p>
            <a:pPr>
              <a:lnSpc>
                <a:spcPct val="150000"/>
              </a:lnSpc>
              <a:spcAft>
                <a:spcPts val="600"/>
              </a:spcAft>
            </a:pPr>
            <a:r>
              <a:rPr lang="en-US" sz="1200" dirty="0">
                <a:solidFill>
                  <a:srgbClr val="F5E6D3"/>
                </a:solidFill>
                <a:latin typeface="Calibri"/>
              </a:rPr>
              <a:t>•  Regions can submit a plan projecting significant VMT reductions, then fund highway expansions that generate more driving — with no legal consequence</a:t>
            </a:r>
          </a:p>
          <a:p>
            <a:pPr>
              <a:lnSpc>
                <a:spcPct val="150000"/>
              </a:lnSpc>
              <a:spcAft>
                <a:spcPts val="600"/>
              </a:spcAft>
            </a:pPr>
            <a:r>
              <a:rPr lang="en-US" sz="1200" dirty="0">
                <a:solidFill>
                  <a:srgbClr val="F5E6D3"/>
                </a:solidFill>
                <a:latin typeface="Calibri"/>
              </a:rPr>
              <a:t>•  This gap between planning and spending is where climate progress gets lost</a:t>
            </a:r>
          </a:p>
          <a:p>
            <a:pPr>
              <a:lnSpc>
                <a:spcPct val="150000"/>
              </a:lnSpc>
              <a:spcAft>
                <a:spcPts val="600"/>
              </a:spcAft>
            </a:pPr>
            <a:r>
              <a:rPr lang="en-US" sz="1200" dirty="0">
                <a:solidFill>
                  <a:srgbClr val="F5E6D3"/>
                </a:solidFill>
                <a:latin typeface="Calibri"/>
              </a:rPr>
              <a:t>•  Result: VMT and emissions are trending upward statewide, even as regions report "on track" in their plans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the project gets strategic. We couldn't just amend SB 375 directly — the legal structure is too narrow for investment mandates. But SB 1087, introduced just this February, opens the right doors. It's currently a fairly dry administrative bill. But because it touches the same code sections, it gives advocates a vehicle to attach real enforcement mechanisms this legislative session. The window is open right now.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None of these states reinvented the wheel. They just added consequences. Colorado locked the budget. Minnesota required honest accounting. Virginia built equity into the scoring. Massachusetts made the targets legally binding. California has the policy infrastructure to do all four — we just need the political will to attach them to the right bill.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scenario I'd recommend as the starting point for this legislative session. It's not the most transformative option, but it's the most politically viable. The key insight is that it doesn't permanently cut anyone's funding — it creates a pause with a clear path to restoration. That makes it much harder to oppose. A region that's genuinely making progress has nothing to fear from this.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one has real teeth. It basically says: 'Big Highway' projects have to fund their own climate offsets. If Caltrans wants to add a lane on I-5, it has to show that the induced demand won't blow up regional emissions targets — and if it will, it has to fund transit or housing alternatives that absorb that demand. This is how you stop the cycle of building more roads and then wondering why there's more traffic.</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long game. It fundamentally restructures how California decides what gets funded — not by tweaking the scoring at the margins, but by establishing a hard floor. If your project makes climate worse, it doesn't get state money. Full stop. Virginia and Massachusetts have shown this is legally defensible and politically survivable — but it will require building a broader coalition than Scenario 1 to get there.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I want to be transparent about a methodological choice here. We used per-capita VMT as our primary metric, which can actually undercount burden in places like the Central Valley, where absolute freight traffic is enormous but spread across a smaller population. The 309 hotspot number is conservative. The human reality — elevated asthma rates, cardiovascular disease, premature death near these corridors — is well-documented in the literature and should not be obscured by the averages.</a:t>
            </a:r>
            <a:br>
              <a:rPr lang="en-US" dirty="0"/>
            </a:br>
            <a:br>
              <a:rPr lang="en-US" dirty="0"/>
            </a:br>
            <a:r>
              <a:rPr lang="en-US" sz="1200" dirty="0">
                <a:solidFill>
                  <a:srgbClr val="F5E6D3"/>
                </a:solidFill>
                <a:latin typeface="Calibri"/>
              </a:rPr>
              <a:t>Note: per-capita VMT can appear lower in dense urban corridors even when absolute pollution burden is highest. </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end with honesty. Someone in the room is probably thinking: 'Even if all three scenarios pass, does California hit its targets?' And the answer is: not automatically. These reforms are necessary but not sufficient. What they do is stop the hemorrhaging — stop funding projects that actively undermine the plans we've already written. That's not nothing. That's the foundation. The ask I'd leave you with is simple: the next time you hear that a region 'has a plan' to reduce emissions, ask what happens if they don't follow it. Right now, the answer is nothing. These reforms change that answer.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C4241"/>
          </a:solidFill>
          <a:ln/>
        </p:spPr>
        <p:txBody>
          <a:bodyPr/>
          <a:lstStyle/>
          <a:p>
            <a:endParaRPr lang="en-US" sz="1500"/>
          </a:p>
        </p:txBody>
      </p:sp>
      <p:sp>
        <p:nvSpPr>
          <p:cNvPr id="3" name="Shape 1"/>
          <p:cNvSpPr/>
          <p:nvPr/>
        </p:nvSpPr>
        <p:spPr>
          <a:xfrm>
            <a:off x="0" y="0"/>
            <a:ext cx="12192000" cy="6858000"/>
          </a:xfrm>
          <a:prstGeom prst="rect">
            <a:avLst/>
          </a:prstGeom>
          <a:solidFill>
            <a:srgbClr val="123332"/>
          </a:solidFill>
          <a:ln/>
        </p:spPr>
        <p:txBody>
          <a:bodyPr/>
          <a:lstStyle/>
          <a:p>
            <a:endParaRPr lang="en-US" sz="1500"/>
          </a:p>
        </p:txBody>
      </p:sp>
    </p:spTree>
    <p:extLst>
      <p:ext uri="{BB962C8B-B14F-4D97-AF65-F5344CB8AC3E}">
        <p14:creationId xmlns:p14="http://schemas.microsoft.com/office/powerpoint/2010/main" val="2426834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C4241"/>
          </a:solidFill>
          <a:ln/>
        </p:spPr>
        <p:txBody>
          <a:bodyPr/>
          <a:lstStyle/>
          <a:p>
            <a:endParaRPr lang="en-US" sz="1500"/>
          </a:p>
        </p:txBody>
      </p:sp>
      <p:sp>
        <p:nvSpPr>
          <p:cNvPr id="3" name="Shape 1"/>
          <p:cNvSpPr/>
          <p:nvPr/>
        </p:nvSpPr>
        <p:spPr>
          <a:xfrm>
            <a:off x="0" y="0"/>
            <a:ext cx="12192000" cy="6858000"/>
          </a:xfrm>
          <a:prstGeom prst="rect">
            <a:avLst/>
          </a:prstGeom>
          <a:solidFill>
            <a:srgbClr val="123332"/>
          </a:solidFill>
          <a:ln/>
        </p:spPr>
        <p:txBody>
          <a:bodyPr/>
          <a:lstStyle/>
          <a:p>
            <a:endParaRPr lang="en-US" sz="1500"/>
          </a:p>
        </p:txBody>
      </p:sp>
    </p:spTree>
    <p:extLst>
      <p:ext uri="{BB962C8B-B14F-4D97-AF65-F5344CB8AC3E}">
        <p14:creationId xmlns:p14="http://schemas.microsoft.com/office/powerpoint/2010/main" val="3738698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3.png"/><Relationship Id="rId7" Type="http://schemas.openxmlformats.org/officeDocument/2006/relationships/diagramColors" Target="../diagrams/colors2.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15.svg"/><Relationship Id="rId4" Type="http://schemas.openxmlformats.org/officeDocument/2006/relationships/diagramData" Target="../diagrams/data2.xml"/><Relationship Id="rId9" Type="http://schemas.openxmlformats.org/officeDocument/2006/relationships/image" Target="../media/image14.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FEDBDE-5DD4-7015-74C8-5D3D3BAEF1A9}"/>
              </a:ext>
            </a:extLst>
          </p:cNvPr>
          <p:cNvPicPr>
            <a:picLocks noChangeAspect="1"/>
          </p:cNvPicPr>
          <p:nvPr/>
        </p:nvPicPr>
        <p:blipFill>
          <a:blip r:embed="rId3">
            <a:alphaModFix amt="70000"/>
          </a:blip>
          <a:stretch>
            <a:fillRect/>
          </a:stretch>
        </p:blipFill>
        <p:spPr>
          <a:xfrm>
            <a:off x="-14068" y="0"/>
            <a:ext cx="12192000" cy="6858000"/>
          </a:xfrm>
          <a:prstGeom prst="rect">
            <a:avLst/>
          </a:prstGeom>
          <a:noFill/>
          <a:ln>
            <a:noFill/>
          </a:ln>
        </p:spPr>
      </p:pic>
      <p:sp>
        <p:nvSpPr>
          <p:cNvPr id="3" name="Text 0"/>
          <p:cNvSpPr/>
          <p:nvPr/>
        </p:nvSpPr>
        <p:spPr>
          <a:xfrm>
            <a:off x="2079203" y="2147909"/>
            <a:ext cx="4016797" cy="776011"/>
          </a:xfrm>
          <a:prstGeom prst="rect">
            <a:avLst/>
          </a:prstGeom>
          <a:noFill/>
          <a:ln/>
        </p:spPr>
        <p:txBody>
          <a:bodyPr wrap="none" lIns="0" tIns="0" rIns="0" bIns="0" rtlCol="0" anchor="t"/>
          <a:lstStyle/>
          <a:p>
            <a:r>
              <a:rPr lang="en-US" sz="5400" b="1" dirty="0">
                <a:solidFill>
                  <a:srgbClr val="E8967A"/>
                </a:solidFill>
                <a:latin typeface="Georgia"/>
              </a:rPr>
              <a:t>Rethinking</a:t>
            </a:r>
          </a:p>
        </p:txBody>
      </p:sp>
      <p:sp>
        <p:nvSpPr>
          <p:cNvPr id="4" name="Text 1"/>
          <p:cNvSpPr/>
          <p:nvPr/>
        </p:nvSpPr>
        <p:spPr>
          <a:xfrm>
            <a:off x="2622395" y="3121036"/>
            <a:ext cx="6947210" cy="1034759"/>
          </a:xfrm>
          <a:prstGeom prst="rect">
            <a:avLst/>
          </a:prstGeom>
          <a:solidFill>
            <a:schemeClr val="accent1">
              <a:alpha val="5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3200" b="1" dirty="0">
                <a:solidFill>
                  <a:schemeClr val="tx2">
                    <a:lumMod val="20000"/>
                    <a:lumOff val="80000"/>
                  </a:schemeClr>
                </a:solidFill>
                <a:latin typeface="Quattrocento" pitchFamily="34" charset="0"/>
                <a:ea typeface="Quattrocento" pitchFamily="34" charset="-122"/>
                <a:cs typeface="Quattrocento" pitchFamily="34" charset="-120"/>
              </a:rPr>
              <a:t>Legislative pathways to transform California's transportation landscape</a:t>
            </a:r>
            <a:endParaRPr lang="en-US" sz="3200" b="1" dirty="0">
              <a:solidFill>
                <a:schemeClr val="tx2">
                  <a:lumMod val="20000"/>
                  <a:lumOff val="80000"/>
                </a:schemeClr>
              </a:solidFill>
            </a:endParaRPr>
          </a:p>
        </p:txBody>
      </p:sp>
      <p:pic>
        <p:nvPicPr>
          <p:cNvPr id="6" name="Picture 5">
            <a:extLst>
              <a:ext uri="{FF2B5EF4-FFF2-40B4-BE49-F238E27FC236}">
                <a16:creationId xmlns:a16="http://schemas.microsoft.com/office/drawing/2014/main" id="{CD3948C3-2957-2462-B66A-23BAD27B7BA2}"/>
              </a:ext>
            </a:extLst>
          </p:cNvPr>
          <p:cNvPicPr>
            <a:picLocks noChangeAspect="1"/>
          </p:cNvPicPr>
          <p:nvPr/>
        </p:nvPicPr>
        <p:blipFill>
          <a:blip r:embed="rId4"/>
          <a:stretch>
            <a:fillRect/>
          </a:stretch>
        </p:blipFill>
        <p:spPr>
          <a:xfrm>
            <a:off x="133397" y="140022"/>
            <a:ext cx="793686" cy="1057190"/>
          </a:xfrm>
          <a:prstGeom prst="rect">
            <a:avLst/>
          </a:prstGeom>
        </p:spPr>
      </p:pic>
      <p:pic>
        <p:nvPicPr>
          <p:cNvPr id="8" name="Picture 7">
            <a:extLst>
              <a:ext uri="{FF2B5EF4-FFF2-40B4-BE49-F238E27FC236}">
                <a16:creationId xmlns:a16="http://schemas.microsoft.com/office/drawing/2014/main" id="{01B16A45-609D-6354-25B8-8CF1581B6391}"/>
              </a:ext>
            </a:extLst>
          </p:cNvPr>
          <p:cNvPicPr>
            <a:picLocks noChangeAspect="1"/>
          </p:cNvPicPr>
          <p:nvPr/>
        </p:nvPicPr>
        <p:blipFill>
          <a:blip r:embed="rId5"/>
          <a:stretch>
            <a:fillRect/>
          </a:stretch>
        </p:blipFill>
        <p:spPr>
          <a:xfrm>
            <a:off x="1060480" y="140022"/>
            <a:ext cx="3296326" cy="776011"/>
          </a:xfrm>
          <a:prstGeom prst="rect">
            <a:avLst/>
          </a:prstGeom>
        </p:spPr>
      </p:pic>
      <p:sp>
        <p:nvSpPr>
          <p:cNvPr id="9" name="Text 0">
            <a:extLst>
              <a:ext uri="{FF2B5EF4-FFF2-40B4-BE49-F238E27FC236}">
                <a16:creationId xmlns:a16="http://schemas.microsoft.com/office/drawing/2014/main" id="{578FBF7E-532A-B9A4-079C-CDBE2F9127BE}"/>
              </a:ext>
            </a:extLst>
          </p:cNvPr>
          <p:cNvSpPr/>
          <p:nvPr/>
        </p:nvSpPr>
        <p:spPr>
          <a:xfrm>
            <a:off x="6176672" y="2147908"/>
            <a:ext cx="2420918" cy="776011"/>
          </a:xfrm>
          <a:prstGeom prst="rect">
            <a:avLst/>
          </a:prstGeom>
          <a:noFill/>
          <a:ln/>
        </p:spPr>
        <p:txBody>
          <a:bodyPr wrap="none" lIns="0" tIns="0" rIns="0" bIns="0" rtlCol="0" anchor="t"/>
          <a:lstStyle/>
          <a:p>
            <a:r>
              <a:rPr lang="en-US" sz="5400" b="1" dirty="0">
                <a:solidFill>
                  <a:srgbClr val="00B0F0"/>
                </a:solidFill>
                <a:latin typeface="Georgia"/>
              </a:rPr>
              <a:t>SB 375</a:t>
            </a:r>
          </a:p>
        </p:txBody>
      </p:sp>
      <p:sp>
        <p:nvSpPr>
          <p:cNvPr id="11" name="TextBox 10">
            <a:extLst>
              <a:ext uri="{FF2B5EF4-FFF2-40B4-BE49-F238E27FC236}">
                <a16:creationId xmlns:a16="http://schemas.microsoft.com/office/drawing/2014/main" id="{5A2915CA-327F-88C2-9CB0-E9ED00A66B19}"/>
              </a:ext>
            </a:extLst>
          </p:cNvPr>
          <p:cNvSpPr txBox="1"/>
          <p:nvPr/>
        </p:nvSpPr>
        <p:spPr>
          <a:xfrm>
            <a:off x="1338147" y="5034105"/>
            <a:ext cx="4757854" cy="523220"/>
          </a:xfrm>
          <a:prstGeom prst="rect">
            <a:avLst/>
          </a:prstGeom>
          <a:solidFill>
            <a:schemeClr val="accent6">
              <a:alpha val="5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0">
            <a:scrgbClr r="0" g="0" b="0"/>
          </a:lnRef>
          <a:fillRef idx="0">
            <a:scrgbClr r="0" g="0" b="0"/>
          </a:fillRef>
          <a:effectRef idx="0">
            <a:scrgbClr r="0" g="0" b="0"/>
          </a:effectRef>
          <a:fontRef idx="minor">
            <a:schemeClr val="lt1"/>
          </a:fontRef>
        </p:style>
        <p:txBody>
          <a:bodyPr wrap="square">
            <a:spAutoFit/>
          </a:bodyPr>
          <a:lstStyle/>
          <a:p>
            <a:r>
              <a:rPr lang="en-US" sz="2800" b="1" dirty="0">
                <a:solidFill>
                  <a:schemeClr val="accent6">
                    <a:lumMod val="40000"/>
                    <a:lumOff val="60000"/>
                  </a:schemeClr>
                </a:solidFill>
                <a:latin typeface="Quattrocento" pitchFamily="34" charset="0"/>
                <a:ea typeface="Quattrocento" pitchFamily="34" charset="-122"/>
                <a:cs typeface="Quattrocento" pitchFamily="34" charset="-120"/>
              </a:rPr>
              <a:t>from incumbent stagnation</a:t>
            </a:r>
            <a:endParaRPr lang="en-US" sz="2800" dirty="0">
              <a:solidFill>
                <a:schemeClr val="accent6">
                  <a:lumMod val="40000"/>
                  <a:lumOff val="60000"/>
                </a:schemeClr>
              </a:solidFill>
            </a:endParaRPr>
          </a:p>
        </p:txBody>
      </p:sp>
      <p:sp>
        <p:nvSpPr>
          <p:cNvPr id="12" name="TextBox 11">
            <a:extLst>
              <a:ext uri="{FF2B5EF4-FFF2-40B4-BE49-F238E27FC236}">
                <a16:creationId xmlns:a16="http://schemas.microsoft.com/office/drawing/2014/main" id="{E571F9DE-9F0A-E55D-D986-5F0D70070702}"/>
              </a:ext>
            </a:extLst>
          </p:cNvPr>
          <p:cNvSpPr txBox="1"/>
          <p:nvPr/>
        </p:nvSpPr>
        <p:spPr>
          <a:xfrm>
            <a:off x="6095999" y="5034105"/>
            <a:ext cx="4257823" cy="523220"/>
          </a:xfrm>
          <a:prstGeom prst="rect">
            <a:avLst/>
          </a:prstGeom>
          <a:solidFill>
            <a:schemeClr val="accent1">
              <a:alpha val="5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0">
            <a:scrgbClr r="0" g="0" b="0"/>
          </a:lnRef>
          <a:fillRef idx="0">
            <a:scrgbClr r="0" g="0" b="0"/>
          </a:fillRef>
          <a:effectRef idx="0">
            <a:scrgbClr r="0" g="0" b="0"/>
          </a:effectRef>
          <a:fontRef idx="minor">
            <a:schemeClr val="lt1"/>
          </a:fontRef>
        </p:style>
        <p:txBody>
          <a:bodyPr wrap="square">
            <a:spAutoFit/>
          </a:bodyPr>
          <a:lstStyle/>
          <a:p>
            <a:r>
              <a:rPr lang="en-US" sz="2800" b="1" dirty="0">
                <a:solidFill>
                  <a:schemeClr val="tx2">
                    <a:lumMod val="20000"/>
                    <a:lumOff val="80000"/>
                  </a:schemeClr>
                </a:solidFill>
                <a:latin typeface="Quattrocento" pitchFamily="34" charset="0"/>
                <a:ea typeface="Quattrocento" pitchFamily="34" charset="-122"/>
                <a:cs typeface="Quattrocento" pitchFamily="34" charset="-120"/>
              </a:rPr>
              <a:t>to climate accountability</a:t>
            </a:r>
            <a:endParaRPr lang="en-US" sz="2800" dirty="0">
              <a:solidFill>
                <a:schemeClr val="tx2">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1" y="320040"/>
            <a:ext cx="5132070" cy="1323439"/>
          </a:xfrm>
          <a:prstGeom prst="rect">
            <a:avLst/>
          </a:prstGeom>
          <a:noFill/>
        </p:spPr>
        <p:txBody>
          <a:bodyPr wrap="square">
            <a:spAutoFit/>
          </a:bodyPr>
          <a:lstStyle/>
          <a:p>
            <a:r>
              <a:rPr lang="en-US" sz="4000" b="1" dirty="0" err="1">
                <a:solidFill>
                  <a:srgbClr val="E8967A"/>
                </a:solidFill>
                <a:latin typeface="Georgia"/>
              </a:rPr>
              <a:t>Californiacation</a:t>
            </a:r>
            <a:r>
              <a:rPr lang="en-US" sz="4000" b="1" dirty="0">
                <a:solidFill>
                  <a:srgbClr val="E8967A"/>
                </a:solidFill>
                <a:latin typeface="Georgia"/>
              </a:rPr>
              <a:t>: A </a:t>
            </a:r>
            <a:r>
              <a:rPr sz="4000" b="1" dirty="0">
                <a:solidFill>
                  <a:srgbClr val="E8967A"/>
                </a:solidFill>
                <a:latin typeface="Georgia"/>
              </a:rPr>
              <a:t>Traffic Problem</a:t>
            </a:r>
          </a:p>
        </p:txBody>
      </p:sp>
      <p:sp>
        <p:nvSpPr>
          <p:cNvPr id="3" name="TextBox 2"/>
          <p:cNvSpPr txBox="1"/>
          <p:nvPr/>
        </p:nvSpPr>
        <p:spPr>
          <a:xfrm>
            <a:off x="731519" y="2131959"/>
            <a:ext cx="4572000" cy="1569660"/>
          </a:xfrm>
          <a:prstGeom prst="rect">
            <a:avLst/>
          </a:prstGeom>
          <a:noFill/>
        </p:spPr>
        <p:txBody>
          <a:bodyPr wrap="square">
            <a:spAutoFit/>
          </a:bodyPr>
          <a:lstStyle/>
          <a:p>
            <a:pPr algn="l"/>
            <a:r>
              <a:rPr sz="3200" b="1" dirty="0">
                <a:solidFill>
                  <a:srgbClr val="F5E6D3"/>
                </a:solidFill>
                <a:latin typeface="Georgia" panose="02040502050405020303" pitchFamily="18" charset="0"/>
              </a:rPr>
              <a:t>Californians drive  </a:t>
            </a:r>
            <a:r>
              <a:rPr lang="en-US" sz="3200" b="1" dirty="0">
                <a:solidFill>
                  <a:srgbClr val="F5E6D3"/>
                </a:solidFill>
                <a:latin typeface="Georgia" panose="02040502050405020303" pitchFamily="18" charset="0"/>
              </a:rPr>
              <a:t>nearly ~</a:t>
            </a:r>
            <a:r>
              <a:rPr sz="3200" b="1" dirty="0">
                <a:solidFill>
                  <a:srgbClr val="F5E6D3"/>
                </a:solidFill>
                <a:latin typeface="Georgia" panose="02040502050405020303" pitchFamily="18" charset="0"/>
              </a:rPr>
              <a:t>1 </a:t>
            </a:r>
            <a:r>
              <a:rPr lang="en-US" sz="3200" b="1" dirty="0">
                <a:solidFill>
                  <a:srgbClr val="F5E6D3"/>
                </a:solidFill>
                <a:latin typeface="Georgia" panose="02040502050405020303" pitchFamily="18" charset="0"/>
              </a:rPr>
              <a:t>B</a:t>
            </a:r>
            <a:r>
              <a:rPr sz="3200" b="1" dirty="0">
                <a:solidFill>
                  <a:srgbClr val="F5E6D3"/>
                </a:solidFill>
                <a:latin typeface="Georgia" panose="02040502050405020303" pitchFamily="18" charset="0"/>
              </a:rPr>
              <a:t>illion miles</a:t>
            </a:r>
            <a:r>
              <a:rPr lang="en-US" sz="3200" b="1" dirty="0">
                <a:solidFill>
                  <a:srgbClr val="F5E6D3"/>
                </a:solidFill>
                <a:latin typeface="Georgia" panose="02040502050405020303" pitchFamily="18" charset="0"/>
              </a:rPr>
              <a:t> DAILY</a:t>
            </a:r>
            <a:r>
              <a:rPr sz="3200" b="1" dirty="0">
                <a:solidFill>
                  <a:srgbClr val="F5E6D3"/>
                </a:solidFill>
                <a:latin typeface="Georgia" panose="02040502050405020303" pitchFamily="18" charset="0"/>
              </a:rPr>
              <a:t>. </a:t>
            </a:r>
            <a:endParaRPr lang="en-US" sz="3200" b="1" dirty="0">
              <a:solidFill>
                <a:srgbClr val="F5E6D3"/>
              </a:solidFill>
              <a:latin typeface="Georgia" panose="02040502050405020303" pitchFamily="18" charset="0"/>
            </a:endParaRP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1</a:t>
            </a:r>
          </a:p>
        </p:txBody>
      </p:sp>
      <p:pic>
        <p:nvPicPr>
          <p:cNvPr id="7" name="Image 0" descr="preencoded.png">
            <a:extLst>
              <a:ext uri="{FF2B5EF4-FFF2-40B4-BE49-F238E27FC236}">
                <a16:creationId xmlns:a16="http://schemas.microsoft.com/office/drawing/2014/main" id="{6049DC21-82BC-244F-81D1-D3BFEFD8FC13}"/>
              </a:ext>
            </a:extLst>
          </p:cNvPr>
          <p:cNvPicPr>
            <a:picLocks noChangeAspect="1"/>
          </p:cNvPicPr>
          <p:nvPr/>
        </p:nvPicPr>
        <p:blipFill>
          <a:blip r:embed="rId3"/>
          <a:stretch>
            <a:fillRect/>
          </a:stretch>
        </p:blipFill>
        <p:spPr>
          <a:xfrm>
            <a:off x="7620000" y="0"/>
            <a:ext cx="4572000" cy="6858000"/>
          </a:xfrm>
          <a:prstGeom prst="rect">
            <a:avLst/>
          </a:prstGeom>
        </p:spPr>
      </p:pic>
      <p:sp>
        <p:nvSpPr>
          <p:cNvPr id="8" name="TextBox 7">
            <a:extLst>
              <a:ext uri="{FF2B5EF4-FFF2-40B4-BE49-F238E27FC236}">
                <a16:creationId xmlns:a16="http://schemas.microsoft.com/office/drawing/2014/main" id="{389353BC-0072-C0DF-731D-A8BF37931942}"/>
              </a:ext>
            </a:extLst>
          </p:cNvPr>
          <p:cNvSpPr txBox="1"/>
          <p:nvPr/>
        </p:nvSpPr>
        <p:spPr>
          <a:xfrm>
            <a:off x="731519" y="4190100"/>
            <a:ext cx="4572000" cy="1569660"/>
          </a:xfrm>
          <a:prstGeom prst="rect">
            <a:avLst/>
          </a:prstGeom>
          <a:noFill/>
        </p:spPr>
        <p:txBody>
          <a:bodyPr wrap="square">
            <a:spAutoFit/>
          </a:bodyPr>
          <a:lstStyle/>
          <a:p>
            <a:pPr algn="l"/>
            <a:r>
              <a:rPr lang="en-US" sz="3200" b="1" dirty="0">
                <a:solidFill>
                  <a:srgbClr val="F5E6D3"/>
                </a:solidFill>
                <a:latin typeface="Georgia" panose="02040502050405020303" pitchFamily="18" charset="0"/>
              </a:rPr>
              <a:t>~</a:t>
            </a:r>
            <a:r>
              <a:rPr lang="en-US" sz="3200" b="1" i="0" dirty="0">
                <a:solidFill>
                  <a:srgbClr val="F5E6D3"/>
                </a:solidFill>
                <a:effectLst/>
                <a:latin typeface="Georgia" panose="02040502050405020303" pitchFamily="18" charset="0"/>
              </a:rPr>
              <a:t>40,000 trips around the Earth's equator.</a:t>
            </a:r>
            <a:endParaRPr lang="en-US" sz="3200" b="1" dirty="0">
              <a:solidFill>
                <a:srgbClr val="F5E6D3"/>
              </a:solidFill>
              <a:latin typeface="Georgia" panose="020405020504050203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347C8C1-483E-C9B5-3DCE-B8AFCECEF35F}"/>
              </a:ext>
            </a:extLst>
          </p:cNvPr>
          <p:cNvSpPr/>
          <p:nvPr/>
        </p:nvSpPr>
        <p:spPr>
          <a:xfrm>
            <a:off x="480615" y="282476"/>
            <a:ext cx="11171635" cy="1188051"/>
          </a:xfrm>
          <a:prstGeom prst="rect">
            <a:avLst/>
          </a:prstGeom>
          <a:noFill/>
          <a:ln/>
        </p:spPr>
        <p:txBody>
          <a:bodyPr wrap="square" lIns="0" tIns="0" rIns="0" bIns="0" rtlCol="0" anchor="t"/>
          <a:lstStyle/>
          <a:p>
            <a:pPr>
              <a:lnSpc>
                <a:spcPts val="4583"/>
              </a:lnSpc>
            </a:pPr>
            <a:r>
              <a:rPr lang="en-US" sz="4000" b="1" dirty="0">
                <a:solidFill>
                  <a:srgbClr val="E8967A"/>
                </a:solidFill>
                <a:latin typeface="Georgia"/>
              </a:rPr>
              <a:t>Transportation emissions make up majority of share</a:t>
            </a:r>
            <a:endParaRPr lang="en-US" sz="4000" dirty="0">
              <a:solidFill>
                <a:srgbClr val="F3CABC"/>
              </a:solidFill>
            </a:endParaRPr>
          </a:p>
        </p:txBody>
      </p:sp>
      <p:pic>
        <p:nvPicPr>
          <p:cNvPr id="3074" name="Picture 2" descr="A pie chart showing 2023 GHG Emissions by Economic Sector. The chart shows the relative size of 2023…">
            <a:extLst>
              <a:ext uri="{FF2B5EF4-FFF2-40B4-BE49-F238E27FC236}">
                <a16:creationId xmlns:a16="http://schemas.microsoft.com/office/drawing/2014/main" id="{476F6481-DFB8-2E5B-D87A-12A80B326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446" r="13070"/>
          <a:stretch>
            <a:fillRect/>
          </a:stretch>
        </p:blipFill>
        <p:spPr bwMode="auto">
          <a:xfrm>
            <a:off x="5505318" y="1467151"/>
            <a:ext cx="6508266" cy="5186950"/>
          </a:xfrm>
          <a:prstGeom prst="roundRect">
            <a:avLst/>
          </a:prstGeom>
          <a:solidFill>
            <a:schemeClr val="bg1"/>
          </a:solidFill>
        </p:spPr>
      </p:pic>
      <p:sp>
        <p:nvSpPr>
          <p:cNvPr id="4" name="Text 1">
            <a:extLst>
              <a:ext uri="{FF2B5EF4-FFF2-40B4-BE49-F238E27FC236}">
                <a16:creationId xmlns:a16="http://schemas.microsoft.com/office/drawing/2014/main" id="{62302417-D8B8-942A-AA91-923C75212FA3}"/>
              </a:ext>
            </a:extLst>
          </p:cNvPr>
          <p:cNvSpPr/>
          <p:nvPr/>
        </p:nvSpPr>
        <p:spPr>
          <a:xfrm>
            <a:off x="7891348" y="6584462"/>
            <a:ext cx="1074234"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CARB</a:t>
            </a:r>
            <a:endParaRPr lang="en-US" sz="1167" dirty="0">
              <a:solidFill>
                <a:srgbClr val="E8967A"/>
              </a:solidFill>
            </a:endParaRPr>
          </a:p>
        </p:txBody>
      </p:sp>
      <p:sp>
        <p:nvSpPr>
          <p:cNvPr id="6" name="Text 1">
            <a:extLst>
              <a:ext uri="{FF2B5EF4-FFF2-40B4-BE49-F238E27FC236}">
                <a16:creationId xmlns:a16="http://schemas.microsoft.com/office/drawing/2014/main" id="{15DD2169-98EF-8E76-DBB9-B976A496A6A9}"/>
              </a:ext>
            </a:extLst>
          </p:cNvPr>
          <p:cNvSpPr/>
          <p:nvPr/>
        </p:nvSpPr>
        <p:spPr>
          <a:xfrm>
            <a:off x="178416" y="1766216"/>
            <a:ext cx="5429250" cy="4646083"/>
          </a:xfrm>
          <a:prstGeom prst="rect">
            <a:avLst/>
          </a:prstGeom>
          <a:noFill/>
          <a:ln/>
        </p:spPr>
        <p:txBody>
          <a:bodyPr wrap="none" lIns="0" tIns="0" rIns="0" bIns="0" rtlCol="0" anchor="t"/>
          <a:lstStyle/>
          <a:p>
            <a:pPr>
              <a:lnSpc>
                <a:spcPts val="2292"/>
              </a:lnSpc>
            </a:pPr>
            <a:endParaRPr lang="en-US" sz="1167" dirty="0"/>
          </a:p>
        </p:txBody>
      </p:sp>
      <p:sp>
        <p:nvSpPr>
          <p:cNvPr id="7" name="TextBox 6">
            <a:extLst>
              <a:ext uri="{FF2B5EF4-FFF2-40B4-BE49-F238E27FC236}">
                <a16:creationId xmlns:a16="http://schemas.microsoft.com/office/drawing/2014/main" id="{2C35FB19-5019-BC32-6CA7-FA1C17FC8CFA}"/>
              </a:ext>
            </a:extLst>
          </p:cNvPr>
          <p:cNvSpPr txBox="1"/>
          <p:nvPr/>
        </p:nvSpPr>
        <p:spPr>
          <a:xfrm>
            <a:off x="2815167" y="1852084"/>
            <a:ext cx="184731" cy="323165"/>
          </a:xfrm>
          <a:prstGeom prst="rect">
            <a:avLst/>
          </a:prstGeom>
          <a:noFill/>
        </p:spPr>
        <p:txBody>
          <a:bodyPr wrap="none" rtlCol="0">
            <a:spAutoFit/>
          </a:bodyPr>
          <a:lstStyle/>
          <a:p>
            <a:endParaRPr lang="en-US" sz="1500" dirty="0"/>
          </a:p>
        </p:txBody>
      </p:sp>
      <p:sp>
        <p:nvSpPr>
          <p:cNvPr id="10" name="TextBox 9">
            <a:extLst>
              <a:ext uri="{FF2B5EF4-FFF2-40B4-BE49-F238E27FC236}">
                <a16:creationId xmlns:a16="http://schemas.microsoft.com/office/drawing/2014/main" id="{A739EAB5-A4A3-7C7F-2B1E-43227E0FDF74}"/>
              </a:ext>
            </a:extLst>
          </p:cNvPr>
          <p:cNvSpPr txBox="1"/>
          <p:nvPr/>
        </p:nvSpPr>
        <p:spPr>
          <a:xfrm>
            <a:off x="-94800" y="2652564"/>
            <a:ext cx="5429250" cy="1015663"/>
          </a:xfrm>
          <a:prstGeom prst="rect">
            <a:avLst/>
          </a:prstGeom>
          <a:noFill/>
        </p:spPr>
        <p:txBody>
          <a:bodyPr wrap="square" rtlCol="0">
            <a:spAutoFit/>
          </a:bodyPr>
          <a:lstStyle/>
          <a:p>
            <a:pPr algn="ctr"/>
            <a:r>
              <a:rPr lang="en-US" sz="2000" b="1" dirty="0">
                <a:solidFill>
                  <a:srgbClr val="F5E6D3"/>
                </a:solidFill>
                <a:latin typeface="Georgia"/>
              </a:rPr>
              <a:t>Statewide greenhouse gas emissions from transportation sector (CARB 2023)</a:t>
            </a:r>
            <a:endParaRPr lang="en-US" sz="2000" dirty="0">
              <a:solidFill>
                <a:srgbClr val="F5E6D3"/>
              </a:solidFill>
            </a:endParaRPr>
          </a:p>
        </p:txBody>
      </p:sp>
      <p:sp>
        <p:nvSpPr>
          <p:cNvPr id="11" name="TextBox 10">
            <a:extLst>
              <a:ext uri="{FF2B5EF4-FFF2-40B4-BE49-F238E27FC236}">
                <a16:creationId xmlns:a16="http://schemas.microsoft.com/office/drawing/2014/main" id="{9BF07B95-AF76-1A5F-24FF-6D0ED7936348}"/>
              </a:ext>
            </a:extLst>
          </p:cNvPr>
          <p:cNvSpPr txBox="1"/>
          <p:nvPr/>
        </p:nvSpPr>
        <p:spPr>
          <a:xfrm>
            <a:off x="-94800" y="1774813"/>
            <a:ext cx="5429250" cy="923330"/>
          </a:xfrm>
          <a:prstGeom prst="rect">
            <a:avLst/>
          </a:prstGeom>
          <a:noFill/>
        </p:spPr>
        <p:txBody>
          <a:bodyPr wrap="square" rtlCol="0">
            <a:spAutoFit/>
          </a:bodyPr>
          <a:lstStyle/>
          <a:p>
            <a:pPr algn="ctr"/>
            <a:r>
              <a:rPr lang="en-US" sz="5400" b="1" dirty="0">
                <a:solidFill>
                  <a:srgbClr val="E8967A"/>
                </a:solidFill>
                <a:latin typeface="Georgia"/>
              </a:rPr>
              <a:t>38%</a:t>
            </a:r>
            <a:endParaRPr lang="en-US" sz="5000" dirty="0">
              <a:solidFill>
                <a:srgbClr val="E8967A"/>
              </a:solidFill>
            </a:endParaRPr>
          </a:p>
        </p:txBody>
      </p:sp>
      <p:sp>
        <p:nvSpPr>
          <p:cNvPr id="12" name="TextBox 11">
            <a:extLst>
              <a:ext uri="{FF2B5EF4-FFF2-40B4-BE49-F238E27FC236}">
                <a16:creationId xmlns:a16="http://schemas.microsoft.com/office/drawing/2014/main" id="{E3EE3856-EDA6-A685-126A-D1216E891C2D}"/>
              </a:ext>
            </a:extLst>
          </p:cNvPr>
          <p:cNvSpPr txBox="1"/>
          <p:nvPr/>
        </p:nvSpPr>
        <p:spPr>
          <a:xfrm>
            <a:off x="-136649" y="3972328"/>
            <a:ext cx="5429250" cy="861774"/>
          </a:xfrm>
          <a:prstGeom prst="rect">
            <a:avLst/>
          </a:prstGeom>
          <a:noFill/>
        </p:spPr>
        <p:txBody>
          <a:bodyPr wrap="square" rtlCol="0">
            <a:spAutoFit/>
          </a:bodyPr>
          <a:lstStyle/>
          <a:p>
            <a:pPr algn="ctr"/>
            <a:r>
              <a:rPr lang="en-US" sz="5000" b="1" dirty="0">
                <a:solidFill>
                  <a:srgbClr val="E8967A"/>
                </a:solidFill>
                <a:latin typeface="Georgia" panose="02040502050405020303" pitchFamily="18" charset="0"/>
              </a:rPr>
              <a:t>~137 MMT</a:t>
            </a:r>
            <a:endParaRPr lang="en-US" sz="5000" dirty="0">
              <a:solidFill>
                <a:srgbClr val="E8967A"/>
              </a:solidFill>
              <a:latin typeface="Georgia" panose="02040502050405020303" pitchFamily="18" charset="0"/>
            </a:endParaRPr>
          </a:p>
        </p:txBody>
      </p:sp>
      <p:sp>
        <p:nvSpPr>
          <p:cNvPr id="13" name="TextBox 12">
            <a:extLst>
              <a:ext uri="{FF2B5EF4-FFF2-40B4-BE49-F238E27FC236}">
                <a16:creationId xmlns:a16="http://schemas.microsoft.com/office/drawing/2014/main" id="{25497B6A-1E9B-7664-CD69-B1105233F9CF}"/>
              </a:ext>
            </a:extLst>
          </p:cNvPr>
          <p:cNvSpPr txBox="1"/>
          <p:nvPr/>
        </p:nvSpPr>
        <p:spPr>
          <a:xfrm>
            <a:off x="89482" y="4818713"/>
            <a:ext cx="5429250" cy="1015663"/>
          </a:xfrm>
          <a:prstGeom prst="rect">
            <a:avLst/>
          </a:prstGeom>
          <a:noFill/>
        </p:spPr>
        <p:txBody>
          <a:bodyPr wrap="square" rtlCol="0">
            <a:spAutoFit/>
          </a:bodyPr>
          <a:lstStyle/>
          <a:p>
            <a:pPr algn="ctr"/>
            <a:r>
              <a:rPr lang="en-US" sz="2000" b="1" dirty="0">
                <a:solidFill>
                  <a:srgbClr val="F5E6D3"/>
                </a:solidFill>
                <a:latin typeface="Quattrocento" panose="02020502030000000404" pitchFamily="18" charset="0"/>
              </a:rPr>
              <a:t>CO</a:t>
            </a:r>
            <a:r>
              <a:rPr lang="en-US" sz="2000" b="1" baseline="-25000" dirty="0">
                <a:solidFill>
                  <a:srgbClr val="F5E6D3"/>
                </a:solidFill>
                <a:latin typeface="Quattrocento" panose="02020502030000000404" pitchFamily="18" charset="0"/>
              </a:rPr>
              <a:t>2</a:t>
            </a:r>
            <a:r>
              <a:rPr lang="en-US" sz="2000" b="1" dirty="0">
                <a:solidFill>
                  <a:srgbClr val="F5E6D3"/>
                </a:solidFill>
                <a:latin typeface="Quattrocento" panose="02020502030000000404" pitchFamily="18" charset="0"/>
              </a:rPr>
              <a:t>e emissions from transportation, more than industry, electricity, and buildings </a:t>
            </a:r>
            <a:r>
              <a:rPr lang="en-US" sz="2000" b="1" i="1" u="sng" dirty="0">
                <a:solidFill>
                  <a:srgbClr val="F5E6D3"/>
                </a:solidFill>
                <a:latin typeface="Quattrocento" panose="02020502030000000404" pitchFamily="18" charset="0"/>
              </a:rPr>
              <a:t>combined</a:t>
            </a:r>
            <a:endParaRPr lang="en-US" sz="2000" i="1" u="sng" dirty="0">
              <a:solidFill>
                <a:srgbClr val="F5E6D3"/>
              </a:solidFill>
            </a:endParaRPr>
          </a:p>
        </p:txBody>
      </p:sp>
    </p:spTree>
    <p:extLst>
      <p:ext uri="{BB962C8B-B14F-4D97-AF65-F5344CB8AC3E}">
        <p14:creationId xmlns:p14="http://schemas.microsoft.com/office/powerpoint/2010/main" val="257170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strips(downLef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lang="en-US" sz="3400" b="1" dirty="0">
                <a:solidFill>
                  <a:srgbClr val="E8967A"/>
                </a:solidFill>
                <a:latin typeface="Georgia"/>
              </a:rPr>
              <a:t>MCS Capstone </a:t>
            </a:r>
            <a:r>
              <a:rPr sz="3400" b="1" dirty="0">
                <a:solidFill>
                  <a:srgbClr val="E8967A"/>
                </a:solidFill>
                <a:latin typeface="Georgia"/>
              </a:rPr>
              <a:t>Project</a:t>
            </a:r>
            <a:r>
              <a:rPr lang="en-US" sz="3400" b="1" dirty="0">
                <a:solidFill>
                  <a:srgbClr val="E8967A"/>
                </a:solidFill>
                <a:latin typeface="Georgia"/>
              </a:rPr>
              <a:t> Scope</a:t>
            </a:r>
            <a:endParaRPr sz="3400" b="1" dirty="0">
              <a:solidFill>
                <a:srgbClr val="E8967A"/>
              </a:solidFill>
              <a:latin typeface="Georgia"/>
            </a:endParaRPr>
          </a:p>
        </p:txBody>
      </p:sp>
      <p:sp>
        <p:nvSpPr>
          <p:cNvPr id="3" name="TextBox 2"/>
          <p:cNvSpPr txBox="1"/>
          <p:nvPr/>
        </p:nvSpPr>
        <p:spPr>
          <a:xfrm>
            <a:off x="731520" y="1143000"/>
            <a:ext cx="10728655" cy="707886"/>
          </a:xfrm>
          <a:prstGeom prst="rect">
            <a:avLst/>
          </a:prstGeom>
          <a:noFill/>
        </p:spPr>
        <p:txBody>
          <a:bodyPr wrap="square">
            <a:spAutoFit/>
          </a:bodyPr>
          <a:lstStyle/>
          <a:p>
            <a:pPr algn="l"/>
            <a:r>
              <a:rPr sz="2000" b="1" dirty="0">
                <a:solidFill>
                  <a:srgbClr val="F5E6D3"/>
                </a:solidFill>
                <a:latin typeface="Calibri"/>
              </a:rPr>
              <a:t>This research was conducted in partnership with NRDC to find legislative pathways to make California's transportation spending match its climate goals.</a:t>
            </a:r>
          </a:p>
        </p:txBody>
      </p:sp>
      <p:sp>
        <p:nvSpPr>
          <p:cNvPr id="4" name="Rounded Rectangle 3"/>
          <p:cNvSpPr/>
          <p:nvPr/>
        </p:nvSpPr>
        <p:spPr>
          <a:xfrm>
            <a:off x="746607" y="2018371"/>
            <a:ext cx="3383280" cy="4616605"/>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5207" y="2125803"/>
            <a:ext cx="2926080" cy="523220"/>
          </a:xfrm>
          <a:prstGeom prst="rect">
            <a:avLst/>
          </a:prstGeom>
          <a:noFill/>
        </p:spPr>
        <p:txBody>
          <a:bodyPr wrap="square">
            <a:spAutoFit/>
          </a:bodyPr>
          <a:lstStyle/>
          <a:p>
            <a:pPr algn="l"/>
            <a:r>
              <a:rPr sz="2800" b="1" dirty="0">
                <a:solidFill>
                  <a:srgbClr val="4A9B8E"/>
                </a:solidFill>
                <a:latin typeface="Calibri"/>
              </a:rPr>
              <a:t>The </a:t>
            </a:r>
            <a:r>
              <a:rPr lang="en-US" sz="2800" b="1" dirty="0">
                <a:solidFill>
                  <a:srgbClr val="4A9B8E"/>
                </a:solidFill>
                <a:latin typeface="Calibri"/>
              </a:rPr>
              <a:t>Sponsor</a:t>
            </a:r>
            <a:endParaRPr sz="2800" b="1" dirty="0">
              <a:solidFill>
                <a:srgbClr val="4A9B8E"/>
              </a:solidFill>
              <a:latin typeface="Calibri"/>
            </a:endParaRPr>
          </a:p>
        </p:txBody>
      </p:sp>
      <p:sp>
        <p:nvSpPr>
          <p:cNvPr id="6" name="TextBox 5"/>
          <p:cNvSpPr txBox="1"/>
          <p:nvPr/>
        </p:nvSpPr>
        <p:spPr>
          <a:xfrm>
            <a:off x="975207" y="2649023"/>
            <a:ext cx="2926080" cy="2687915"/>
          </a:xfrm>
          <a:prstGeom prst="rect">
            <a:avLst/>
          </a:prstGeom>
          <a:noFill/>
        </p:spPr>
        <p:txBody>
          <a:bodyPr wrap="square">
            <a:spAutoFit/>
          </a:bodyPr>
          <a:lstStyle/>
          <a:p>
            <a:pPr>
              <a:spcAft>
                <a:spcPts val="400"/>
              </a:spcAft>
            </a:pPr>
            <a:r>
              <a:rPr dirty="0">
                <a:solidFill>
                  <a:srgbClr val="F5E6D3"/>
                </a:solidFill>
                <a:latin typeface="Calibri"/>
              </a:rPr>
              <a:t>NRDC (Natural Resources Defense Council) is one of nation's leading environmental</a:t>
            </a:r>
            <a:r>
              <a:rPr lang="en-US" dirty="0">
                <a:solidFill>
                  <a:srgbClr val="F5E6D3"/>
                </a:solidFill>
                <a:latin typeface="Calibri"/>
              </a:rPr>
              <a:t> </a:t>
            </a:r>
            <a:r>
              <a:rPr dirty="0">
                <a:solidFill>
                  <a:srgbClr val="F5E6D3"/>
                </a:solidFill>
                <a:latin typeface="Calibri"/>
              </a:rPr>
              <a:t>policy</a:t>
            </a:r>
            <a:r>
              <a:rPr lang="en-US" dirty="0">
                <a:solidFill>
                  <a:srgbClr val="F5E6D3"/>
                </a:solidFill>
                <a:latin typeface="Calibri"/>
              </a:rPr>
              <a:t> advocacy</a:t>
            </a:r>
            <a:r>
              <a:rPr dirty="0">
                <a:solidFill>
                  <a:srgbClr val="F5E6D3"/>
                </a:solidFill>
                <a:latin typeface="Calibri"/>
              </a:rPr>
              <a:t> organizations.</a:t>
            </a:r>
          </a:p>
          <a:p>
            <a:pPr>
              <a:spcAft>
                <a:spcPts val="400"/>
              </a:spcAft>
            </a:pPr>
            <a:endParaRPr lang="en-US" dirty="0">
              <a:solidFill>
                <a:srgbClr val="F5E6D3"/>
              </a:solidFill>
              <a:latin typeface="Calibri"/>
            </a:endParaRPr>
          </a:p>
          <a:p>
            <a:pPr>
              <a:spcAft>
                <a:spcPts val="400"/>
              </a:spcAft>
            </a:pPr>
            <a:r>
              <a:rPr dirty="0">
                <a:solidFill>
                  <a:srgbClr val="F5E6D3"/>
                </a:solidFill>
                <a:latin typeface="Calibri"/>
              </a:rPr>
              <a:t>Zak Accuardi, </a:t>
            </a:r>
            <a:r>
              <a:rPr lang="en-US" dirty="0">
                <a:solidFill>
                  <a:srgbClr val="F5E6D3"/>
                </a:solidFill>
                <a:latin typeface="Calibri"/>
              </a:rPr>
              <a:t>Director of Director, Mobility Choices, Climate &amp; Energy</a:t>
            </a:r>
            <a:r>
              <a:rPr dirty="0">
                <a:solidFill>
                  <a:srgbClr val="F5E6D3"/>
                </a:solidFill>
                <a:latin typeface="Calibri"/>
              </a:rPr>
              <a:t>.</a:t>
            </a:r>
          </a:p>
        </p:txBody>
      </p:sp>
      <p:sp>
        <p:nvSpPr>
          <p:cNvPr id="7" name="Rounded Rectangle 6"/>
          <p:cNvSpPr/>
          <p:nvPr/>
        </p:nvSpPr>
        <p:spPr>
          <a:xfrm>
            <a:off x="4404207" y="2018371"/>
            <a:ext cx="3383280" cy="4616605"/>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32807" y="2125803"/>
            <a:ext cx="2926080" cy="523220"/>
          </a:xfrm>
          <a:prstGeom prst="rect">
            <a:avLst/>
          </a:prstGeom>
          <a:noFill/>
        </p:spPr>
        <p:txBody>
          <a:bodyPr wrap="square">
            <a:spAutoFit/>
          </a:bodyPr>
          <a:lstStyle/>
          <a:p>
            <a:pPr algn="l"/>
            <a:r>
              <a:rPr sz="2800" b="1" dirty="0">
                <a:solidFill>
                  <a:srgbClr val="4A9B8E"/>
                </a:solidFill>
                <a:latin typeface="Calibri"/>
              </a:rPr>
              <a:t>The Question</a:t>
            </a:r>
          </a:p>
        </p:txBody>
      </p:sp>
      <p:sp>
        <p:nvSpPr>
          <p:cNvPr id="9" name="TextBox 8"/>
          <p:cNvSpPr txBox="1"/>
          <p:nvPr/>
        </p:nvSpPr>
        <p:spPr>
          <a:xfrm>
            <a:off x="4632807" y="2649023"/>
            <a:ext cx="3048152" cy="2410916"/>
          </a:xfrm>
          <a:prstGeom prst="rect">
            <a:avLst/>
          </a:prstGeom>
          <a:noFill/>
        </p:spPr>
        <p:txBody>
          <a:bodyPr wrap="square">
            <a:spAutoFit/>
          </a:bodyPr>
          <a:lstStyle/>
          <a:p>
            <a:pPr>
              <a:spcAft>
                <a:spcPts val="400"/>
              </a:spcAft>
            </a:pPr>
            <a:r>
              <a:rPr dirty="0">
                <a:solidFill>
                  <a:srgbClr val="F5E6D3"/>
                </a:solidFill>
                <a:latin typeface="Calibri"/>
              </a:rPr>
              <a:t>California SB 375 requires regions to plan for lower </a:t>
            </a:r>
            <a:r>
              <a:rPr lang="en-US" dirty="0">
                <a:solidFill>
                  <a:srgbClr val="F5E6D3"/>
                </a:solidFill>
                <a:latin typeface="Calibri"/>
              </a:rPr>
              <a:t>GHG </a:t>
            </a:r>
            <a:r>
              <a:rPr dirty="0">
                <a:solidFill>
                  <a:srgbClr val="F5E6D3"/>
                </a:solidFill>
                <a:latin typeface="Calibri"/>
              </a:rPr>
              <a:t>emissions.</a:t>
            </a:r>
          </a:p>
          <a:p>
            <a:pPr>
              <a:spcAft>
                <a:spcPts val="400"/>
              </a:spcAft>
            </a:pPr>
            <a:endParaRPr dirty="0">
              <a:solidFill>
                <a:srgbClr val="F5E6D3"/>
              </a:solidFill>
              <a:latin typeface="Calibri"/>
            </a:endParaRPr>
          </a:p>
          <a:p>
            <a:pPr>
              <a:spcAft>
                <a:spcPts val="400"/>
              </a:spcAft>
            </a:pPr>
            <a:r>
              <a:rPr dirty="0">
                <a:solidFill>
                  <a:srgbClr val="F5E6D3"/>
                </a:solidFill>
                <a:latin typeface="Calibri"/>
              </a:rPr>
              <a:t>But planning and </a:t>
            </a:r>
            <a:r>
              <a:rPr lang="en-US" dirty="0">
                <a:solidFill>
                  <a:srgbClr val="F5E6D3"/>
                </a:solidFill>
                <a:latin typeface="Calibri"/>
              </a:rPr>
              <a:t>implementation</a:t>
            </a:r>
            <a:r>
              <a:rPr dirty="0">
                <a:solidFill>
                  <a:srgbClr val="F5E6D3"/>
                </a:solidFill>
                <a:latin typeface="Calibri"/>
              </a:rPr>
              <a:t> are two different things. Why isn't the</a:t>
            </a:r>
            <a:r>
              <a:rPr lang="en-US" dirty="0">
                <a:solidFill>
                  <a:srgbClr val="F5E6D3"/>
                </a:solidFill>
                <a:latin typeface="Calibri"/>
              </a:rPr>
              <a:t>re better implementation?</a:t>
            </a:r>
            <a:endParaRPr dirty="0">
              <a:solidFill>
                <a:srgbClr val="F5E6D3"/>
              </a:solidFill>
              <a:latin typeface="Calibri"/>
            </a:endParaRPr>
          </a:p>
        </p:txBody>
      </p:sp>
      <p:sp>
        <p:nvSpPr>
          <p:cNvPr id="10" name="Rounded Rectangle 9"/>
          <p:cNvSpPr/>
          <p:nvPr/>
        </p:nvSpPr>
        <p:spPr>
          <a:xfrm>
            <a:off x="8061807" y="2018371"/>
            <a:ext cx="3383280" cy="4616605"/>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90407" y="2125803"/>
            <a:ext cx="2926080" cy="523220"/>
          </a:xfrm>
          <a:prstGeom prst="rect">
            <a:avLst/>
          </a:prstGeom>
          <a:noFill/>
        </p:spPr>
        <p:txBody>
          <a:bodyPr wrap="square">
            <a:spAutoFit/>
          </a:bodyPr>
          <a:lstStyle/>
          <a:p>
            <a:pPr algn="l"/>
            <a:r>
              <a:rPr sz="2800" b="1" dirty="0">
                <a:solidFill>
                  <a:srgbClr val="4A9B8E"/>
                </a:solidFill>
                <a:latin typeface="Calibri"/>
              </a:rPr>
              <a:t>The Approach</a:t>
            </a:r>
          </a:p>
        </p:txBody>
      </p:sp>
      <p:sp>
        <p:nvSpPr>
          <p:cNvPr id="12" name="TextBox 11"/>
          <p:cNvSpPr txBox="1"/>
          <p:nvPr/>
        </p:nvSpPr>
        <p:spPr>
          <a:xfrm>
            <a:off x="8290407" y="2649023"/>
            <a:ext cx="2926080" cy="1477328"/>
          </a:xfrm>
          <a:prstGeom prst="rect">
            <a:avLst/>
          </a:prstGeom>
          <a:noFill/>
        </p:spPr>
        <p:txBody>
          <a:bodyPr wrap="square">
            <a:spAutoFit/>
          </a:bodyPr>
          <a:lstStyle/>
          <a:p>
            <a:pPr>
              <a:spcAft>
                <a:spcPts val="400"/>
              </a:spcAft>
            </a:pPr>
            <a:r>
              <a:rPr dirty="0">
                <a:solidFill>
                  <a:srgbClr val="F5E6D3"/>
                </a:solidFill>
                <a:latin typeface="Calibri"/>
              </a:rPr>
              <a:t>Policy analysis + stakeholder interviews + spatial data mapping across 18 California Metropolitan Planning Organization (MPO) regions.</a:t>
            </a:r>
          </a:p>
        </p:txBody>
      </p:sp>
      <p:sp>
        <p:nvSpPr>
          <p:cNvPr id="13" name="TextBox 12"/>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2</a:t>
            </a:r>
          </a:p>
        </p:txBody>
      </p:sp>
      <p:pic>
        <p:nvPicPr>
          <p:cNvPr id="2052" name="Picture 4" descr="Zak Accuardi, Director, Mobility Choices, Climate &amp; Energy">
            <a:extLst>
              <a:ext uri="{FF2B5EF4-FFF2-40B4-BE49-F238E27FC236}">
                <a16:creationId xmlns:a16="http://schemas.microsoft.com/office/drawing/2014/main" id="{526527FA-B2F1-12A1-D068-F22FEF1765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0" r="12912"/>
          <a:stretch>
            <a:fillRect/>
          </a:stretch>
        </p:blipFill>
        <p:spPr bwMode="auto">
          <a:xfrm>
            <a:off x="1561005" y="5336938"/>
            <a:ext cx="1636388" cy="1150890"/>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sz="3400" b="1" dirty="0">
                <a:solidFill>
                  <a:srgbClr val="E8967A"/>
                </a:solidFill>
                <a:latin typeface="Georgia"/>
              </a:rPr>
              <a:t>What Is VMT</a:t>
            </a:r>
            <a:r>
              <a:rPr lang="en-US" sz="3400" b="1" dirty="0">
                <a:solidFill>
                  <a:srgbClr val="E8967A"/>
                </a:solidFill>
                <a:latin typeface="Georgia"/>
              </a:rPr>
              <a:t>, a</a:t>
            </a:r>
            <a:r>
              <a:rPr sz="3400" b="1" dirty="0">
                <a:solidFill>
                  <a:srgbClr val="E8967A"/>
                </a:solidFill>
                <a:latin typeface="Georgia"/>
              </a:rPr>
              <a:t>nd Why Does It Keep Going Up?</a:t>
            </a:r>
          </a:p>
        </p:txBody>
      </p:sp>
      <p:sp>
        <p:nvSpPr>
          <p:cNvPr id="3" name="TextBox 2"/>
          <p:cNvSpPr txBox="1"/>
          <p:nvPr/>
        </p:nvSpPr>
        <p:spPr>
          <a:xfrm>
            <a:off x="731520" y="1027033"/>
            <a:ext cx="8435339" cy="707886"/>
          </a:xfrm>
          <a:prstGeom prst="rect">
            <a:avLst/>
          </a:prstGeom>
          <a:noFill/>
        </p:spPr>
        <p:txBody>
          <a:bodyPr wrap="square">
            <a:spAutoFit/>
          </a:bodyPr>
          <a:lstStyle/>
          <a:p>
            <a:pPr algn="l"/>
            <a:r>
              <a:rPr sz="2000" b="1" dirty="0">
                <a:solidFill>
                  <a:srgbClr val="F5E6D3"/>
                </a:solidFill>
                <a:latin typeface="Calibri"/>
              </a:rPr>
              <a:t>Vehicle Miles Traveled </a:t>
            </a:r>
            <a:r>
              <a:rPr lang="en-US" sz="2000" b="1" dirty="0">
                <a:solidFill>
                  <a:srgbClr val="F5E6D3"/>
                </a:solidFill>
                <a:latin typeface="Calibri"/>
              </a:rPr>
              <a:t>(VMT): </a:t>
            </a:r>
            <a:r>
              <a:rPr sz="2000" b="1" dirty="0">
                <a:solidFill>
                  <a:srgbClr val="F5E6D3"/>
                </a:solidFill>
                <a:latin typeface="Calibri"/>
              </a:rPr>
              <a:t>the total miles driven by all cars in a region. </a:t>
            </a:r>
            <a:endParaRPr lang="en-US" sz="2000" b="1" dirty="0">
              <a:solidFill>
                <a:srgbClr val="F5E6D3"/>
              </a:solidFill>
              <a:latin typeface="Calibri"/>
            </a:endParaRPr>
          </a:p>
          <a:p>
            <a:pPr algn="l"/>
            <a:r>
              <a:rPr lang="en-US" sz="2000" b="1" dirty="0">
                <a:solidFill>
                  <a:srgbClr val="F5E6D3"/>
                </a:solidFill>
                <a:latin typeface="Calibri"/>
              </a:rPr>
              <a:t>A measurement </a:t>
            </a:r>
            <a:r>
              <a:rPr sz="2000" b="1" dirty="0">
                <a:solidFill>
                  <a:srgbClr val="F5E6D3"/>
                </a:solidFill>
                <a:latin typeface="Calibri"/>
              </a:rPr>
              <a:t>for California's climate </a:t>
            </a:r>
            <a:r>
              <a:rPr lang="en-US" sz="2000" b="1" dirty="0">
                <a:solidFill>
                  <a:srgbClr val="F5E6D3"/>
                </a:solidFill>
                <a:latin typeface="Calibri"/>
              </a:rPr>
              <a:t>transportation progress.</a:t>
            </a:r>
            <a:endParaRPr sz="2000" b="1" dirty="0">
              <a:solidFill>
                <a:srgbClr val="F5E6D3"/>
              </a:solidFill>
              <a:latin typeface="Calibri"/>
            </a:endParaRP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3</a:t>
            </a:r>
          </a:p>
        </p:txBody>
      </p:sp>
      <p:graphicFrame>
        <p:nvGraphicFramePr>
          <p:cNvPr id="12" name="TextBox 3">
            <a:extLst>
              <a:ext uri="{FF2B5EF4-FFF2-40B4-BE49-F238E27FC236}">
                <a16:creationId xmlns:a16="http://schemas.microsoft.com/office/drawing/2014/main" id="{DFBCAEDA-C492-04C7-3CC6-700A7E8B5BF6}"/>
              </a:ext>
            </a:extLst>
          </p:cNvPr>
          <p:cNvGraphicFramePr/>
          <p:nvPr>
            <p:extLst>
              <p:ext uri="{D42A27DB-BD31-4B8C-83A1-F6EECF244321}">
                <p14:modId xmlns:p14="http://schemas.microsoft.com/office/powerpoint/2010/main" val="336021707"/>
              </p:ext>
            </p:extLst>
          </p:nvPr>
        </p:nvGraphicFramePr>
        <p:xfrm>
          <a:off x="285751" y="2011331"/>
          <a:ext cx="4069080" cy="44351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25D48477-6639-669B-4260-3FE8E4942D04}"/>
              </a:ext>
            </a:extLst>
          </p:cNvPr>
          <p:cNvPicPr>
            <a:picLocks noChangeAspect="1"/>
          </p:cNvPicPr>
          <p:nvPr/>
        </p:nvPicPr>
        <p:blipFill>
          <a:blip r:embed="rId8"/>
          <a:srcRect l="36020"/>
          <a:stretch>
            <a:fillRect/>
          </a:stretch>
        </p:blipFill>
        <p:spPr>
          <a:xfrm>
            <a:off x="5360670" y="2011330"/>
            <a:ext cx="6476741" cy="3726529"/>
          </a:xfrm>
          <a:prstGeom prst="rect">
            <a:avLst/>
          </a:prstGeom>
        </p:spPr>
      </p:pic>
      <p:pic>
        <p:nvPicPr>
          <p:cNvPr id="13" name="Picture 12">
            <a:extLst>
              <a:ext uri="{FF2B5EF4-FFF2-40B4-BE49-F238E27FC236}">
                <a16:creationId xmlns:a16="http://schemas.microsoft.com/office/drawing/2014/main" id="{9FC1844D-6555-89E2-9ABE-BDFA11A5B4C5}"/>
              </a:ext>
            </a:extLst>
          </p:cNvPr>
          <p:cNvPicPr>
            <a:picLocks noChangeAspect="1"/>
          </p:cNvPicPr>
          <p:nvPr/>
        </p:nvPicPr>
        <p:blipFill>
          <a:blip r:embed="rId9"/>
          <a:stretch>
            <a:fillRect/>
          </a:stretch>
        </p:blipFill>
        <p:spPr>
          <a:xfrm>
            <a:off x="5852160" y="1864008"/>
            <a:ext cx="5322643" cy="45825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999563" cy="615553"/>
          </a:xfrm>
          <a:prstGeom prst="rect">
            <a:avLst/>
          </a:prstGeom>
          <a:noFill/>
        </p:spPr>
        <p:txBody>
          <a:bodyPr wrap="square">
            <a:spAutoFit/>
          </a:bodyPr>
          <a:lstStyle/>
          <a:p>
            <a:pPr algn="l"/>
            <a:r>
              <a:rPr lang="en-US" sz="3400" b="1" dirty="0">
                <a:solidFill>
                  <a:srgbClr val="E8967A"/>
                </a:solidFill>
                <a:latin typeface="Georgia"/>
              </a:rPr>
              <a:t>Policy Context: SB 375 (2008)</a:t>
            </a:r>
            <a:endParaRPr sz="3400" b="1" dirty="0">
              <a:solidFill>
                <a:srgbClr val="E8967A"/>
              </a:solidFill>
              <a:latin typeface="Georgia"/>
            </a:endParaRPr>
          </a:p>
        </p:txBody>
      </p:sp>
      <p:sp>
        <p:nvSpPr>
          <p:cNvPr id="3" name="TextBox 2"/>
          <p:cNvSpPr txBox="1"/>
          <p:nvPr/>
        </p:nvSpPr>
        <p:spPr>
          <a:xfrm>
            <a:off x="731520" y="1143000"/>
            <a:ext cx="10728655" cy="707886"/>
          </a:xfrm>
          <a:prstGeom prst="rect">
            <a:avLst/>
          </a:prstGeom>
          <a:noFill/>
        </p:spPr>
        <p:txBody>
          <a:bodyPr wrap="square">
            <a:spAutoFit/>
          </a:bodyPr>
          <a:lstStyle/>
          <a:p>
            <a:pPr algn="l"/>
            <a:r>
              <a:rPr sz="2000" b="1" dirty="0">
                <a:solidFill>
                  <a:srgbClr val="F5E6D3"/>
                </a:solidFill>
                <a:latin typeface="Georgia" panose="02040502050405020303" pitchFamily="18" charset="0"/>
              </a:rPr>
              <a:t>Passed in 2008, SB 375 requires every California region to create a plan showing how it will reduce transportation emissions. The keyword is 'plan.'</a:t>
            </a: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4</a:t>
            </a:r>
          </a:p>
        </p:txBody>
      </p:sp>
      <p:pic>
        <p:nvPicPr>
          <p:cNvPr id="7" name="Picture 6">
            <a:extLst>
              <a:ext uri="{FF2B5EF4-FFF2-40B4-BE49-F238E27FC236}">
                <a16:creationId xmlns:a16="http://schemas.microsoft.com/office/drawing/2014/main" id="{C11A175F-951D-AB56-65F5-85B4DD652894}"/>
              </a:ext>
            </a:extLst>
          </p:cNvPr>
          <p:cNvPicPr>
            <a:picLocks noChangeAspect="1"/>
          </p:cNvPicPr>
          <p:nvPr/>
        </p:nvPicPr>
        <p:blipFill>
          <a:blip r:embed="rId3"/>
          <a:stretch>
            <a:fillRect/>
          </a:stretch>
        </p:blipFill>
        <p:spPr>
          <a:xfrm>
            <a:off x="7768988" y="2314002"/>
            <a:ext cx="3962095" cy="3669401"/>
          </a:xfrm>
          <a:prstGeom prst="roundRect">
            <a:avLst/>
          </a:prstGeom>
        </p:spPr>
      </p:pic>
      <p:graphicFrame>
        <p:nvGraphicFramePr>
          <p:cNvPr id="9" name="TextBox 3">
            <a:extLst>
              <a:ext uri="{FF2B5EF4-FFF2-40B4-BE49-F238E27FC236}">
                <a16:creationId xmlns:a16="http://schemas.microsoft.com/office/drawing/2014/main" id="{9DB2EAEB-0E6C-8B4A-1C84-2BA6436DF927}"/>
              </a:ext>
            </a:extLst>
          </p:cNvPr>
          <p:cNvGraphicFramePr/>
          <p:nvPr>
            <p:extLst>
              <p:ext uri="{D42A27DB-BD31-4B8C-83A1-F6EECF244321}">
                <p14:modId xmlns:p14="http://schemas.microsoft.com/office/powerpoint/2010/main" val="170092833"/>
              </p:ext>
            </p:extLst>
          </p:nvPr>
        </p:nvGraphicFramePr>
        <p:xfrm>
          <a:off x="731520" y="2076292"/>
          <a:ext cx="6858000" cy="45073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Graphic 18" descr="Bullseye with solid fill">
            <a:extLst>
              <a:ext uri="{FF2B5EF4-FFF2-40B4-BE49-F238E27FC236}">
                <a16:creationId xmlns:a16="http://schemas.microsoft.com/office/drawing/2014/main" id="{379B8094-4D86-827A-0421-6B41E563FC5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35505" y="3990439"/>
            <a:ext cx="914400" cy="914400"/>
          </a:xfrm>
          <a:prstGeom prst="rect">
            <a:avLst/>
          </a:prstGeom>
        </p:spPr>
      </p:pic>
      <p:pic>
        <p:nvPicPr>
          <p:cNvPr id="21" name="Graphic 20" descr="Hockey Stick Curve Graph outline">
            <a:extLst>
              <a:ext uri="{FF2B5EF4-FFF2-40B4-BE49-F238E27FC236}">
                <a16:creationId xmlns:a16="http://schemas.microsoft.com/office/drawing/2014/main" id="{9002237C-70BA-3F0E-B7D7-9CD550269D2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467901" y="5532120"/>
            <a:ext cx="91440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sz="3400" b="1" dirty="0">
                <a:solidFill>
                  <a:srgbClr val="E8967A"/>
                </a:solidFill>
                <a:latin typeface="Georgia"/>
              </a:rPr>
              <a:t>The Problem: Good Plans, No </a:t>
            </a:r>
            <a:r>
              <a:rPr lang="en-US" sz="3400" b="1" dirty="0">
                <a:solidFill>
                  <a:srgbClr val="E8967A"/>
                </a:solidFill>
                <a:latin typeface="Georgia"/>
              </a:rPr>
              <a:t>Enforcement</a:t>
            </a:r>
            <a:endParaRPr sz="3400" b="1" dirty="0">
              <a:solidFill>
                <a:srgbClr val="E8967A"/>
              </a:solidFill>
              <a:latin typeface="Georgia"/>
            </a:endParaRPr>
          </a:p>
        </p:txBody>
      </p:sp>
      <p:sp>
        <p:nvSpPr>
          <p:cNvPr id="3" name="TextBox 2"/>
          <p:cNvSpPr txBox="1"/>
          <p:nvPr/>
        </p:nvSpPr>
        <p:spPr>
          <a:xfrm>
            <a:off x="731520" y="1143000"/>
            <a:ext cx="10728655" cy="707886"/>
          </a:xfrm>
          <a:prstGeom prst="rect">
            <a:avLst/>
          </a:prstGeom>
          <a:noFill/>
        </p:spPr>
        <p:txBody>
          <a:bodyPr wrap="square">
            <a:spAutoFit/>
          </a:bodyPr>
          <a:lstStyle/>
          <a:p>
            <a:pPr algn="l"/>
            <a:r>
              <a:rPr sz="2000" b="1" dirty="0">
                <a:solidFill>
                  <a:srgbClr val="E3B99E"/>
                </a:solidFill>
                <a:latin typeface="Calibri"/>
              </a:rPr>
              <a:t>SB 375 requires regions to write plans that show a path to lower emissions.</a:t>
            </a:r>
            <a:endParaRPr lang="en-US" sz="2000" b="1" dirty="0">
              <a:solidFill>
                <a:srgbClr val="E3B99E"/>
              </a:solidFill>
              <a:latin typeface="Calibri"/>
            </a:endParaRPr>
          </a:p>
          <a:p>
            <a:pPr algn="l"/>
            <a:r>
              <a:rPr sz="2000" b="1" dirty="0">
                <a:solidFill>
                  <a:srgbClr val="E3B99E"/>
                </a:solidFill>
                <a:latin typeface="Calibri"/>
              </a:rPr>
              <a:t>It doesn't require them to follow the plan.</a:t>
            </a:r>
          </a:p>
        </p:txBody>
      </p:sp>
      <p:sp>
        <p:nvSpPr>
          <p:cNvPr id="4" name="TextBox 3"/>
          <p:cNvSpPr txBox="1"/>
          <p:nvPr/>
        </p:nvSpPr>
        <p:spPr>
          <a:xfrm>
            <a:off x="731520" y="2148840"/>
            <a:ext cx="5964702" cy="3111749"/>
          </a:xfrm>
          <a:prstGeom prst="rect">
            <a:avLst/>
          </a:prstGeom>
          <a:noFill/>
        </p:spPr>
        <p:txBody>
          <a:bodyPr wrap="square">
            <a:spAutoFit/>
          </a:bodyPr>
          <a:lstStyle/>
          <a:p>
            <a:pPr>
              <a:lnSpc>
                <a:spcPct val="150000"/>
              </a:lnSpc>
              <a:spcAft>
                <a:spcPts val="600"/>
              </a:spcAft>
            </a:pPr>
            <a:r>
              <a:rPr sz="1800" dirty="0">
                <a:solidFill>
                  <a:srgbClr val="F5E6D3"/>
                </a:solidFill>
                <a:latin typeface="Calibri"/>
              </a:rPr>
              <a:t>•  Regions can submit a plan projecting significant VMT reductions, then fund highway expansions that generate more driving — with no legal consequence</a:t>
            </a:r>
          </a:p>
          <a:p>
            <a:pPr>
              <a:lnSpc>
                <a:spcPct val="150000"/>
              </a:lnSpc>
              <a:spcAft>
                <a:spcPts val="600"/>
              </a:spcAft>
            </a:pPr>
            <a:r>
              <a:rPr sz="1800" dirty="0">
                <a:solidFill>
                  <a:srgbClr val="F5E6D3"/>
                </a:solidFill>
                <a:latin typeface="Calibri"/>
              </a:rPr>
              <a:t>•  This gap between planning and spending is where climate progress gets lost</a:t>
            </a:r>
          </a:p>
          <a:p>
            <a:pPr>
              <a:lnSpc>
                <a:spcPct val="150000"/>
              </a:lnSpc>
              <a:spcAft>
                <a:spcPts val="600"/>
              </a:spcAft>
            </a:pPr>
            <a:r>
              <a:rPr sz="1800" dirty="0">
                <a:solidFill>
                  <a:srgbClr val="F5E6D3"/>
                </a:solidFill>
                <a:latin typeface="Calibri"/>
              </a:rPr>
              <a:t>•  Result: VMT and emissions are trending upward statewide, even as regions report "on track" in their plans</a:t>
            </a:r>
          </a:p>
        </p:txBody>
      </p:sp>
      <p:sp>
        <p:nvSpPr>
          <p:cNvPr id="5" name="Rounded Rectangle 4"/>
          <p:cNvSpPr/>
          <p:nvPr/>
        </p:nvSpPr>
        <p:spPr>
          <a:xfrm>
            <a:off x="7315200" y="2377440"/>
            <a:ext cx="2103120" cy="329184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60920" y="2544708"/>
            <a:ext cx="2057400" cy="707886"/>
          </a:xfrm>
          <a:prstGeom prst="rect">
            <a:avLst/>
          </a:prstGeom>
          <a:noFill/>
        </p:spPr>
        <p:txBody>
          <a:bodyPr wrap="square">
            <a:spAutoFit/>
          </a:bodyPr>
          <a:lstStyle/>
          <a:p>
            <a:pPr algn="ctr"/>
            <a:r>
              <a:rPr sz="2000" b="1" dirty="0">
                <a:solidFill>
                  <a:srgbClr val="4A9B8E"/>
                </a:solidFill>
                <a:latin typeface="Calibri"/>
              </a:rPr>
              <a:t>What SB 375 Requires</a:t>
            </a:r>
          </a:p>
        </p:txBody>
      </p:sp>
      <p:sp>
        <p:nvSpPr>
          <p:cNvPr id="7" name="TextBox 6"/>
          <p:cNvSpPr txBox="1"/>
          <p:nvPr/>
        </p:nvSpPr>
        <p:spPr>
          <a:xfrm>
            <a:off x="7393259" y="3401122"/>
            <a:ext cx="1979341" cy="1118255"/>
          </a:xfrm>
          <a:prstGeom prst="rect">
            <a:avLst/>
          </a:prstGeom>
          <a:noFill/>
        </p:spPr>
        <p:txBody>
          <a:bodyPr wrap="square">
            <a:spAutoFit/>
          </a:bodyPr>
          <a:lstStyle/>
          <a:p>
            <a:pPr>
              <a:spcAft>
                <a:spcPts val="400"/>
              </a:spcAft>
            </a:pPr>
            <a:r>
              <a:rPr sz="2000" dirty="0">
                <a:solidFill>
                  <a:srgbClr val="F5E6D3"/>
                </a:solidFill>
                <a:latin typeface="Calibri"/>
              </a:rPr>
              <a:t>•  Plans</a:t>
            </a:r>
          </a:p>
          <a:p>
            <a:pPr>
              <a:spcAft>
                <a:spcPts val="400"/>
              </a:spcAft>
            </a:pPr>
            <a:r>
              <a:rPr sz="2000" dirty="0">
                <a:solidFill>
                  <a:srgbClr val="F5E6D3"/>
                </a:solidFill>
                <a:latin typeface="Calibri"/>
              </a:rPr>
              <a:t>•  Projections</a:t>
            </a:r>
          </a:p>
          <a:p>
            <a:pPr>
              <a:spcAft>
                <a:spcPts val="400"/>
              </a:spcAft>
            </a:pPr>
            <a:r>
              <a:rPr sz="2000" dirty="0">
                <a:solidFill>
                  <a:srgbClr val="F5E6D3"/>
                </a:solidFill>
                <a:latin typeface="Calibri"/>
              </a:rPr>
              <a:t>•  Targets</a:t>
            </a:r>
          </a:p>
        </p:txBody>
      </p:sp>
      <p:sp>
        <p:nvSpPr>
          <p:cNvPr id="8" name="Rounded Rectangle 7"/>
          <p:cNvSpPr/>
          <p:nvPr/>
        </p:nvSpPr>
        <p:spPr>
          <a:xfrm>
            <a:off x="9601200" y="2377440"/>
            <a:ext cx="2103120" cy="329184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0" y="2688559"/>
            <a:ext cx="2103120" cy="400110"/>
          </a:xfrm>
          <a:prstGeom prst="rect">
            <a:avLst/>
          </a:prstGeom>
          <a:noFill/>
        </p:spPr>
        <p:txBody>
          <a:bodyPr wrap="square">
            <a:spAutoFit/>
          </a:bodyPr>
          <a:lstStyle/>
          <a:p>
            <a:pPr algn="ctr"/>
            <a:r>
              <a:rPr lang="en-US" sz="2000" b="1" dirty="0">
                <a:solidFill>
                  <a:srgbClr val="E8967A"/>
                </a:solidFill>
                <a:latin typeface="Calibri"/>
              </a:rPr>
              <a:t>It </a:t>
            </a:r>
            <a:r>
              <a:rPr sz="2000" b="1" dirty="0">
                <a:solidFill>
                  <a:srgbClr val="E8967A"/>
                </a:solidFill>
                <a:latin typeface="Calibri"/>
              </a:rPr>
              <a:t>Doesn't</a:t>
            </a:r>
            <a:r>
              <a:rPr lang="en-US" sz="2000" b="1" dirty="0">
                <a:solidFill>
                  <a:srgbClr val="E8967A"/>
                </a:solidFill>
                <a:latin typeface="Calibri"/>
              </a:rPr>
              <a:t> </a:t>
            </a:r>
            <a:r>
              <a:rPr sz="2000" b="1" dirty="0">
                <a:solidFill>
                  <a:srgbClr val="E8967A"/>
                </a:solidFill>
                <a:latin typeface="Calibri"/>
              </a:rPr>
              <a:t>Require</a:t>
            </a:r>
          </a:p>
        </p:txBody>
      </p:sp>
      <p:sp>
        <p:nvSpPr>
          <p:cNvPr id="10" name="TextBox 9"/>
          <p:cNvSpPr txBox="1"/>
          <p:nvPr/>
        </p:nvSpPr>
        <p:spPr>
          <a:xfrm>
            <a:off x="9679258" y="3301186"/>
            <a:ext cx="2025061" cy="2041585"/>
          </a:xfrm>
          <a:prstGeom prst="rect">
            <a:avLst/>
          </a:prstGeom>
          <a:noFill/>
        </p:spPr>
        <p:txBody>
          <a:bodyPr wrap="square">
            <a:spAutoFit/>
          </a:bodyPr>
          <a:lstStyle/>
          <a:p>
            <a:pPr>
              <a:spcAft>
                <a:spcPts val="400"/>
              </a:spcAft>
            </a:pPr>
            <a:r>
              <a:rPr sz="2000" dirty="0">
                <a:solidFill>
                  <a:srgbClr val="F5E6D3"/>
                </a:solidFill>
                <a:latin typeface="Calibri"/>
              </a:rPr>
              <a:t>•  Spending alignment</a:t>
            </a:r>
          </a:p>
          <a:p>
            <a:pPr>
              <a:spcAft>
                <a:spcPts val="400"/>
              </a:spcAft>
            </a:pPr>
            <a:r>
              <a:rPr sz="2000" dirty="0">
                <a:solidFill>
                  <a:srgbClr val="F5E6D3"/>
                </a:solidFill>
                <a:latin typeface="Calibri"/>
              </a:rPr>
              <a:t>•  Enforcement</a:t>
            </a:r>
          </a:p>
          <a:p>
            <a:pPr>
              <a:spcAft>
                <a:spcPts val="400"/>
              </a:spcAft>
            </a:pPr>
            <a:r>
              <a:rPr sz="2000" dirty="0">
                <a:solidFill>
                  <a:srgbClr val="F5E6D3"/>
                </a:solidFill>
                <a:latin typeface="Calibri"/>
              </a:rPr>
              <a:t>•</a:t>
            </a:r>
            <a:r>
              <a:rPr lang="en-US" sz="2000" dirty="0">
                <a:solidFill>
                  <a:srgbClr val="F5E6D3"/>
                </a:solidFill>
                <a:latin typeface="Calibri"/>
              </a:rPr>
              <a:t> </a:t>
            </a:r>
            <a:r>
              <a:rPr sz="2000" dirty="0">
                <a:solidFill>
                  <a:srgbClr val="F5E6D3"/>
                </a:solidFill>
                <a:latin typeface="Calibri"/>
              </a:rPr>
              <a:t>Consequences for</a:t>
            </a:r>
            <a:r>
              <a:rPr lang="en-US" sz="2000" dirty="0">
                <a:solidFill>
                  <a:srgbClr val="F5E6D3"/>
                </a:solidFill>
                <a:latin typeface="Calibri"/>
              </a:rPr>
              <a:t> </a:t>
            </a:r>
            <a:r>
              <a:rPr sz="2000" dirty="0">
                <a:solidFill>
                  <a:srgbClr val="F5E6D3"/>
                </a:solidFill>
                <a:latin typeface="Calibri"/>
              </a:rPr>
              <a:t>missing targets</a:t>
            </a:r>
          </a:p>
        </p:txBody>
      </p:sp>
      <p:sp>
        <p:nvSpPr>
          <p:cNvPr id="11" name="TextBox 10"/>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sz="3400" b="1" dirty="0">
                <a:solidFill>
                  <a:srgbClr val="E8967A"/>
                </a:solidFill>
                <a:latin typeface="Georgia"/>
              </a:rPr>
              <a:t>The </a:t>
            </a:r>
            <a:r>
              <a:rPr lang="en-US" sz="3400" b="1" dirty="0">
                <a:solidFill>
                  <a:srgbClr val="E8967A"/>
                </a:solidFill>
                <a:latin typeface="Georgia"/>
              </a:rPr>
              <a:t>Legislative Vehicle</a:t>
            </a:r>
            <a:r>
              <a:rPr sz="3400" b="1" dirty="0">
                <a:solidFill>
                  <a:srgbClr val="E8967A"/>
                </a:solidFill>
                <a:latin typeface="Georgia"/>
              </a:rPr>
              <a:t>: SB 1087</a:t>
            </a:r>
            <a:r>
              <a:rPr lang="en-US" sz="3400" b="1" dirty="0">
                <a:solidFill>
                  <a:srgbClr val="E8967A"/>
                </a:solidFill>
                <a:latin typeface="Georgia"/>
              </a:rPr>
              <a:t> (Cabaldon)</a:t>
            </a:r>
            <a:endParaRPr sz="3400" b="1" dirty="0">
              <a:solidFill>
                <a:srgbClr val="E8967A"/>
              </a:solidFill>
              <a:latin typeface="Georgia"/>
            </a:endParaRPr>
          </a:p>
        </p:txBody>
      </p:sp>
      <p:sp>
        <p:nvSpPr>
          <p:cNvPr id="3" name="TextBox 2"/>
          <p:cNvSpPr txBox="1"/>
          <p:nvPr/>
        </p:nvSpPr>
        <p:spPr>
          <a:xfrm>
            <a:off x="731520" y="1143000"/>
            <a:ext cx="10728655" cy="707886"/>
          </a:xfrm>
          <a:prstGeom prst="rect">
            <a:avLst/>
          </a:prstGeom>
          <a:noFill/>
        </p:spPr>
        <p:txBody>
          <a:bodyPr wrap="square">
            <a:spAutoFit/>
          </a:bodyPr>
          <a:lstStyle/>
          <a:p>
            <a:pPr algn="l"/>
            <a:r>
              <a:rPr sz="2000" b="1" dirty="0">
                <a:solidFill>
                  <a:srgbClr val="E3B99E"/>
                </a:solidFill>
                <a:latin typeface="Calibri"/>
              </a:rPr>
              <a:t>A technical bill introduced in February 2026 quietly touches the same legal code as SB 375</a:t>
            </a:r>
            <a:r>
              <a:rPr lang="en-US" sz="2000" b="1" dirty="0">
                <a:solidFill>
                  <a:srgbClr val="E3B99E"/>
                </a:solidFill>
                <a:latin typeface="Calibri"/>
              </a:rPr>
              <a:t>.</a:t>
            </a:r>
          </a:p>
          <a:p>
            <a:pPr algn="l"/>
            <a:r>
              <a:rPr lang="en-US" sz="2000" b="1" dirty="0">
                <a:solidFill>
                  <a:srgbClr val="E3B99E"/>
                </a:solidFill>
                <a:latin typeface="Calibri"/>
              </a:rPr>
              <a:t>A</a:t>
            </a:r>
            <a:r>
              <a:rPr sz="2000" b="1" dirty="0">
                <a:solidFill>
                  <a:srgbClr val="E3B99E"/>
                </a:solidFill>
                <a:latin typeface="Calibri"/>
              </a:rPr>
              <a:t> rare window to insert real accountability.</a:t>
            </a:r>
          </a:p>
        </p:txBody>
      </p:sp>
      <p:sp>
        <p:nvSpPr>
          <p:cNvPr id="4" name="Rounded Rectangle 3"/>
          <p:cNvSpPr/>
          <p:nvPr/>
        </p:nvSpPr>
        <p:spPr>
          <a:xfrm>
            <a:off x="792327" y="2286000"/>
            <a:ext cx="5120640" cy="393192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20927" y="2468880"/>
            <a:ext cx="4663440" cy="461665"/>
          </a:xfrm>
          <a:prstGeom prst="rect">
            <a:avLst/>
          </a:prstGeom>
          <a:noFill/>
        </p:spPr>
        <p:txBody>
          <a:bodyPr wrap="square">
            <a:spAutoFit/>
          </a:bodyPr>
          <a:lstStyle/>
          <a:p>
            <a:pPr algn="l"/>
            <a:r>
              <a:rPr sz="2400" b="1" dirty="0">
                <a:solidFill>
                  <a:srgbClr val="4A9B8E"/>
                </a:solidFill>
                <a:latin typeface="Calibri"/>
              </a:rPr>
              <a:t>What SB 1087 Does</a:t>
            </a:r>
          </a:p>
        </p:txBody>
      </p:sp>
      <p:sp>
        <p:nvSpPr>
          <p:cNvPr id="6" name="TextBox 5"/>
          <p:cNvSpPr txBox="1"/>
          <p:nvPr/>
        </p:nvSpPr>
        <p:spPr>
          <a:xfrm>
            <a:off x="906627" y="3010522"/>
            <a:ext cx="4892040" cy="2882840"/>
          </a:xfrm>
          <a:prstGeom prst="rect">
            <a:avLst/>
          </a:prstGeom>
          <a:noFill/>
        </p:spPr>
        <p:txBody>
          <a:bodyPr wrap="square">
            <a:spAutoFit/>
          </a:bodyPr>
          <a:lstStyle/>
          <a:p>
            <a:pPr>
              <a:spcAft>
                <a:spcPts val="400"/>
              </a:spcAft>
            </a:pPr>
            <a:r>
              <a:rPr sz="2000" dirty="0">
                <a:solidFill>
                  <a:srgbClr val="F5E6D3"/>
                </a:solidFill>
                <a:latin typeface="Calibri"/>
              </a:rPr>
              <a:t>Introduced by Senator Cabaldon, SB 1087 makes administrative updates to California's transportation planning framework:</a:t>
            </a:r>
          </a:p>
          <a:p>
            <a:pPr>
              <a:spcAft>
                <a:spcPts val="400"/>
              </a:spcAft>
            </a:pPr>
            <a:endParaRPr dirty="0">
              <a:solidFill>
                <a:srgbClr val="F5E6D3"/>
              </a:solidFill>
              <a:latin typeface="Calibri"/>
            </a:endParaRPr>
          </a:p>
          <a:p>
            <a:pPr>
              <a:spcAft>
                <a:spcPts val="400"/>
              </a:spcAft>
            </a:pPr>
            <a:r>
              <a:rPr dirty="0">
                <a:solidFill>
                  <a:srgbClr val="F5E6D3"/>
                </a:solidFill>
                <a:latin typeface="Calibri"/>
              </a:rPr>
              <a:t>•</a:t>
            </a:r>
            <a:r>
              <a:rPr lang="en-US" dirty="0">
                <a:solidFill>
                  <a:srgbClr val="F5E6D3"/>
                </a:solidFill>
                <a:latin typeface="Calibri"/>
              </a:rPr>
              <a:t> </a:t>
            </a:r>
            <a:r>
              <a:rPr dirty="0">
                <a:solidFill>
                  <a:srgbClr val="F5E6D3"/>
                </a:solidFill>
                <a:latin typeface="Calibri"/>
              </a:rPr>
              <a:t>Changes how often regions must update their plans (from every 4 years to every 8 years)</a:t>
            </a:r>
          </a:p>
          <a:p>
            <a:pPr>
              <a:spcAft>
                <a:spcPts val="400"/>
              </a:spcAft>
            </a:pPr>
            <a:r>
              <a:rPr dirty="0">
                <a:solidFill>
                  <a:srgbClr val="F5E6D3"/>
                </a:solidFill>
                <a:latin typeface="Calibri"/>
              </a:rPr>
              <a:t>• Changes how $25 million in planning grants are allocated (from discretionary to population-based)</a:t>
            </a:r>
          </a:p>
          <a:p>
            <a:pPr>
              <a:spcAft>
                <a:spcPts val="400"/>
              </a:spcAft>
            </a:pPr>
            <a:r>
              <a:rPr dirty="0">
                <a:solidFill>
                  <a:srgbClr val="F5E6D3"/>
                </a:solidFill>
                <a:latin typeface="Calibri"/>
              </a:rPr>
              <a:t>• Shifts grant administration away from Caltrans</a:t>
            </a:r>
          </a:p>
        </p:txBody>
      </p:sp>
      <p:sp>
        <p:nvSpPr>
          <p:cNvPr id="7" name="Rounded Rectangle 6"/>
          <p:cNvSpPr/>
          <p:nvPr/>
        </p:nvSpPr>
        <p:spPr>
          <a:xfrm>
            <a:off x="6278727" y="2286000"/>
            <a:ext cx="5120640" cy="393192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07327" y="2468880"/>
            <a:ext cx="4663440" cy="461665"/>
          </a:xfrm>
          <a:prstGeom prst="rect">
            <a:avLst/>
          </a:prstGeom>
          <a:noFill/>
        </p:spPr>
        <p:txBody>
          <a:bodyPr wrap="square">
            <a:spAutoFit/>
          </a:bodyPr>
          <a:lstStyle/>
          <a:p>
            <a:pPr algn="l"/>
            <a:r>
              <a:rPr sz="2400" b="1" dirty="0">
                <a:solidFill>
                  <a:srgbClr val="4A9B8E"/>
                </a:solidFill>
                <a:latin typeface="Calibri"/>
              </a:rPr>
              <a:t>Why This Matters</a:t>
            </a:r>
          </a:p>
        </p:txBody>
      </p:sp>
      <p:sp>
        <p:nvSpPr>
          <p:cNvPr id="9" name="TextBox 8"/>
          <p:cNvSpPr txBox="1"/>
          <p:nvPr/>
        </p:nvSpPr>
        <p:spPr>
          <a:xfrm>
            <a:off x="6507327" y="2977922"/>
            <a:ext cx="4663440" cy="2657138"/>
          </a:xfrm>
          <a:prstGeom prst="rect">
            <a:avLst/>
          </a:prstGeom>
          <a:noFill/>
        </p:spPr>
        <p:txBody>
          <a:bodyPr wrap="square">
            <a:spAutoFit/>
          </a:bodyPr>
          <a:lstStyle/>
          <a:p>
            <a:pPr>
              <a:spcAft>
                <a:spcPts val="400"/>
              </a:spcAft>
            </a:pPr>
            <a:r>
              <a:rPr sz="2000" dirty="0">
                <a:solidFill>
                  <a:srgbClr val="F5E6D3"/>
                </a:solidFill>
                <a:latin typeface="Calibri"/>
              </a:rPr>
              <a:t>Because SB 1087 </a:t>
            </a:r>
            <a:r>
              <a:rPr lang="en-US" sz="2000" dirty="0">
                <a:solidFill>
                  <a:srgbClr val="F5E6D3"/>
                </a:solidFill>
                <a:latin typeface="Calibri"/>
              </a:rPr>
              <a:t>can create </a:t>
            </a:r>
            <a:r>
              <a:rPr sz="2000" dirty="0">
                <a:solidFill>
                  <a:srgbClr val="F5E6D3"/>
                </a:solidFill>
                <a:latin typeface="Calibri"/>
              </a:rPr>
              <a:t>legislative hooks </a:t>
            </a:r>
            <a:r>
              <a:rPr lang="en-US" sz="2000" dirty="0">
                <a:solidFill>
                  <a:srgbClr val="F5E6D3"/>
                </a:solidFill>
                <a:latin typeface="Calibri"/>
              </a:rPr>
              <a:t>to utilize</a:t>
            </a:r>
            <a:r>
              <a:rPr sz="2000" dirty="0">
                <a:solidFill>
                  <a:srgbClr val="F5E6D3"/>
                </a:solidFill>
                <a:latin typeface="Calibri"/>
              </a:rPr>
              <a:t> specific code sections where climate accountability language can be inserted during the amendment process.</a:t>
            </a:r>
          </a:p>
          <a:p>
            <a:pPr>
              <a:spcAft>
                <a:spcPts val="400"/>
              </a:spcAft>
            </a:pPr>
            <a:endParaRPr sz="2000" dirty="0">
              <a:solidFill>
                <a:srgbClr val="F5E6D3"/>
              </a:solidFill>
              <a:latin typeface="Calibri"/>
            </a:endParaRPr>
          </a:p>
          <a:p>
            <a:pPr>
              <a:spcAft>
                <a:spcPts val="400"/>
              </a:spcAft>
            </a:pPr>
            <a:r>
              <a:rPr sz="2000" dirty="0">
                <a:solidFill>
                  <a:srgbClr val="F5E6D3"/>
                </a:solidFill>
                <a:latin typeface="Calibri"/>
              </a:rPr>
              <a:t>A technical bill becomes a potential climate accountability bill.</a:t>
            </a:r>
          </a:p>
        </p:txBody>
      </p:sp>
      <p:sp>
        <p:nvSpPr>
          <p:cNvPr id="10" name="TextBox 9"/>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6</a:t>
            </a:r>
          </a:p>
        </p:txBody>
      </p:sp>
      <p:pic>
        <p:nvPicPr>
          <p:cNvPr id="11" name="Picture 6" descr="50+ Sacramento Capitol Building Stock Illustrations, Royalty-Free Vector  Graphics &amp; Clip Art - iStock | Sacramento capitol building night,  Sacramento capitol building inside">
            <a:extLst>
              <a:ext uri="{FF2B5EF4-FFF2-40B4-BE49-F238E27FC236}">
                <a16:creationId xmlns:a16="http://schemas.microsoft.com/office/drawing/2014/main" id="{D258C711-12CA-E68F-0873-F3E33D64D6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3930" y="266811"/>
            <a:ext cx="1485718" cy="1584075"/>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914400"/>
          </a:xfrm>
          <a:prstGeom prst="rect">
            <a:avLst/>
          </a:prstGeom>
          <a:noFill/>
        </p:spPr>
        <p:txBody>
          <a:bodyPr wrap="square">
            <a:spAutoFit/>
          </a:bodyPr>
          <a:lstStyle/>
          <a:p>
            <a:pPr algn="l"/>
            <a:r>
              <a:rPr sz="3400" b="1">
                <a:solidFill>
                  <a:srgbClr val="E8967A"/>
                </a:solidFill>
                <a:latin typeface="Georgia"/>
              </a:rPr>
              <a:t>Other States Already Closed This Gap</a:t>
            </a:r>
          </a:p>
        </p:txBody>
      </p:sp>
      <p:sp>
        <p:nvSpPr>
          <p:cNvPr id="3" name="TextBox 2"/>
          <p:cNvSpPr txBox="1"/>
          <p:nvPr/>
        </p:nvSpPr>
        <p:spPr>
          <a:xfrm>
            <a:off x="731520" y="1143000"/>
            <a:ext cx="10728655" cy="707886"/>
          </a:xfrm>
          <a:prstGeom prst="rect">
            <a:avLst/>
          </a:prstGeom>
          <a:noFill/>
        </p:spPr>
        <p:txBody>
          <a:bodyPr wrap="square">
            <a:spAutoFit/>
          </a:bodyPr>
          <a:lstStyle/>
          <a:p>
            <a:pPr algn="l"/>
            <a:r>
              <a:rPr sz="2000" b="1" dirty="0">
                <a:solidFill>
                  <a:srgbClr val="E3B99E"/>
                </a:solidFill>
                <a:latin typeface="Calibri"/>
              </a:rPr>
              <a:t>Colorado, Minnesota, Virginia, and Massachusetts each passed laws that tie transportation dollars directly to climate performance. California can adapt all four.</a:t>
            </a:r>
          </a:p>
        </p:txBody>
      </p:sp>
      <p:sp>
        <p:nvSpPr>
          <p:cNvPr id="4" name="Rounded Rectangle 3"/>
          <p:cNvSpPr/>
          <p:nvPr/>
        </p:nvSpPr>
        <p:spPr>
          <a:xfrm>
            <a:off x="792327" y="2240280"/>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0927" y="2834640"/>
            <a:ext cx="4663440" cy="1200329"/>
          </a:xfrm>
          <a:prstGeom prst="rect">
            <a:avLst/>
          </a:prstGeom>
          <a:noFill/>
        </p:spPr>
        <p:txBody>
          <a:bodyPr wrap="square">
            <a:spAutoFit/>
          </a:bodyPr>
          <a:lstStyle/>
          <a:p>
            <a:pPr>
              <a:spcAft>
                <a:spcPts val="400"/>
              </a:spcAft>
            </a:pPr>
            <a:r>
              <a:rPr dirty="0">
                <a:solidFill>
                  <a:srgbClr val="F5E6D3"/>
                </a:solidFill>
                <a:latin typeface="Calibri"/>
              </a:rPr>
              <a:t>Any project that increases emissions must be paired with transit, bike lanes, or demand management to offset the impact. No mitigation = no funding.</a:t>
            </a:r>
          </a:p>
        </p:txBody>
      </p:sp>
      <p:sp>
        <p:nvSpPr>
          <p:cNvPr id="7" name="Rounded Rectangle 6"/>
          <p:cNvSpPr/>
          <p:nvPr/>
        </p:nvSpPr>
        <p:spPr>
          <a:xfrm>
            <a:off x="6278727" y="2240280"/>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07327" y="2942892"/>
            <a:ext cx="4663440" cy="923330"/>
          </a:xfrm>
          <a:prstGeom prst="rect">
            <a:avLst/>
          </a:prstGeom>
          <a:noFill/>
        </p:spPr>
        <p:txBody>
          <a:bodyPr wrap="square">
            <a:spAutoFit/>
          </a:bodyPr>
          <a:lstStyle/>
          <a:p>
            <a:pPr>
              <a:spcAft>
                <a:spcPts val="400"/>
              </a:spcAft>
            </a:pPr>
            <a:r>
              <a:rPr dirty="0">
                <a:solidFill>
                  <a:srgbClr val="F5E6D3"/>
                </a:solidFill>
                <a:latin typeface="Calibri"/>
              </a:rPr>
              <a:t>Any highway expansion over 0.5 miles requires a 20-year emissions impact study. If it fails, the project must be redesigned, offset, or canceled.</a:t>
            </a:r>
          </a:p>
        </p:txBody>
      </p:sp>
      <p:sp>
        <p:nvSpPr>
          <p:cNvPr id="10" name="Rounded Rectangle 9"/>
          <p:cNvSpPr/>
          <p:nvPr/>
        </p:nvSpPr>
        <p:spPr>
          <a:xfrm>
            <a:off x="792327" y="4251960"/>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0927" y="4846320"/>
            <a:ext cx="4663440" cy="1200329"/>
          </a:xfrm>
          <a:prstGeom prst="rect">
            <a:avLst/>
          </a:prstGeom>
          <a:noFill/>
        </p:spPr>
        <p:txBody>
          <a:bodyPr wrap="square">
            <a:spAutoFit/>
          </a:bodyPr>
          <a:lstStyle/>
          <a:p>
            <a:pPr>
              <a:spcAft>
                <a:spcPts val="400"/>
              </a:spcAft>
            </a:pPr>
            <a:r>
              <a:rPr dirty="0">
                <a:solidFill>
                  <a:srgbClr val="F5E6D3"/>
                </a:solidFill>
                <a:latin typeface="Calibri"/>
              </a:rPr>
              <a:t>Projects are scored on GHG reduction, multimodal access, and benefits to disadvantaged communities. Sprawl-inducing projects naturally score lower and lose funding.</a:t>
            </a:r>
          </a:p>
        </p:txBody>
      </p:sp>
      <p:sp>
        <p:nvSpPr>
          <p:cNvPr id="13" name="Rounded Rectangle 12"/>
          <p:cNvSpPr/>
          <p:nvPr/>
        </p:nvSpPr>
        <p:spPr>
          <a:xfrm>
            <a:off x="6309131" y="4258994"/>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hape 3">
            <a:extLst>
              <a:ext uri="{FF2B5EF4-FFF2-40B4-BE49-F238E27FC236}">
                <a16:creationId xmlns:a16="http://schemas.microsoft.com/office/drawing/2014/main" id="{7D5C4215-1507-F949-50E7-C8BF2BA66A50}"/>
              </a:ext>
            </a:extLst>
          </p:cNvPr>
          <p:cNvSpPr>
            <a:spLocks/>
          </p:cNvSpPr>
          <p:nvPr/>
        </p:nvSpPr>
        <p:spPr>
          <a:xfrm>
            <a:off x="792327" y="2228910"/>
            <a:ext cx="5120640" cy="561668"/>
          </a:xfrm>
          <a:prstGeom prst="roundRect">
            <a:avLst>
              <a:gd name="adj" fmla="val 0"/>
            </a:avLst>
          </a:prstGeom>
          <a:solidFill>
            <a:srgbClr val="E8967A"/>
          </a:solidFill>
          <a:ln/>
        </p:spPr>
        <p:txBody>
          <a:bodyPr/>
          <a:lstStyle/>
          <a:p>
            <a:endParaRPr lang="en-US" dirty="0">
              <a:solidFill>
                <a:srgbClr val="E8967A"/>
              </a:solidFill>
            </a:endParaRPr>
          </a:p>
        </p:txBody>
      </p:sp>
      <p:sp>
        <p:nvSpPr>
          <p:cNvPr id="18" name="Shape 3">
            <a:extLst>
              <a:ext uri="{FF2B5EF4-FFF2-40B4-BE49-F238E27FC236}">
                <a16:creationId xmlns:a16="http://schemas.microsoft.com/office/drawing/2014/main" id="{4A7E94AD-1995-37BF-1EC7-352D0FBCF8B8}"/>
              </a:ext>
            </a:extLst>
          </p:cNvPr>
          <p:cNvSpPr>
            <a:spLocks/>
          </p:cNvSpPr>
          <p:nvPr/>
        </p:nvSpPr>
        <p:spPr>
          <a:xfrm>
            <a:off x="792327" y="4251960"/>
            <a:ext cx="5120640" cy="561668"/>
          </a:xfrm>
          <a:prstGeom prst="roundRect">
            <a:avLst>
              <a:gd name="adj" fmla="val 0"/>
            </a:avLst>
          </a:prstGeom>
          <a:solidFill>
            <a:srgbClr val="E8967A"/>
          </a:solidFill>
          <a:ln/>
        </p:spPr>
        <p:txBody>
          <a:bodyPr/>
          <a:lstStyle/>
          <a:p>
            <a:endParaRPr lang="en-US" dirty="0"/>
          </a:p>
        </p:txBody>
      </p:sp>
      <p:sp>
        <p:nvSpPr>
          <p:cNvPr id="15" name="TextBox 14"/>
          <p:cNvSpPr txBox="1"/>
          <p:nvPr/>
        </p:nvSpPr>
        <p:spPr>
          <a:xfrm>
            <a:off x="6507327" y="4983925"/>
            <a:ext cx="4663440" cy="923330"/>
          </a:xfrm>
          <a:prstGeom prst="rect">
            <a:avLst/>
          </a:prstGeom>
          <a:noFill/>
        </p:spPr>
        <p:txBody>
          <a:bodyPr wrap="square">
            <a:spAutoFit/>
          </a:bodyPr>
          <a:lstStyle/>
          <a:p>
            <a:pPr>
              <a:spcAft>
                <a:spcPts val="400"/>
              </a:spcAft>
            </a:pPr>
            <a:r>
              <a:rPr dirty="0">
                <a:solidFill>
                  <a:srgbClr val="F5E6D3"/>
                </a:solidFill>
                <a:latin typeface="Calibri"/>
              </a:rPr>
              <a:t>Legally binding, annually declining CO₂ limits for the state DOT. Miss the target and supplemental corrective measures are legally required.</a:t>
            </a:r>
          </a:p>
        </p:txBody>
      </p:sp>
      <p:sp>
        <p:nvSpPr>
          <p:cNvPr id="16" name="TextBox 15"/>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7</a:t>
            </a:r>
          </a:p>
        </p:txBody>
      </p:sp>
      <p:sp>
        <p:nvSpPr>
          <p:cNvPr id="5" name="TextBox 4"/>
          <p:cNvSpPr txBox="1"/>
          <p:nvPr/>
        </p:nvSpPr>
        <p:spPr>
          <a:xfrm>
            <a:off x="1020927" y="2309689"/>
            <a:ext cx="4663440" cy="400110"/>
          </a:xfrm>
          <a:prstGeom prst="rect">
            <a:avLst/>
          </a:prstGeom>
          <a:noFill/>
        </p:spPr>
        <p:txBody>
          <a:bodyPr wrap="square">
            <a:spAutoFit/>
          </a:bodyPr>
          <a:lstStyle/>
          <a:p>
            <a:pPr algn="l"/>
            <a:r>
              <a:rPr sz="2000" b="1" dirty="0">
                <a:solidFill>
                  <a:srgbClr val="F5E6D3"/>
                </a:solidFill>
                <a:latin typeface="Calibri"/>
              </a:rPr>
              <a:t>COLORADO — Budget Lock</a:t>
            </a:r>
          </a:p>
        </p:txBody>
      </p:sp>
      <p:sp>
        <p:nvSpPr>
          <p:cNvPr id="11" name="TextBox 10"/>
          <p:cNvSpPr txBox="1"/>
          <p:nvPr/>
        </p:nvSpPr>
        <p:spPr>
          <a:xfrm>
            <a:off x="1020927" y="4331910"/>
            <a:ext cx="4663440" cy="400110"/>
          </a:xfrm>
          <a:prstGeom prst="rect">
            <a:avLst/>
          </a:prstGeom>
          <a:noFill/>
        </p:spPr>
        <p:txBody>
          <a:bodyPr wrap="square">
            <a:spAutoFit/>
          </a:bodyPr>
          <a:lstStyle/>
          <a:p>
            <a:pPr algn="l"/>
            <a:r>
              <a:rPr sz="2000" b="1" dirty="0">
                <a:solidFill>
                  <a:srgbClr val="F5E6D3"/>
                </a:solidFill>
                <a:latin typeface="Calibri"/>
              </a:rPr>
              <a:t>VIRGINIA — Climate &amp; Equity Scoring</a:t>
            </a:r>
          </a:p>
        </p:txBody>
      </p:sp>
      <p:pic>
        <p:nvPicPr>
          <p:cNvPr id="19" name="Image 2" descr="preencoded.png">
            <a:extLst>
              <a:ext uri="{FF2B5EF4-FFF2-40B4-BE49-F238E27FC236}">
                <a16:creationId xmlns:a16="http://schemas.microsoft.com/office/drawing/2014/main" id="{5376CEBD-2D19-4434-4F4B-F03F7E5A9C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0873" y="4254812"/>
            <a:ext cx="517596" cy="563372"/>
          </a:xfrm>
          <a:prstGeom prst="rect">
            <a:avLst/>
          </a:prstGeom>
        </p:spPr>
      </p:pic>
      <p:pic>
        <p:nvPicPr>
          <p:cNvPr id="20" name="Image 0" descr="preencoded.png">
            <a:extLst>
              <a:ext uri="{FF2B5EF4-FFF2-40B4-BE49-F238E27FC236}">
                <a16:creationId xmlns:a16="http://schemas.microsoft.com/office/drawing/2014/main" id="{BFE314E3-1FF3-65B6-3067-B96B6B69D0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4618" y="2284382"/>
            <a:ext cx="474049" cy="446367"/>
          </a:xfrm>
          <a:prstGeom prst="rect">
            <a:avLst/>
          </a:prstGeom>
        </p:spPr>
      </p:pic>
      <p:sp>
        <p:nvSpPr>
          <p:cNvPr id="21" name="Shape 3">
            <a:extLst>
              <a:ext uri="{FF2B5EF4-FFF2-40B4-BE49-F238E27FC236}">
                <a16:creationId xmlns:a16="http://schemas.microsoft.com/office/drawing/2014/main" id="{0B73D635-2DCA-43EE-E47E-19D329B66409}"/>
              </a:ext>
            </a:extLst>
          </p:cNvPr>
          <p:cNvSpPr>
            <a:spLocks/>
          </p:cNvSpPr>
          <p:nvPr/>
        </p:nvSpPr>
        <p:spPr>
          <a:xfrm>
            <a:off x="6278727" y="2221986"/>
            <a:ext cx="5120640" cy="561668"/>
          </a:xfrm>
          <a:prstGeom prst="roundRect">
            <a:avLst>
              <a:gd name="adj" fmla="val 0"/>
            </a:avLst>
          </a:prstGeom>
          <a:solidFill>
            <a:srgbClr val="E8967A"/>
          </a:solidFill>
          <a:ln/>
        </p:spPr>
        <p:txBody>
          <a:bodyPr/>
          <a:lstStyle/>
          <a:p>
            <a:endParaRPr lang="en-US" dirty="0"/>
          </a:p>
        </p:txBody>
      </p:sp>
      <p:sp>
        <p:nvSpPr>
          <p:cNvPr id="8" name="TextBox 7"/>
          <p:cNvSpPr txBox="1"/>
          <p:nvPr/>
        </p:nvSpPr>
        <p:spPr>
          <a:xfrm>
            <a:off x="6507327" y="2297789"/>
            <a:ext cx="4663440" cy="400110"/>
          </a:xfrm>
          <a:prstGeom prst="rect">
            <a:avLst/>
          </a:prstGeom>
          <a:noFill/>
        </p:spPr>
        <p:txBody>
          <a:bodyPr wrap="square">
            <a:spAutoFit/>
          </a:bodyPr>
          <a:lstStyle/>
          <a:p>
            <a:pPr algn="l"/>
            <a:r>
              <a:rPr sz="2000" b="1" dirty="0">
                <a:solidFill>
                  <a:srgbClr val="F5E6D3"/>
                </a:solidFill>
                <a:latin typeface="Calibri"/>
              </a:rPr>
              <a:t>MINNESOTA — Capacity Trigger</a:t>
            </a:r>
          </a:p>
        </p:txBody>
      </p:sp>
      <p:pic>
        <p:nvPicPr>
          <p:cNvPr id="22" name="Image 1" descr="preencoded.png">
            <a:extLst>
              <a:ext uri="{FF2B5EF4-FFF2-40B4-BE49-F238E27FC236}">
                <a16:creationId xmlns:a16="http://schemas.microsoft.com/office/drawing/2014/main" id="{1EFD77E7-71C5-5D81-6CB5-5747C541A3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84599" y="2292587"/>
            <a:ext cx="486168" cy="450613"/>
          </a:xfrm>
          <a:prstGeom prst="rect">
            <a:avLst/>
          </a:prstGeom>
        </p:spPr>
      </p:pic>
      <p:sp>
        <p:nvSpPr>
          <p:cNvPr id="23" name="Shape 3">
            <a:extLst>
              <a:ext uri="{FF2B5EF4-FFF2-40B4-BE49-F238E27FC236}">
                <a16:creationId xmlns:a16="http://schemas.microsoft.com/office/drawing/2014/main" id="{337256C8-D916-9C7D-4BF5-03DB1F33703C}"/>
              </a:ext>
            </a:extLst>
          </p:cNvPr>
          <p:cNvSpPr>
            <a:spLocks/>
          </p:cNvSpPr>
          <p:nvPr/>
        </p:nvSpPr>
        <p:spPr>
          <a:xfrm>
            <a:off x="6309131" y="4251131"/>
            <a:ext cx="5120640" cy="561668"/>
          </a:xfrm>
          <a:prstGeom prst="roundRect">
            <a:avLst>
              <a:gd name="adj" fmla="val 0"/>
            </a:avLst>
          </a:prstGeom>
          <a:solidFill>
            <a:srgbClr val="E8967A"/>
          </a:solidFill>
          <a:ln/>
        </p:spPr>
        <p:txBody>
          <a:bodyPr/>
          <a:lstStyle/>
          <a:p>
            <a:endParaRPr lang="en-US" dirty="0"/>
          </a:p>
        </p:txBody>
      </p:sp>
      <p:sp>
        <p:nvSpPr>
          <p:cNvPr id="14" name="TextBox 13"/>
          <p:cNvSpPr txBox="1"/>
          <p:nvPr/>
        </p:nvSpPr>
        <p:spPr>
          <a:xfrm>
            <a:off x="6278727" y="4331910"/>
            <a:ext cx="5181448" cy="400110"/>
          </a:xfrm>
          <a:prstGeom prst="rect">
            <a:avLst/>
          </a:prstGeom>
          <a:noFill/>
        </p:spPr>
        <p:txBody>
          <a:bodyPr wrap="square">
            <a:spAutoFit/>
          </a:bodyPr>
          <a:lstStyle/>
          <a:p>
            <a:pPr algn="l"/>
            <a:r>
              <a:rPr sz="2000" b="1" dirty="0">
                <a:solidFill>
                  <a:srgbClr val="F5E6D3"/>
                </a:solidFill>
                <a:latin typeface="Calibri"/>
              </a:rPr>
              <a:t>MASSACHUSETTS —</a:t>
            </a:r>
            <a:r>
              <a:rPr lang="en-US" sz="2000" b="1" dirty="0">
                <a:solidFill>
                  <a:srgbClr val="F5E6D3"/>
                </a:solidFill>
                <a:latin typeface="Calibri"/>
              </a:rPr>
              <a:t> </a:t>
            </a:r>
            <a:r>
              <a:rPr sz="2000" b="1" dirty="0">
                <a:solidFill>
                  <a:srgbClr val="F5E6D3"/>
                </a:solidFill>
                <a:latin typeface="Calibri"/>
              </a:rPr>
              <a:t>Emission Caps</a:t>
            </a:r>
          </a:p>
        </p:txBody>
      </p:sp>
      <p:pic>
        <p:nvPicPr>
          <p:cNvPr id="28" name="Image 3" descr="preencoded.png">
            <a:extLst>
              <a:ext uri="{FF2B5EF4-FFF2-40B4-BE49-F238E27FC236}">
                <a16:creationId xmlns:a16="http://schemas.microsoft.com/office/drawing/2014/main" id="{57E0FB31-56DE-6C83-64E1-7C4FF63DCAD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90134" y="4283354"/>
            <a:ext cx="475098" cy="5072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914400"/>
          </a:xfrm>
          <a:prstGeom prst="rect">
            <a:avLst/>
          </a:prstGeom>
          <a:noFill/>
        </p:spPr>
        <p:txBody>
          <a:bodyPr wrap="square">
            <a:spAutoFit/>
          </a:bodyPr>
          <a:lstStyle/>
          <a:p>
            <a:pPr algn="l"/>
            <a:r>
              <a:rPr sz="3400" b="1">
                <a:solidFill>
                  <a:srgbClr val="E8967A"/>
                </a:solidFill>
                <a:latin typeface="Georgia"/>
              </a:rPr>
              <a:t>Reform Option 1: The 'Corrective Action' Moratorium</a:t>
            </a:r>
          </a:p>
        </p:txBody>
      </p:sp>
      <p:sp>
        <p:nvSpPr>
          <p:cNvPr id="3" name="TextBox 2"/>
          <p:cNvSpPr txBox="1"/>
          <p:nvPr/>
        </p:nvSpPr>
        <p:spPr>
          <a:xfrm>
            <a:off x="731519" y="1424354"/>
            <a:ext cx="10728655" cy="707886"/>
          </a:xfrm>
          <a:prstGeom prst="rect">
            <a:avLst/>
          </a:prstGeom>
          <a:noFill/>
        </p:spPr>
        <p:txBody>
          <a:bodyPr wrap="square">
            <a:spAutoFit/>
          </a:bodyPr>
          <a:lstStyle/>
          <a:p>
            <a:pPr algn="l"/>
            <a:r>
              <a:rPr sz="2000" b="1" dirty="0">
                <a:solidFill>
                  <a:srgbClr val="E3B99E"/>
                </a:solidFill>
                <a:latin typeface="Calibri"/>
              </a:rPr>
              <a:t>If a region misses its emissions targets twice in a row, highway expansion funding is frozen until it has a credible plan to get back on track.</a:t>
            </a:r>
          </a:p>
        </p:txBody>
      </p:sp>
      <p:sp>
        <p:nvSpPr>
          <p:cNvPr id="4" name="TextBox 3"/>
          <p:cNvSpPr txBox="1"/>
          <p:nvPr/>
        </p:nvSpPr>
        <p:spPr>
          <a:xfrm>
            <a:off x="731518" y="2194560"/>
            <a:ext cx="6414869" cy="4663440"/>
          </a:xfrm>
          <a:prstGeom prst="rect">
            <a:avLst/>
          </a:prstGeom>
          <a:noFill/>
        </p:spPr>
        <p:txBody>
          <a:bodyPr wrap="square">
            <a:spAutoFit/>
          </a:bodyPr>
          <a:lstStyle/>
          <a:p>
            <a:pPr>
              <a:lnSpc>
                <a:spcPct val="150000"/>
              </a:lnSpc>
              <a:spcAft>
                <a:spcPts val="600"/>
              </a:spcAft>
            </a:pPr>
            <a:r>
              <a:rPr sz="1800" dirty="0">
                <a:solidFill>
                  <a:srgbClr val="F5E6D3"/>
                </a:solidFill>
                <a:latin typeface="Calibri"/>
              </a:rPr>
              <a:t>•  Modeled on: Colorado's GHG Budget Lock</a:t>
            </a:r>
          </a:p>
          <a:p>
            <a:pPr>
              <a:lnSpc>
                <a:spcPct val="150000"/>
              </a:lnSpc>
              <a:spcAft>
                <a:spcPts val="600"/>
              </a:spcAft>
            </a:pPr>
            <a:r>
              <a:rPr sz="1800" dirty="0">
                <a:solidFill>
                  <a:srgbClr val="F5E6D3"/>
                </a:solidFill>
                <a:latin typeface="Calibri"/>
              </a:rPr>
              <a:t>•  Trigger: Two consecutive planning cycles with missed GHG (greenhouse gas) targets</a:t>
            </a:r>
          </a:p>
          <a:p>
            <a:pPr>
              <a:lnSpc>
                <a:spcPct val="150000"/>
              </a:lnSpc>
              <a:spcAft>
                <a:spcPts val="600"/>
              </a:spcAft>
            </a:pPr>
            <a:r>
              <a:rPr sz="1800" dirty="0">
                <a:solidFill>
                  <a:srgbClr val="F5E6D3"/>
                </a:solidFill>
                <a:latin typeface="Calibri"/>
              </a:rPr>
              <a:t>•  Consequence: No state or federal funds may be spent on projects that add new highway lanes until CARB (California Air Resources Board) certifies a credible Corrective Action Plan</a:t>
            </a:r>
          </a:p>
          <a:p>
            <a:pPr>
              <a:lnSpc>
                <a:spcPct val="150000"/>
              </a:lnSpc>
              <a:spcAft>
                <a:spcPts val="600"/>
              </a:spcAft>
            </a:pPr>
            <a:r>
              <a:rPr sz="1800" dirty="0">
                <a:solidFill>
                  <a:srgbClr val="F5E6D3"/>
                </a:solidFill>
                <a:latin typeface="Calibri"/>
              </a:rPr>
              <a:t>•  Restoration: Funding resumes only when the region demonstrates a binding path back to its 2035 and 2045 targets</a:t>
            </a:r>
          </a:p>
          <a:p>
            <a:pPr>
              <a:lnSpc>
                <a:spcPct val="150000"/>
              </a:lnSpc>
              <a:spcAft>
                <a:spcPts val="600"/>
              </a:spcAft>
            </a:pPr>
            <a:r>
              <a:rPr sz="1800" dirty="0">
                <a:solidFill>
                  <a:srgbClr val="F5E6D3"/>
                </a:solidFill>
                <a:latin typeface="Calibri"/>
              </a:rPr>
              <a:t>•  Political viability: </a:t>
            </a:r>
            <a:r>
              <a:rPr sz="1800" b="1" u="sng" dirty="0">
                <a:solidFill>
                  <a:srgbClr val="F5E6D3"/>
                </a:solidFill>
                <a:latin typeface="Calibri"/>
              </a:rPr>
              <a:t>MODERATE</a:t>
            </a:r>
            <a:r>
              <a:rPr lang="en-US" sz="1800" dirty="0">
                <a:solidFill>
                  <a:srgbClr val="F5E6D3"/>
                </a:solidFill>
                <a:latin typeface="Calibri"/>
              </a:rPr>
              <a:t>: </a:t>
            </a:r>
            <a:r>
              <a:rPr sz="1800" dirty="0">
                <a:solidFill>
                  <a:srgbClr val="F5E6D3"/>
                </a:solidFill>
                <a:latin typeface="Calibri"/>
              </a:rPr>
              <a:t>most feasible near-term option; consequence is a </a:t>
            </a:r>
            <a:r>
              <a:rPr lang="en-US" sz="1800" dirty="0">
                <a:solidFill>
                  <a:srgbClr val="F5E6D3"/>
                </a:solidFill>
                <a:latin typeface="Calibri"/>
              </a:rPr>
              <a:t>VMT </a:t>
            </a:r>
            <a:r>
              <a:rPr sz="1800" dirty="0">
                <a:solidFill>
                  <a:srgbClr val="F5E6D3"/>
                </a:solidFill>
                <a:latin typeface="Calibri"/>
              </a:rPr>
              <a:t>pause, not a permanent cut</a:t>
            </a:r>
          </a:p>
        </p:txBody>
      </p:sp>
      <p:sp>
        <p:nvSpPr>
          <p:cNvPr id="5" name="Rounded Rectangle 4"/>
          <p:cNvSpPr/>
          <p:nvPr/>
        </p:nvSpPr>
        <p:spPr>
          <a:xfrm>
            <a:off x="7772400" y="2560320"/>
            <a:ext cx="3840480" cy="2926080"/>
          </a:xfrm>
          <a:prstGeom prst="roundRect">
            <a:avLst>
              <a:gd name="adj" fmla="val 3000"/>
            </a:avLst>
          </a:prstGeom>
          <a:solidFill>
            <a:srgbClr val="1E4035"/>
          </a:solidFill>
          <a:ln w="19050">
            <a:solidFill>
              <a:srgbClr val="4A9B8E"/>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pPr>
            <a:r>
              <a:rPr sz="1200" i="1">
                <a:solidFill>
                  <a:srgbClr val="4A9B8E"/>
                </a:solidFill>
                <a:latin typeface="Calibri"/>
              </a:rPr>
              <a:t>[DIAGRAM: Flowchart —
Miss target once → Warning
Miss target twice → Corrective Action
→ Funding freeze → CARB review
→ Funding restored]</a:t>
            </a: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914400"/>
          </a:xfrm>
          <a:prstGeom prst="rect">
            <a:avLst/>
          </a:prstGeom>
          <a:noFill/>
        </p:spPr>
        <p:txBody>
          <a:bodyPr wrap="square">
            <a:spAutoFit/>
          </a:bodyPr>
          <a:lstStyle/>
          <a:p>
            <a:pPr algn="l"/>
            <a:r>
              <a:rPr sz="3400" b="1">
                <a:solidFill>
                  <a:srgbClr val="E8967A"/>
                </a:solidFill>
                <a:latin typeface="Georgia"/>
              </a:rPr>
              <a:t>Reform Option 2: The 'VMT Neutral' Investment Rule</a:t>
            </a:r>
          </a:p>
        </p:txBody>
      </p:sp>
      <p:sp>
        <p:nvSpPr>
          <p:cNvPr id="3" name="TextBox 2"/>
          <p:cNvSpPr txBox="1"/>
          <p:nvPr/>
        </p:nvSpPr>
        <p:spPr>
          <a:xfrm>
            <a:off x="731520" y="1452489"/>
            <a:ext cx="10728655" cy="707886"/>
          </a:xfrm>
          <a:prstGeom prst="rect">
            <a:avLst/>
          </a:prstGeom>
          <a:noFill/>
        </p:spPr>
        <p:txBody>
          <a:bodyPr wrap="square">
            <a:spAutoFit/>
          </a:bodyPr>
          <a:lstStyle/>
          <a:p>
            <a:pPr algn="l"/>
            <a:r>
              <a:rPr sz="2000" b="1" dirty="0">
                <a:solidFill>
                  <a:srgbClr val="E3B99E"/>
                </a:solidFill>
                <a:latin typeface="Calibri"/>
              </a:rPr>
              <a:t>Before any highway expansion gets funded, it must prove it won't increase total driving — or fund the alternatives that offset it.</a:t>
            </a:r>
          </a:p>
        </p:txBody>
      </p:sp>
      <p:sp>
        <p:nvSpPr>
          <p:cNvPr id="4" name="TextBox 3"/>
          <p:cNvSpPr txBox="1"/>
          <p:nvPr/>
        </p:nvSpPr>
        <p:spPr>
          <a:xfrm>
            <a:off x="731520" y="2286000"/>
            <a:ext cx="7146388" cy="4283737"/>
          </a:xfrm>
          <a:prstGeom prst="rect">
            <a:avLst/>
          </a:prstGeom>
          <a:noFill/>
        </p:spPr>
        <p:txBody>
          <a:bodyPr wrap="square">
            <a:spAutoFit/>
          </a:bodyPr>
          <a:lstStyle/>
          <a:p>
            <a:pPr>
              <a:lnSpc>
                <a:spcPct val="150000"/>
              </a:lnSpc>
              <a:spcAft>
                <a:spcPts val="600"/>
              </a:spcAft>
            </a:pPr>
            <a:r>
              <a:rPr sz="1700" dirty="0">
                <a:solidFill>
                  <a:srgbClr val="F5E6D3"/>
                </a:solidFill>
                <a:latin typeface="Calibri"/>
              </a:rPr>
              <a:t>•  Modeled on: Minnesota's Capacity Trigger</a:t>
            </a:r>
          </a:p>
          <a:p>
            <a:pPr>
              <a:lnSpc>
                <a:spcPct val="150000"/>
              </a:lnSpc>
              <a:spcAft>
                <a:spcPts val="600"/>
              </a:spcAft>
            </a:pPr>
            <a:r>
              <a:rPr sz="1700" dirty="0">
                <a:solidFill>
                  <a:srgbClr val="F5E6D3"/>
                </a:solidFill>
                <a:latin typeface="Calibri"/>
              </a:rPr>
              <a:t>•  Requirement: Any project adding vehicle capacity must complete a 20-year GHG (greenhouse gas) and VMT (Vehicle Miles Traveled) impact assessment before inclusion in a regional funding program</a:t>
            </a:r>
          </a:p>
          <a:p>
            <a:pPr>
              <a:lnSpc>
                <a:spcPct val="150000"/>
              </a:lnSpc>
              <a:spcAft>
                <a:spcPts val="600"/>
              </a:spcAft>
            </a:pPr>
            <a:r>
              <a:rPr sz="1700" dirty="0">
                <a:solidFill>
                  <a:srgbClr val="F5E6D3"/>
                </a:solidFill>
                <a:latin typeface="Calibri"/>
              </a:rPr>
              <a:t>•  If the assessment shows a net increase in driving, the project sponsor must fund a VMT Mitigation Plan </a:t>
            </a:r>
            <a:r>
              <a:rPr lang="en-US" sz="1700" dirty="0">
                <a:solidFill>
                  <a:srgbClr val="F5E6D3"/>
                </a:solidFill>
                <a:latin typeface="Calibri"/>
              </a:rPr>
              <a:t>(</a:t>
            </a:r>
            <a:r>
              <a:rPr sz="1700" dirty="0">
                <a:solidFill>
                  <a:srgbClr val="F5E6D3"/>
                </a:solidFill>
                <a:latin typeface="Calibri"/>
              </a:rPr>
              <a:t>transit improvements, bike infrastructure, or infill housing</a:t>
            </a:r>
            <a:r>
              <a:rPr lang="en-US" sz="1700" dirty="0">
                <a:solidFill>
                  <a:srgbClr val="F5E6D3"/>
                </a:solidFill>
                <a:latin typeface="Calibri"/>
              </a:rPr>
              <a:t>)</a:t>
            </a:r>
            <a:r>
              <a:rPr sz="1700" dirty="0">
                <a:solidFill>
                  <a:srgbClr val="F5E6D3"/>
                </a:solidFill>
                <a:latin typeface="Calibri"/>
              </a:rPr>
              <a:t> that fully offsets projected 20-year impact</a:t>
            </a:r>
          </a:p>
          <a:p>
            <a:pPr>
              <a:lnSpc>
                <a:spcPct val="150000"/>
              </a:lnSpc>
              <a:spcAft>
                <a:spcPts val="600"/>
              </a:spcAft>
            </a:pPr>
            <a:r>
              <a:rPr sz="1700" dirty="0">
                <a:solidFill>
                  <a:srgbClr val="F5E6D3"/>
                </a:solidFill>
                <a:latin typeface="Calibri"/>
              </a:rPr>
              <a:t>•  In plain English: if you want to widen a highway, you have to pay for the bus lines that absorb the extra demand</a:t>
            </a:r>
          </a:p>
          <a:p>
            <a:pPr>
              <a:lnSpc>
                <a:spcPct val="150000"/>
              </a:lnSpc>
              <a:spcAft>
                <a:spcPts val="600"/>
              </a:spcAft>
            </a:pPr>
            <a:r>
              <a:rPr sz="1700" dirty="0">
                <a:solidFill>
                  <a:srgbClr val="F5E6D3"/>
                </a:solidFill>
                <a:latin typeface="Calibri"/>
              </a:rPr>
              <a:t>•  Political viability: </a:t>
            </a:r>
            <a:r>
              <a:rPr sz="1700" b="1" u="sng" dirty="0">
                <a:solidFill>
                  <a:srgbClr val="F5E6D3"/>
                </a:solidFill>
                <a:latin typeface="Calibri"/>
              </a:rPr>
              <a:t>STRONG</a:t>
            </a:r>
            <a:r>
              <a:rPr lang="en-US" sz="1700" b="1" u="sng" dirty="0">
                <a:solidFill>
                  <a:srgbClr val="F5E6D3"/>
                </a:solidFill>
                <a:latin typeface="Calibri"/>
              </a:rPr>
              <a:t>,</a:t>
            </a:r>
            <a:r>
              <a:rPr sz="1700" dirty="0">
                <a:solidFill>
                  <a:srgbClr val="F5E6D3"/>
                </a:solidFill>
                <a:latin typeface="Calibri"/>
              </a:rPr>
              <a:t> but contested</a:t>
            </a:r>
            <a:r>
              <a:rPr lang="en-US" sz="1700" dirty="0">
                <a:solidFill>
                  <a:srgbClr val="F5E6D3"/>
                </a:solidFill>
                <a:latin typeface="Calibri"/>
              </a:rPr>
              <a:t>: highway</a:t>
            </a:r>
            <a:r>
              <a:rPr sz="1700" dirty="0">
                <a:solidFill>
                  <a:srgbClr val="F5E6D3"/>
                </a:solidFill>
                <a:latin typeface="Calibri"/>
              </a:rPr>
              <a:t> agencies will push back</a:t>
            </a:r>
          </a:p>
        </p:txBody>
      </p:sp>
      <p:sp>
        <p:nvSpPr>
          <p:cNvPr id="5" name="TextBox 4"/>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914400"/>
          </a:xfrm>
          <a:prstGeom prst="rect">
            <a:avLst/>
          </a:prstGeom>
          <a:noFill/>
        </p:spPr>
        <p:txBody>
          <a:bodyPr wrap="square">
            <a:spAutoFit/>
          </a:bodyPr>
          <a:lstStyle/>
          <a:p>
            <a:pPr algn="l"/>
            <a:r>
              <a:rPr sz="3400" b="1" dirty="0">
                <a:solidFill>
                  <a:srgbClr val="E8967A"/>
                </a:solidFill>
                <a:latin typeface="Georgia"/>
              </a:rPr>
              <a:t>Reform Option 3: The 'Climate Floor' Scoring Test</a:t>
            </a:r>
          </a:p>
        </p:txBody>
      </p:sp>
      <p:sp>
        <p:nvSpPr>
          <p:cNvPr id="3" name="TextBox 2"/>
          <p:cNvSpPr txBox="1"/>
          <p:nvPr/>
        </p:nvSpPr>
        <p:spPr>
          <a:xfrm>
            <a:off x="731520" y="1560165"/>
            <a:ext cx="10728655" cy="400110"/>
          </a:xfrm>
          <a:prstGeom prst="rect">
            <a:avLst/>
          </a:prstGeom>
          <a:noFill/>
        </p:spPr>
        <p:txBody>
          <a:bodyPr wrap="square">
            <a:spAutoFit/>
          </a:bodyPr>
          <a:lstStyle/>
          <a:p>
            <a:pPr algn="l"/>
            <a:r>
              <a:rPr sz="2000" b="1" dirty="0">
                <a:solidFill>
                  <a:srgbClr val="E3B99E"/>
                </a:solidFill>
                <a:latin typeface="Calibri"/>
              </a:rPr>
              <a:t>No project that fails a climate performance test should be eligible for state transportation funding</a:t>
            </a:r>
          </a:p>
        </p:txBody>
      </p:sp>
      <p:sp>
        <p:nvSpPr>
          <p:cNvPr id="4" name="TextBox 3"/>
          <p:cNvSpPr txBox="1"/>
          <p:nvPr/>
        </p:nvSpPr>
        <p:spPr>
          <a:xfrm>
            <a:off x="731520" y="2219287"/>
            <a:ext cx="7835705" cy="4501553"/>
          </a:xfrm>
          <a:prstGeom prst="rect">
            <a:avLst/>
          </a:prstGeom>
          <a:noFill/>
        </p:spPr>
        <p:txBody>
          <a:bodyPr wrap="square">
            <a:spAutoFit/>
          </a:bodyPr>
          <a:lstStyle/>
          <a:p>
            <a:pPr>
              <a:lnSpc>
                <a:spcPct val="150000"/>
              </a:lnSpc>
              <a:spcAft>
                <a:spcPts val="600"/>
              </a:spcAft>
            </a:pPr>
            <a:r>
              <a:rPr sz="1600" dirty="0">
                <a:solidFill>
                  <a:srgbClr val="F5E6D3"/>
                </a:solidFill>
                <a:latin typeface="Calibri"/>
              </a:rPr>
              <a:t>•  Modeled on: Virginia's SMART SCALE Scoring + Massachusetts' Enforceable Emission Caps</a:t>
            </a:r>
          </a:p>
          <a:p>
            <a:pPr>
              <a:lnSpc>
                <a:spcPct val="150000"/>
              </a:lnSpc>
              <a:spcAft>
                <a:spcPts val="600"/>
              </a:spcAft>
            </a:pPr>
            <a:r>
              <a:rPr sz="1600" dirty="0">
                <a:solidFill>
                  <a:srgbClr val="F5E6D3"/>
                </a:solidFill>
                <a:latin typeface="Calibri"/>
              </a:rPr>
              <a:t>•  Climate Floor: Any project with a negative net score for VMT (Vehicle Miles Traveled) reduction is automatically ineligible for state funding, regardless of how it scores on other criteria</a:t>
            </a:r>
          </a:p>
          <a:p>
            <a:pPr>
              <a:lnSpc>
                <a:spcPct val="150000"/>
              </a:lnSpc>
              <a:spcAft>
                <a:spcPts val="600"/>
              </a:spcAft>
            </a:pPr>
            <a:r>
              <a:rPr sz="1600" dirty="0">
                <a:solidFill>
                  <a:srgbClr val="F5E6D3"/>
                </a:solidFill>
                <a:latin typeface="Calibri"/>
              </a:rPr>
              <a:t>•  Objective Need Standard: Projects must address a need identified in a statewide assessment — not just a locally-defined traffic throughput goal</a:t>
            </a:r>
          </a:p>
          <a:p>
            <a:pPr>
              <a:lnSpc>
                <a:spcPct val="150000"/>
              </a:lnSpc>
              <a:spcAft>
                <a:spcPts val="600"/>
              </a:spcAft>
            </a:pPr>
            <a:r>
              <a:rPr sz="1600" dirty="0">
                <a:solidFill>
                  <a:srgbClr val="F5E6D3"/>
                </a:solidFill>
                <a:latin typeface="Calibri"/>
              </a:rPr>
              <a:t>•  Multimodal Alternatives Test: For every mobility need identified, at least two non-highway alternatives must be evaluated with the same rigor as the capacity project</a:t>
            </a:r>
          </a:p>
          <a:p>
            <a:pPr>
              <a:lnSpc>
                <a:spcPct val="150000"/>
              </a:lnSpc>
              <a:spcAft>
                <a:spcPts val="600"/>
              </a:spcAft>
            </a:pPr>
            <a:r>
              <a:rPr sz="1600" dirty="0">
                <a:solidFill>
                  <a:srgbClr val="F5E6D3"/>
                </a:solidFill>
                <a:latin typeface="Calibri"/>
              </a:rPr>
              <a:t>•  If a multimodal option scores better on climate, the highway expansion is statutorily ineligible</a:t>
            </a:r>
          </a:p>
          <a:p>
            <a:pPr>
              <a:lnSpc>
                <a:spcPct val="150000"/>
              </a:lnSpc>
              <a:spcAft>
                <a:spcPts val="600"/>
              </a:spcAft>
            </a:pPr>
            <a:r>
              <a:rPr sz="1600" dirty="0">
                <a:solidFill>
                  <a:srgbClr val="F5E6D3"/>
                </a:solidFill>
                <a:latin typeface="Calibri"/>
              </a:rPr>
              <a:t>•  Political viability: TRANSFORMATIVE but faces strongest opposition</a:t>
            </a:r>
          </a:p>
        </p:txBody>
      </p:sp>
      <p:sp>
        <p:nvSpPr>
          <p:cNvPr id="5" name="TextBox 4"/>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914400"/>
          </a:xfrm>
          <a:prstGeom prst="rect">
            <a:avLst/>
          </a:prstGeom>
          <a:noFill/>
        </p:spPr>
        <p:txBody>
          <a:bodyPr wrap="square">
            <a:spAutoFit/>
          </a:bodyPr>
          <a:lstStyle/>
          <a:p>
            <a:pPr algn="l"/>
            <a:r>
              <a:rPr sz="3400" b="1">
                <a:solidFill>
                  <a:srgbClr val="E8967A"/>
                </a:solidFill>
                <a:latin typeface="Georgia"/>
              </a:rPr>
              <a:t>The Stakes: Who Bears the Burden Today</a:t>
            </a:r>
          </a:p>
        </p:txBody>
      </p:sp>
      <p:sp>
        <p:nvSpPr>
          <p:cNvPr id="3" name="TextBox 2"/>
          <p:cNvSpPr txBox="1"/>
          <p:nvPr/>
        </p:nvSpPr>
        <p:spPr>
          <a:xfrm>
            <a:off x="731520" y="994410"/>
            <a:ext cx="10728655" cy="707886"/>
          </a:xfrm>
          <a:prstGeom prst="rect">
            <a:avLst/>
          </a:prstGeom>
          <a:noFill/>
        </p:spPr>
        <p:txBody>
          <a:bodyPr wrap="square">
            <a:spAutoFit/>
          </a:bodyPr>
          <a:lstStyle/>
          <a:p>
            <a:pPr algn="l"/>
            <a:r>
              <a:rPr sz="2000" b="1" dirty="0">
                <a:solidFill>
                  <a:srgbClr val="F5E6D3"/>
                </a:solidFill>
                <a:latin typeface="Calibri"/>
              </a:rPr>
              <a:t>The communities closest to California's busiest freeways face </a:t>
            </a:r>
            <a:r>
              <a:rPr lang="en-US" sz="2000" b="1" dirty="0">
                <a:solidFill>
                  <a:srgbClr val="F5E6D3"/>
                </a:solidFill>
                <a:latin typeface="Calibri"/>
              </a:rPr>
              <a:t>some of </a:t>
            </a:r>
            <a:r>
              <a:rPr sz="2000" b="1" dirty="0">
                <a:solidFill>
                  <a:srgbClr val="F5E6D3"/>
                </a:solidFill>
                <a:latin typeface="Calibri"/>
              </a:rPr>
              <a:t>the worst air quality, the highest emissions exposure, and the fewest transportation alternatives.</a:t>
            </a:r>
          </a:p>
        </p:txBody>
      </p:sp>
      <p:sp>
        <p:nvSpPr>
          <p:cNvPr id="4" name="TextBox 3"/>
          <p:cNvSpPr txBox="1"/>
          <p:nvPr/>
        </p:nvSpPr>
        <p:spPr>
          <a:xfrm>
            <a:off x="731519" y="1936867"/>
            <a:ext cx="6572360" cy="4845942"/>
          </a:xfrm>
          <a:prstGeom prst="rect">
            <a:avLst/>
          </a:prstGeom>
          <a:noFill/>
        </p:spPr>
        <p:txBody>
          <a:bodyPr wrap="square">
            <a:spAutoFit/>
          </a:bodyPr>
          <a:lstStyle/>
          <a:p>
            <a:pPr>
              <a:lnSpc>
                <a:spcPct val="150000"/>
              </a:lnSpc>
              <a:spcAft>
                <a:spcPts val="600"/>
              </a:spcAft>
            </a:pPr>
            <a:r>
              <a:rPr sz="2000" dirty="0">
                <a:solidFill>
                  <a:srgbClr val="F5E6D3"/>
                </a:solidFill>
                <a:latin typeface="Calibri"/>
              </a:rPr>
              <a:t>•  309 hotspots</a:t>
            </a:r>
            <a:r>
              <a:rPr lang="en-US" sz="2000" dirty="0">
                <a:solidFill>
                  <a:srgbClr val="F5E6D3"/>
                </a:solidFill>
                <a:latin typeface="Calibri"/>
              </a:rPr>
              <a:t> census tracts: </a:t>
            </a:r>
            <a:r>
              <a:rPr sz="2000" dirty="0">
                <a:solidFill>
                  <a:srgbClr val="F5E6D3"/>
                </a:solidFill>
                <a:latin typeface="Calibri"/>
              </a:rPr>
              <a:t>high VMT and high pollution burden</a:t>
            </a:r>
            <a:endParaRPr lang="en-US" sz="2000" dirty="0">
              <a:solidFill>
                <a:srgbClr val="F5E6D3"/>
              </a:solidFill>
              <a:latin typeface="Calibri"/>
            </a:endParaRPr>
          </a:p>
          <a:p>
            <a:pPr>
              <a:lnSpc>
                <a:spcPct val="150000"/>
              </a:lnSpc>
              <a:spcAft>
                <a:spcPts val="600"/>
              </a:spcAft>
            </a:pPr>
            <a:endParaRPr sz="1400" dirty="0">
              <a:solidFill>
                <a:srgbClr val="F5E6D3"/>
              </a:solidFill>
              <a:latin typeface="Calibri"/>
            </a:endParaRPr>
          </a:p>
          <a:p>
            <a:pPr>
              <a:lnSpc>
                <a:spcPct val="150000"/>
              </a:lnSpc>
              <a:spcAft>
                <a:spcPts val="600"/>
              </a:spcAft>
            </a:pPr>
            <a:r>
              <a:rPr sz="2000" dirty="0">
                <a:solidFill>
                  <a:srgbClr val="F5E6D3"/>
                </a:solidFill>
                <a:latin typeface="Calibri"/>
              </a:rPr>
              <a:t>•  I-710, I-105, SR-99, and I-80 </a:t>
            </a:r>
            <a:r>
              <a:rPr lang="en-US" sz="2000" dirty="0">
                <a:solidFill>
                  <a:srgbClr val="F5E6D3"/>
                </a:solidFill>
                <a:latin typeface="Calibri"/>
              </a:rPr>
              <a:t>corridors</a:t>
            </a:r>
          </a:p>
          <a:p>
            <a:pPr>
              <a:lnSpc>
                <a:spcPct val="150000"/>
              </a:lnSpc>
              <a:spcAft>
                <a:spcPts val="600"/>
              </a:spcAft>
            </a:pPr>
            <a:endParaRPr lang="en-US" sz="1400" dirty="0">
              <a:solidFill>
                <a:srgbClr val="F5E6D3"/>
              </a:solidFill>
              <a:latin typeface="Calibri"/>
            </a:endParaRPr>
          </a:p>
          <a:p>
            <a:pPr>
              <a:lnSpc>
                <a:spcPct val="150000"/>
              </a:lnSpc>
              <a:spcAft>
                <a:spcPts val="600"/>
              </a:spcAft>
            </a:pPr>
            <a:r>
              <a:rPr sz="2000" dirty="0">
                <a:solidFill>
                  <a:srgbClr val="F5E6D3"/>
                </a:solidFill>
                <a:latin typeface="Calibri"/>
              </a:rPr>
              <a:t>•  Central </a:t>
            </a:r>
            <a:r>
              <a:rPr lang="en-US" sz="2000" dirty="0">
                <a:solidFill>
                  <a:srgbClr val="F5E6D3"/>
                </a:solidFill>
                <a:latin typeface="Calibri"/>
              </a:rPr>
              <a:t>Valley: </a:t>
            </a:r>
            <a:r>
              <a:rPr sz="2000" dirty="0">
                <a:solidFill>
                  <a:srgbClr val="F5E6D3"/>
                </a:solidFill>
                <a:latin typeface="Calibri"/>
              </a:rPr>
              <a:t>lower per-capita VMT but concentrated freight and agricultural traffic exposure</a:t>
            </a:r>
            <a:endParaRPr lang="en-US" sz="2000" dirty="0">
              <a:solidFill>
                <a:srgbClr val="F5E6D3"/>
              </a:solidFill>
              <a:latin typeface="Calibri"/>
            </a:endParaRPr>
          </a:p>
          <a:p>
            <a:pPr>
              <a:lnSpc>
                <a:spcPct val="150000"/>
              </a:lnSpc>
              <a:spcAft>
                <a:spcPts val="600"/>
              </a:spcAft>
            </a:pPr>
            <a:endParaRPr sz="1400" dirty="0">
              <a:solidFill>
                <a:srgbClr val="F5E6D3"/>
              </a:solidFill>
              <a:latin typeface="Calibri"/>
            </a:endParaRPr>
          </a:p>
          <a:p>
            <a:pPr>
              <a:lnSpc>
                <a:spcPct val="150000"/>
              </a:lnSpc>
              <a:spcAft>
                <a:spcPts val="600"/>
              </a:spcAft>
            </a:pPr>
            <a:r>
              <a:rPr sz="2000" dirty="0">
                <a:solidFill>
                  <a:srgbClr val="F5E6D3"/>
                </a:solidFill>
                <a:latin typeface="Calibri"/>
              </a:rPr>
              <a:t>•  Reformed investment</a:t>
            </a:r>
            <a:r>
              <a:rPr lang="en-US" sz="2000" dirty="0">
                <a:solidFill>
                  <a:srgbClr val="F5E6D3"/>
                </a:solidFill>
                <a:latin typeface="Calibri"/>
              </a:rPr>
              <a:t>: </a:t>
            </a:r>
            <a:r>
              <a:rPr sz="2000" dirty="0">
                <a:solidFill>
                  <a:srgbClr val="F5E6D3"/>
                </a:solidFill>
                <a:latin typeface="Calibri"/>
              </a:rPr>
              <a:t>transit, walking infrastructure, infill housing</a:t>
            </a: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11</a:t>
            </a:r>
          </a:p>
        </p:txBody>
      </p:sp>
      <p:pic>
        <p:nvPicPr>
          <p:cNvPr id="7" name="Picture 6">
            <a:extLst>
              <a:ext uri="{FF2B5EF4-FFF2-40B4-BE49-F238E27FC236}">
                <a16:creationId xmlns:a16="http://schemas.microsoft.com/office/drawing/2014/main" id="{7F8A7E5D-2B5E-3036-8952-4F39B0271CE5}"/>
              </a:ext>
            </a:extLst>
          </p:cNvPr>
          <p:cNvPicPr>
            <a:picLocks noChangeAspect="1"/>
          </p:cNvPicPr>
          <p:nvPr/>
        </p:nvPicPr>
        <p:blipFill>
          <a:blip r:embed="rId3"/>
          <a:stretch>
            <a:fillRect/>
          </a:stretch>
        </p:blipFill>
        <p:spPr>
          <a:xfrm>
            <a:off x="7463102" y="1751372"/>
            <a:ext cx="4522056" cy="50314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lang="en-US" sz="3400" b="1" dirty="0">
                <a:solidFill>
                  <a:srgbClr val="E8967A"/>
                </a:solidFill>
                <a:latin typeface="Georgia"/>
              </a:rPr>
              <a:t>Future Outlook</a:t>
            </a:r>
            <a:endParaRPr sz="3400" b="1" dirty="0">
              <a:solidFill>
                <a:srgbClr val="E8967A"/>
              </a:solidFill>
              <a:latin typeface="Georgia"/>
            </a:endParaRPr>
          </a:p>
        </p:txBody>
      </p:sp>
      <p:sp>
        <p:nvSpPr>
          <p:cNvPr id="3" name="TextBox 2"/>
          <p:cNvSpPr txBox="1"/>
          <p:nvPr/>
        </p:nvSpPr>
        <p:spPr>
          <a:xfrm>
            <a:off x="731519" y="1113579"/>
            <a:ext cx="10728655" cy="830997"/>
          </a:xfrm>
          <a:prstGeom prst="rect">
            <a:avLst/>
          </a:prstGeom>
          <a:noFill/>
        </p:spPr>
        <p:txBody>
          <a:bodyPr wrap="square">
            <a:spAutoFit/>
          </a:bodyPr>
          <a:lstStyle/>
          <a:p>
            <a:pPr algn="l"/>
            <a:r>
              <a:rPr lang="en-US" sz="2400" b="1" dirty="0">
                <a:solidFill>
                  <a:srgbClr val="F5E6D3"/>
                </a:solidFill>
                <a:latin typeface="Calibri"/>
              </a:rPr>
              <a:t>We’re not on track to reach our</a:t>
            </a:r>
            <a:r>
              <a:rPr sz="2400" b="1" dirty="0">
                <a:solidFill>
                  <a:srgbClr val="F5E6D3"/>
                </a:solidFill>
                <a:latin typeface="Calibri"/>
              </a:rPr>
              <a:t> </a:t>
            </a:r>
            <a:r>
              <a:rPr lang="en-US" sz="2400" b="1" dirty="0">
                <a:solidFill>
                  <a:srgbClr val="F5E6D3"/>
                </a:solidFill>
                <a:latin typeface="Calibri"/>
              </a:rPr>
              <a:t>VMT reduction</a:t>
            </a:r>
            <a:r>
              <a:rPr sz="2400" b="1" dirty="0">
                <a:solidFill>
                  <a:srgbClr val="F5E6D3"/>
                </a:solidFill>
                <a:latin typeface="Calibri"/>
              </a:rPr>
              <a:t> targets.</a:t>
            </a:r>
            <a:endParaRPr lang="en-US" sz="2400" b="1" dirty="0">
              <a:solidFill>
                <a:srgbClr val="F5E6D3"/>
              </a:solidFill>
              <a:latin typeface="Calibri"/>
            </a:endParaRPr>
          </a:p>
          <a:p>
            <a:pPr algn="l"/>
            <a:r>
              <a:rPr lang="en-US" sz="2400" b="1" dirty="0">
                <a:solidFill>
                  <a:srgbClr val="F5E6D3"/>
                </a:solidFill>
                <a:latin typeface="Calibri"/>
              </a:rPr>
              <a:t>We can change course.</a:t>
            </a:r>
            <a:endParaRPr sz="2400" b="1" dirty="0">
              <a:solidFill>
                <a:srgbClr val="F5E6D3"/>
              </a:solidFill>
              <a:latin typeface="Calibri"/>
            </a:endParaRPr>
          </a:p>
        </p:txBody>
      </p:sp>
      <p:sp>
        <p:nvSpPr>
          <p:cNvPr id="4" name="Rounded Rectangle 3"/>
          <p:cNvSpPr/>
          <p:nvPr/>
        </p:nvSpPr>
        <p:spPr>
          <a:xfrm>
            <a:off x="792327" y="2286000"/>
            <a:ext cx="5120640" cy="393192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20927" y="2468880"/>
            <a:ext cx="4663440" cy="523220"/>
          </a:xfrm>
          <a:prstGeom prst="rect">
            <a:avLst/>
          </a:prstGeom>
          <a:noFill/>
        </p:spPr>
        <p:txBody>
          <a:bodyPr wrap="square">
            <a:spAutoFit/>
          </a:bodyPr>
          <a:lstStyle/>
          <a:p>
            <a:pPr algn="l"/>
            <a:r>
              <a:rPr sz="2800" b="1" dirty="0">
                <a:solidFill>
                  <a:srgbClr val="E8967A"/>
                </a:solidFill>
                <a:latin typeface="Calibri"/>
              </a:rPr>
              <a:t>The </a:t>
            </a:r>
            <a:r>
              <a:rPr lang="en-US" sz="2800" b="1" dirty="0">
                <a:solidFill>
                  <a:srgbClr val="E8967A"/>
                </a:solidFill>
                <a:latin typeface="Calibri"/>
              </a:rPr>
              <a:t>Gap</a:t>
            </a:r>
            <a:endParaRPr sz="2800" b="1" dirty="0">
              <a:solidFill>
                <a:srgbClr val="E8967A"/>
              </a:solidFill>
              <a:latin typeface="Calibri"/>
            </a:endParaRPr>
          </a:p>
        </p:txBody>
      </p:sp>
      <p:sp>
        <p:nvSpPr>
          <p:cNvPr id="6" name="TextBox 5"/>
          <p:cNvSpPr txBox="1"/>
          <p:nvPr/>
        </p:nvSpPr>
        <p:spPr>
          <a:xfrm>
            <a:off x="1020927" y="3429000"/>
            <a:ext cx="4663440" cy="1938992"/>
          </a:xfrm>
          <a:prstGeom prst="rect">
            <a:avLst/>
          </a:prstGeom>
          <a:noFill/>
        </p:spPr>
        <p:txBody>
          <a:bodyPr wrap="square">
            <a:spAutoFit/>
          </a:bodyPr>
          <a:lstStyle/>
          <a:p>
            <a:pPr>
              <a:spcAft>
                <a:spcPts val="400"/>
              </a:spcAft>
            </a:pPr>
            <a:r>
              <a:rPr sz="2400" dirty="0">
                <a:solidFill>
                  <a:srgbClr val="F5E6D3"/>
                </a:solidFill>
                <a:latin typeface="Calibri"/>
              </a:rPr>
              <a:t>California's climate targets require structural changes to land use, transit investment, and pricing that go well beyond any single </a:t>
            </a:r>
            <a:r>
              <a:rPr lang="en-US" sz="2400" dirty="0">
                <a:solidFill>
                  <a:srgbClr val="F5E6D3"/>
                </a:solidFill>
                <a:latin typeface="Calibri"/>
              </a:rPr>
              <a:t>legislation</a:t>
            </a:r>
            <a:r>
              <a:rPr sz="2400" dirty="0">
                <a:solidFill>
                  <a:srgbClr val="F5E6D3"/>
                </a:solidFill>
                <a:latin typeface="Calibri"/>
              </a:rPr>
              <a:t>.</a:t>
            </a:r>
          </a:p>
        </p:txBody>
      </p:sp>
      <p:sp>
        <p:nvSpPr>
          <p:cNvPr id="7" name="Rounded Rectangle 6"/>
          <p:cNvSpPr/>
          <p:nvPr/>
        </p:nvSpPr>
        <p:spPr>
          <a:xfrm>
            <a:off x="6278727" y="2286000"/>
            <a:ext cx="5120640" cy="393192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07327" y="2468880"/>
            <a:ext cx="4663440" cy="523220"/>
          </a:xfrm>
          <a:prstGeom prst="rect">
            <a:avLst/>
          </a:prstGeom>
          <a:noFill/>
        </p:spPr>
        <p:txBody>
          <a:bodyPr wrap="square">
            <a:spAutoFit/>
          </a:bodyPr>
          <a:lstStyle/>
          <a:p>
            <a:pPr algn="l"/>
            <a:r>
              <a:rPr sz="2800" b="1" dirty="0">
                <a:solidFill>
                  <a:srgbClr val="4A9B8E"/>
                </a:solidFill>
                <a:latin typeface="Calibri"/>
              </a:rPr>
              <a:t>The Ask</a:t>
            </a:r>
          </a:p>
        </p:txBody>
      </p:sp>
      <p:sp>
        <p:nvSpPr>
          <p:cNvPr id="9" name="TextBox 8"/>
          <p:cNvSpPr txBox="1"/>
          <p:nvPr/>
        </p:nvSpPr>
        <p:spPr>
          <a:xfrm>
            <a:off x="6507326" y="2968848"/>
            <a:ext cx="4892041" cy="3252172"/>
          </a:xfrm>
          <a:prstGeom prst="rect">
            <a:avLst/>
          </a:prstGeom>
          <a:noFill/>
        </p:spPr>
        <p:txBody>
          <a:bodyPr wrap="square">
            <a:spAutoFit/>
          </a:bodyPr>
          <a:lstStyle/>
          <a:p>
            <a:pPr>
              <a:spcAft>
                <a:spcPts val="400"/>
              </a:spcAft>
            </a:pPr>
            <a:r>
              <a:rPr sz="2400" dirty="0">
                <a:solidFill>
                  <a:srgbClr val="F5E6D3"/>
                </a:solidFill>
                <a:latin typeface="Calibri"/>
              </a:rPr>
              <a:t>NRDC: Deploy three-scenario framework</a:t>
            </a:r>
            <a:r>
              <a:rPr lang="en-US" sz="2400" dirty="0">
                <a:solidFill>
                  <a:srgbClr val="F5E6D3"/>
                </a:solidFill>
                <a:latin typeface="Calibri"/>
              </a:rPr>
              <a:t>s</a:t>
            </a:r>
            <a:r>
              <a:rPr sz="2400" dirty="0">
                <a:solidFill>
                  <a:srgbClr val="F5E6D3"/>
                </a:solidFill>
                <a:latin typeface="Calibri"/>
              </a:rPr>
              <a:t> in </a:t>
            </a:r>
            <a:r>
              <a:rPr lang="en-US" sz="2400" dirty="0">
                <a:solidFill>
                  <a:srgbClr val="F5E6D3"/>
                </a:solidFill>
                <a:latin typeface="Calibri"/>
              </a:rPr>
              <a:t>legislative advocacy.</a:t>
            </a:r>
          </a:p>
          <a:p>
            <a:pPr>
              <a:spcAft>
                <a:spcPts val="400"/>
              </a:spcAft>
            </a:pPr>
            <a:endParaRPr sz="1200" dirty="0">
              <a:solidFill>
                <a:srgbClr val="F5E6D3"/>
              </a:solidFill>
              <a:latin typeface="Calibri"/>
            </a:endParaRPr>
          </a:p>
          <a:p>
            <a:pPr>
              <a:spcAft>
                <a:spcPts val="400"/>
              </a:spcAft>
            </a:pPr>
            <a:r>
              <a:rPr sz="2400" dirty="0">
                <a:solidFill>
                  <a:srgbClr val="F5E6D3"/>
                </a:solidFill>
                <a:latin typeface="Calibri"/>
              </a:rPr>
              <a:t>California: VMT accountability language</a:t>
            </a:r>
            <a:r>
              <a:rPr lang="en-US" sz="2400" dirty="0">
                <a:solidFill>
                  <a:srgbClr val="F5E6D3"/>
                </a:solidFill>
                <a:latin typeface="Calibri"/>
              </a:rPr>
              <a:t>.</a:t>
            </a:r>
          </a:p>
          <a:p>
            <a:pPr>
              <a:spcAft>
                <a:spcPts val="400"/>
              </a:spcAft>
            </a:pPr>
            <a:endParaRPr sz="1200" dirty="0">
              <a:solidFill>
                <a:srgbClr val="F5E6D3"/>
              </a:solidFill>
              <a:latin typeface="Calibri"/>
            </a:endParaRPr>
          </a:p>
          <a:p>
            <a:pPr>
              <a:spcAft>
                <a:spcPts val="400"/>
              </a:spcAft>
            </a:pPr>
            <a:r>
              <a:rPr lang="en-US" sz="2400" dirty="0">
                <a:solidFill>
                  <a:srgbClr val="F5E6D3"/>
                </a:solidFill>
                <a:latin typeface="Calibri"/>
              </a:rPr>
              <a:t>Transportation Planners</a:t>
            </a:r>
            <a:r>
              <a:rPr sz="2400" dirty="0">
                <a:solidFill>
                  <a:srgbClr val="F5E6D3"/>
                </a:solidFill>
                <a:latin typeface="Calibri"/>
              </a:rPr>
              <a:t>: Plans are not investments. Investments are investments.</a:t>
            </a:r>
          </a:p>
        </p:txBody>
      </p:sp>
      <p:sp>
        <p:nvSpPr>
          <p:cNvPr id="10" name="TextBox 9"/>
          <p:cNvSpPr txBox="1"/>
          <p:nvPr/>
        </p:nvSpPr>
        <p:spPr>
          <a:xfrm>
            <a:off x="11277295" y="6446520"/>
            <a:ext cx="548640" cy="274320"/>
          </a:xfrm>
          <a:prstGeom prst="rect">
            <a:avLst/>
          </a:prstGeom>
          <a:noFill/>
        </p:spPr>
        <p:txBody>
          <a:bodyPr wrap="square">
            <a:spAutoFit/>
          </a:bodyPr>
          <a:lstStyle/>
          <a:p>
            <a:pPr algn="r"/>
            <a:r>
              <a:rPr sz="1100" b="0">
                <a:solidFill>
                  <a:srgbClr val="4A9B8E"/>
                </a:solidFill>
                <a:latin typeface="Calibri"/>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A complex highway interchange at dusk with streaking car ...">
            <a:extLst>
              <a:ext uri="{FF2B5EF4-FFF2-40B4-BE49-F238E27FC236}">
                <a16:creationId xmlns:a16="http://schemas.microsoft.com/office/drawing/2014/main" id="{3C757544-9242-96CD-E367-91AFB4AA0568}"/>
              </a:ext>
            </a:extLst>
          </p:cNvPr>
          <p:cNvPicPr>
            <a:picLocks noChangeAspect="1" noChangeArrowheads="1"/>
          </p:cNvPicPr>
          <p:nvPr/>
        </p:nvPicPr>
        <p:blipFill>
          <a:blip r:embed="rId2">
            <a:alphaModFix amt="21000"/>
            <a:extLst>
              <a:ext uri="{28A0092B-C50C-407E-A947-70E740481C1C}">
                <a14:useLocalDpi xmlns:a14="http://schemas.microsoft.com/office/drawing/2010/main" val="0"/>
              </a:ext>
            </a:extLst>
          </a:blip>
          <a:srcRect/>
          <a:stretch>
            <a:fillRect/>
          </a:stretch>
        </p:blipFill>
        <p:spPr bwMode="auto">
          <a:xfrm>
            <a:off x="1235153" y="-18794"/>
            <a:ext cx="9721693" cy="6804923"/>
          </a:xfrm>
          <a:prstGeom prst="ellipse">
            <a:avLst/>
          </a:prstGeom>
          <a:noFill/>
          <a:extLst>
            <a:ext uri="{909E8E84-426E-40DD-AFC4-6F175D3DCCD1}">
              <a14:hiddenFill xmlns:a14="http://schemas.microsoft.com/office/drawing/2010/main">
                <a:solidFill>
                  <a:srgbClr val="FFFFFF"/>
                </a:solidFill>
              </a14:hiddenFill>
            </a:ext>
          </a:extLst>
        </p:spPr>
      </p:pic>
      <p:sp>
        <p:nvSpPr>
          <p:cNvPr id="2" name="Text 0">
            <a:extLst>
              <a:ext uri="{FF2B5EF4-FFF2-40B4-BE49-F238E27FC236}">
                <a16:creationId xmlns:a16="http://schemas.microsoft.com/office/drawing/2014/main" id="{969B7A10-FC1E-411A-7C21-6A134CDA2251}"/>
              </a:ext>
            </a:extLst>
          </p:cNvPr>
          <p:cNvSpPr/>
          <p:nvPr/>
        </p:nvSpPr>
        <p:spPr>
          <a:xfrm>
            <a:off x="1948543" y="166223"/>
            <a:ext cx="8294914" cy="712088"/>
          </a:xfrm>
          <a:prstGeom prst="rect">
            <a:avLst/>
          </a:prstGeom>
          <a:noFill/>
          <a:ln/>
        </p:spPr>
        <p:txBody>
          <a:bodyPr wrap="square" lIns="0" tIns="0" rIns="0" bIns="0" rtlCol="0" anchor="ctr"/>
          <a:lstStyle/>
          <a:p>
            <a:pPr algn="ctr">
              <a:lnSpc>
                <a:spcPts val="3333"/>
              </a:lnSpc>
            </a:pPr>
            <a:r>
              <a:rPr lang="en-US" sz="5000" b="1" dirty="0">
                <a:solidFill>
                  <a:srgbClr val="E8967A"/>
                </a:solidFill>
                <a:latin typeface="Georgia" panose="02040502050405020303" pitchFamily="18" charset="0"/>
                <a:ea typeface="Quattrocento" pitchFamily="34" charset="-122"/>
                <a:cs typeface="Quattrocento" pitchFamily="34" charset="-120"/>
              </a:rPr>
              <a:t>Recommendations &amp; Ask</a:t>
            </a:r>
            <a:endParaRPr lang="en-US" sz="5000" b="1" dirty="0">
              <a:solidFill>
                <a:srgbClr val="E8967A"/>
              </a:solidFill>
              <a:latin typeface="Georgia" panose="02040502050405020303" pitchFamily="18" charset="0"/>
            </a:endParaRPr>
          </a:p>
        </p:txBody>
      </p:sp>
      <p:grpSp>
        <p:nvGrpSpPr>
          <p:cNvPr id="36" name="Group 35">
            <a:extLst>
              <a:ext uri="{FF2B5EF4-FFF2-40B4-BE49-F238E27FC236}">
                <a16:creationId xmlns:a16="http://schemas.microsoft.com/office/drawing/2014/main" id="{E854EB4D-2F35-B001-2E7A-4E3BF128259E}"/>
              </a:ext>
            </a:extLst>
          </p:cNvPr>
          <p:cNvGrpSpPr/>
          <p:nvPr/>
        </p:nvGrpSpPr>
        <p:grpSpPr>
          <a:xfrm>
            <a:off x="161182" y="900912"/>
            <a:ext cx="3903883" cy="2922191"/>
            <a:chOff x="295816" y="1103239"/>
            <a:chExt cx="4349612" cy="3213217"/>
          </a:xfrm>
        </p:grpSpPr>
        <p:sp>
          <p:nvSpPr>
            <p:cNvPr id="4" name="Shape 2">
              <a:extLst>
                <a:ext uri="{FF2B5EF4-FFF2-40B4-BE49-F238E27FC236}">
                  <a16:creationId xmlns:a16="http://schemas.microsoft.com/office/drawing/2014/main" id="{7D3AF978-9594-37CF-C16C-4E49C916CD80}"/>
                </a:ext>
              </a:extLst>
            </p:cNvPr>
            <p:cNvSpPr/>
            <p:nvPr/>
          </p:nvSpPr>
          <p:spPr>
            <a:xfrm>
              <a:off x="295816" y="1103239"/>
              <a:ext cx="4349612" cy="3213217"/>
            </a:xfrm>
            <a:prstGeom prst="roundRect">
              <a:avLst/>
            </a:prstGeom>
            <a:solidFill>
              <a:srgbClr val="315251"/>
            </a:solidFill>
            <a:ln/>
          </p:spPr>
          <p:txBody>
            <a:bodyPr/>
            <a:lstStyle/>
            <a:p>
              <a:endParaRPr lang="en-US" sz="1500"/>
            </a:p>
          </p:txBody>
        </p:sp>
        <p:sp>
          <p:nvSpPr>
            <p:cNvPr id="13" name="Text 4">
              <a:extLst>
                <a:ext uri="{FF2B5EF4-FFF2-40B4-BE49-F238E27FC236}">
                  <a16:creationId xmlns:a16="http://schemas.microsoft.com/office/drawing/2014/main" id="{3F0F7C17-9142-3A4C-0D1B-64E6BF8FF661}"/>
                </a:ext>
              </a:extLst>
            </p:cNvPr>
            <p:cNvSpPr/>
            <p:nvPr/>
          </p:nvSpPr>
          <p:spPr>
            <a:xfrm>
              <a:off x="501114" y="2253064"/>
              <a:ext cx="2417694" cy="276275"/>
            </a:xfrm>
            <a:prstGeom prst="rect">
              <a:avLst/>
            </a:prstGeom>
            <a:noFill/>
            <a:ln/>
          </p:spPr>
          <p:txBody>
            <a:bodyPr wrap="none" lIns="0" tIns="0" rIns="0" bIns="0" rtlCol="0" anchor="t"/>
            <a:lstStyle/>
            <a:p>
              <a:pPr>
                <a:lnSpc>
                  <a:spcPts val="1667"/>
                </a:lnSpc>
              </a:pPr>
              <a:r>
                <a:rPr lang="en-US" sz="2400" b="1" dirty="0">
                  <a:solidFill>
                    <a:srgbClr val="F9EEE7"/>
                  </a:solidFill>
                  <a:latin typeface="Quattrocento" pitchFamily="34" charset="0"/>
                  <a:ea typeface="Quattrocento" pitchFamily="34" charset="-122"/>
                  <a:cs typeface="Quattrocento" pitchFamily="34" charset="-120"/>
                </a:rPr>
                <a:t>NRDC</a:t>
              </a:r>
              <a:endParaRPr lang="en-US" sz="2400" b="1" dirty="0"/>
            </a:p>
          </p:txBody>
        </p:sp>
        <p:sp>
          <p:nvSpPr>
            <p:cNvPr id="14" name="Text 5">
              <a:extLst>
                <a:ext uri="{FF2B5EF4-FFF2-40B4-BE49-F238E27FC236}">
                  <a16:creationId xmlns:a16="http://schemas.microsoft.com/office/drawing/2014/main" id="{3ECFA72C-969C-4EB8-CAB9-2BE91E11D7E6}"/>
                </a:ext>
              </a:extLst>
            </p:cNvPr>
            <p:cNvSpPr/>
            <p:nvPr/>
          </p:nvSpPr>
          <p:spPr>
            <a:xfrm>
              <a:off x="501255" y="2570522"/>
              <a:ext cx="3938735" cy="1219607"/>
            </a:xfrm>
            <a:prstGeom prst="rect">
              <a:avLst/>
            </a:prstGeom>
            <a:noFill/>
            <a:ln/>
          </p:spPr>
          <p:txBody>
            <a:bodyPr wrap="square" lIns="0" tIns="0" rIns="0" bIns="0" rtlCol="0" anchor="t"/>
            <a:lstStyle/>
            <a:p>
              <a:r>
                <a:rPr lang="en-US" sz="2200" dirty="0">
                  <a:solidFill>
                    <a:srgbClr val="F3CABC"/>
                  </a:solidFill>
                  <a:latin typeface="Quattrocento" panose="02020502030000000404" pitchFamily="18" charset="0"/>
                </a:rPr>
                <a:t>Deploy the three-scenario framework and dashboard in legislative advocacy</a:t>
              </a:r>
            </a:p>
          </p:txBody>
        </p:sp>
      </p:grpSp>
      <p:grpSp>
        <p:nvGrpSpPr>
          <p:cNvPr id="34" name="Group 33">
            <a:extLst>
              <a:ext uri="{FF2B5EF4-FFF2-40B4-BE49-F238E27FC236}">
                <a16:creationId xmlns:a16="http://schemas.microsoft.com/office/drawing/2014/main" id="{9BCEC3BB-0DC5-6ADE-CD66-D9AF1302076A}"/>
              </a:ext>
            </a:extLst>
          </p:cNvPr>
          <p:cNvGrpSpPr/>
          <p:nvPr/>
        </p:nvGrpSpPr>
        <p:grpSpPr>
          <a:xfrm>
            <a:off x="4169714" y="3823102"/>
            <a:ext cx="3903883" cy="2983017"/>
            <a:chOff x="295675" y="4559151"/>
            <a:chExt cx="4349753" cy="3213217"/>
          </a:xfrm>
        </p:grpSpPr>
        <p:sp>
          <p:nvSpPr>
            <p:cNvPr id="6" name="Shape 6">
              <a:extLst>
                <a:ext uri="{FF2B5EF4-FFF2-40B4-BE49-F238E27FC236}">
                  <a16:creationId xmlns:a16="http://schemas.microsoft.com/office/drawing/2014/main" id="{81DA1B0E-287D-C7E3-53E0-5BEBCEA9ACDA}"/>
                </a:ext>
              </a:extLst>
            </p:cNvPr>
            <p:cNvSpPr/>
            <p:nvPr/>
          </p:nvSpPr>
          <p:spPr>
            <a:xfrm>
              <a:off x="295675" y="4559151"/>
              <a:ext cx="4349753" cy="3213217"/>
            </a:xfrm>
            <a:prstGeom prst="roundRect">
              <a:avLst/>
            </a:prstGeom>
            <a:solidFill>
              <a:srgbClr val="315251"/>
            </a:solidFill>
            <a:ln/>
          </p:spPr>
          <p:txBody>
            <a:bodyPr/>
            <a:lstStyle/>
            <a:p>
              <a:endParaRPr lang="en-US" sz="1500"/>
            </a:p>
          </p:txBody>
        </p:sp>
        <p:sp>
          <p:nvSpPr>
            <p:cNvPr id="16" name="Text 8">
              <a:extLst>
                <a:ext uri="{FF2B5EF4-FFF2-40B4-BE49-F238E27FC236}">
                  <a16:creationId xmlns:a16="http://schemas.microsoft.com/office/drawing/2014/main" id="{2B4299B4-4681-2C5A-B04D-F29988DD48B5}"/>
                </a:ext>
              </a:extLst>
            </p:cNvPr>
            <p:cNvSpPr/>
            <p:nvPr/>
          </p:nvSpPr>
          <p:spPr>
            <a:xfrm>
              <a:off x="501115" y="5678596"/>
              <a:ext cx="2717570" cy="325808"/>
            </a:xfrm>
            <a:prstGeom prst="roundRect">
              <a:avLst/>
            </a:prstGeom>
            <a:noFill/>
            <a:ln/>
          </p:spPr>
          <p:txBody>
            <a:bodyPr wrap="none" lIns="0" tIns="0" rIns="0" bIns="0" rtlCol="0" anchor="ctr"/>
            <a:lstStyle/>
            <a:p>
              <a:pPr>
                <a:lnSpc>
                  <a:spcPts val="1667"/>
                </a:lnSpc>
              </a:pPr>
              <a:r>
                <a:rPr lang="en-US" sz="2400" b="1" dirty="0">
                  <a:solidFill>
                    <a:srgbClr val="F9EEE7"/>
                  </a:solidFill>
                  <a:latin typeface="Quattrocento" pitchFamily="34" charset="0"/>
                  <a:ea typeface="Quattrocento" pitchFamily="34" charset="-122"/>
                  <a:cs typeface="Quattrocento" pitchFamily="34" charset="-120"/>
                </a:rPr>
                <a:t>California</a:t>
              </a:r>
              <a:endParaRPr lang="en-US" sz="2400" b="1" dirty="0"/>
            </a:p>
          </p:txBody>
        </p:sp>
        <p:sp>
          <p:nvSpPr>
            <p:cNvPr id="17" name="Text 9">
              <a:extLst>
                <a:ext uri="{FF2B5EF4-FFF2-40B4-BE49-F238E27FC236}">
                  <a16:creationId xmlns:a16="http://schemas.microsoft.com/office/drawing/2014/main" id="{E7B090D1-D42D-E845-730F-96442DC7CD32}"/>
                </a:ext>
              </a:extLst>
            </p:cNvPr>
            <p:cNvSpPr/>
            <p:nvPr/>
          </p:nvSpPr>
          <p:spPr>
            <a:xfrm>
              <a:off x="501114" y="6026433"/>
              <a:ext cx="3938876" cy="1524507"/>
            </a:xfrm>
            <a:prstGeom prst="roundRect">
              <a:avLst/>
            </a:prstGeom>
            <a:noFill/>
            <a:ln/>
          </p:spPr>
          <p:txBody>
            <a:bodyPr wrap="square" lIns="0" tIns="0" rIns="0" bIns="0" rtlCol="0" anchor="t"/>
            <a:lstStyle/>
            <a:p>
              <a:r>
                <a:rPr lang="en-US" sz="2400" dirty="0">
                  <a:solidFill>
                    <a:srgbClr val="F3CABC"/>
                  </a:solidFill>
                  <a:latin typeface="Quattrocento" panose="02020502030000000404" pitchFamily="18" charset="0"/>
                </a:rPr>
                <a:t>Input VMT-accountability language.</a:t>
              </a:r>
            </a:p>
          </p:txBody>
        </p:sp>
      </p:grpSp>
      <p:grpSp>
        <p:nvGrpSpPr>
          <p:cNvPr id="32" name="Group 31">
            <a:extLst>
              <a:ext uri="{FF2B5EF4-FFF2-40B4-BE49-F238E27FC236}">
                <a16:creationId xmlns:a16="http://schemas.microsoft.com/office/drawing/2014/main" id="{411E8A9F-0F63-8376-CA42-170679B34698}"/>
              </a:ext>
            </a:extLst>
          </p:cNvPr>
          <p:cNvGrpSpPr/>
          <p:nvPr/>
        </p:nvGrpSpPr>
        <p:grpSpPr>
          <a:xfrm>
            <a:off x="8126937" y="841281"/>
            <a:ext cx="3903882" cy="3042648"/>
            <a:chOff x="4850867" y="2813216"/>
            <a:chExt cx="4349753" cy="3213217"/>
          </a:xfrm>
        </p:grpSpPr>
        <p:sp>
          <p:nvSpPr>
            <p:cNvPr id="8" name="Shape 10">
              <a:extLst>
                <a:ext uri="{FF2B5EF4-FFF2-40B4-BE49-F238E27FC236}">
                  <a16:creationId xmlns:a16="http://schemas.microsoft.com/office/drawing/2014/main" id="{4895A4AF-421C-19FE-C4C4-9AB57D6F8D78}"/>
                </a:ext>
              </a:extLst>
            </p:cNvPr>
            <p:cNvSpPr/>
            <p:nvPr/>
          </p:nvSpPr>
          <p:spPr>
            <a:xfrm>
              <a:off x="4850867" y="2813216"/>
              <a:ext cx="4349753" cy="3213217"/>
            </a:xfrm>
            <a:prstGeom prst="roundRect">
              <a:avLst/>
            </a:prstGeom>
            <a:solidFill>
              <a:srgbClr val="315251"/>
            </a:solidFill>
            <a:ln/>
          </p:spPr>
          <p:txBody>
            <a:bodyPr/>
            <a:lstStyle/>
            <a:p>
              <a:endParaRPr lang="en-US" sz="1500" dirty="0"/>
            </a:p>
          </p:txBody>
        </p:sp>
        <p:sp>
          <p:nvSpPr>
            <p:cNvPr id="9" name="Shape 11">
              <a:extLst>
                <a:ext uri="{FF2B5EF4-FFF2-40B4-BE49-F238E27FC236}">
                  <a16:creationId xmlns:a16="http://schemas.microsoft.com/office/drawing/2014/main" id="{556A2426-0EBC-4B80-4BF6-F2E68D2B60F1}"/>
                </a:ext>
              </a:extLst>
            </p:cNvPr>
            <p:cNvSpPr/>
            <p:nvPr/>
          </p:nvSpPr>
          <p:spPr>
            <a:xfrm>
              <a:off x="5056306" y="3034643"/>
              <a:ext cx="616458" cy="664435"/>
            </a:xfrm>
            <a:prstGeom prst="roundRect">
              <a:avLst/>
            </a:prstGeom>
            <a:solidFill>
              <a:srgbClr val="EF9C82"/>
            </a:solidFill>
            <a:ln/>
          </p:spPr>
          <p:txBody>
            <a:bodyPr/>
            <a:lstStyle/>
            <a:p>
              <a:endParaRPr lang="en-US" sz="1500"/>
            </a:p>
          </p:txBody>
        </p:sp>
        <p:sp>
          <p:nvSpPr>
            <p:cNvPr id="19" name="Text 12">
              <a:extLst>
                <a:ext uri="{FF2B5EF4-FFF2-40B4-BE49-F238E27FC236}">
                  <a16:creationId xmlns:a16="http://schemas.microsoft.com/office/drawing/2014/main" id="{CC82FD1F-ED71-A000-5B76-46748F05C6BA}"/>
                </a:ext>
              </a:extLst>
            </p:cNvPr>
            <p:cNvSpPr/>
            <p:nvPr/>
          </p:nvSpPr>
          <p:spPr>
            <a:xfrm>
              <a:off x="5056306" y="3858854"/>
              <a:ext cx="2417694" cy="325808"/>
            </a:xfrm>
            <a:prstGeom prst="roundRect">
              <a:avLst/>
            </a:prstGeom>
            <a:noFill/>
            <a:ln/>
          </p:spPr>
          <p:txBody>
            <a:bodyPr wrap="none" lIns="0" tIns="0" rIns="0" bIns="0" rtlCol="0" anchor="t"/>
            <a:lstStyle/>
            <a:p>
              <a:pPr>
                <a:lnSpc>
                  <a:spcPts val="1667"/>
                </a:lnSpc>
              </a:pPr>
              <a:r>
                <a:rPr lang="en-US" sz="1667" b="1" dirty="0">
                  <a:solidFill>
                    <a:srgbClr val="F9EEE7"/>
                  </a:solidFill>
                  <a:latin typeface="Quattrocento" pitchFamily="34" charset="0"/>
                  <a:ea typeface="Quattrocento" pitchFamily="34" charset="-122"/>
                  <a:cs typeface="Quattrocento" pitchFamily="34" charset="-120"/>
                </a:rPr>
                <a:t>For Transportation Planners</a:t>
              </a:r>
              <a:endParaRPr lang="en-US" sz="1667" b="1" dirty="0"/>
            </a:p>
          </p:txBody>
        </p:sp>
        <p:sp>
          <p:nvSpPr>
            <p:cNvPr id="20" name="Text 13">
              <a:extLst>
                <a:ext uri="{FF2B5EF4-FFF2-40B4-BE49-F238E27FC236}">
                  <a16:creationId xmlns:a16="http://schemas.microsoft.com/office/drawing/2014/main" id="{6D93973C-41C4-3CB3-EA2E-8CDE064A4B20}"/>
                </a:ext>
              </a:extLst>
            </p:cNvPr>
            <p:cNvSpPr/>
            <p:nvPr/>
          </p:nvSpPr>
          <p:spPr>
            <a:xfrm>
              <a:off x="5056306" y="4280498"/>
              <a:ext cx="3938876" cy="1219607"/>
            </a:xfrm>
            <a:prstGeom prst="roundRect">
              <a:avLst/>
            </a:prstGeom>
            <a:noFill/>
            <a:ln/>
          </p:spPr>
          <p:txBody>
            <a:bodyPr wrap="square" lIns="0" tIns="0" rIns="0" bIns="0" rtlCol="0" anchor="t"/>
            <a:lstStyle/>
            <a:p>
              <a:r>
                <a:rPr lang="en-US" sz="1500" dirty="0">
                  <a:solidFill>
                    <a:srgbClr val="F3CABC"/>
                  </a:solidFill>
                  <a:latin typeface="Quattrocento" panose="02020502030000000404" pitchFamily="18" charset="0"/>
                </a:rPr>
                <a:t>The dashboard and data pipeline are open-source and reproducible. Any MPO, advocacy organization, or researcher can fork, adapt, and deploy them.</a:t>
              </a:r>
            </a:p>
          </p:txBody>
        </p:sp>
        <p:pic>
          <p:nvPicPr>
            <p:cNvPr id="4100" name="Picture 4" descr="Register - Free transportation icons">
              <a:extLst>
                <a:ext uri="{FF2B5EF4-FFF2-40B4-BE49-F238E27FC236}">
                  <a16:creationId xmlns:a16="http://schemas.microsoft.com/office/drawing/2014/main" id="{B615B305-68D9-1546-79C7-3AC54C7691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8058" y="3112464"/>
              <a:ext cx="491164" cy="508791"/>
            </a:xfrm>
            <a:prstGeom prst="roundRect">
              <a:avLst/>
            </a:prstGeom>
            <a:noFill/>
            <a:extLst>
              <a:ext uri="{909E8E84-426E-40DD-AFC4-6F175D3DCCD1}">
                <a14:hiddenFill xmlns:a14="http://schemas.microsoft.com/office/drawing/2010/main">
                  <a:solidFill>
                    <a:srgbClr val="FFFFFF"/>
                  </a:solidFill>
                </a14:hiddenFill>
              </a:ext>
            </a:extLst>
          </p:spPr>
        </p:pic>
      </p:grpSp>
      <p:sp>
        <p:nvSpPr>
          <p:cNvPr id="10" name="Shape 7">
            <a:extLst>
              <a:ext uri="{FF2B5EF4-FFF2-40B4-BE49-F238E27FC236}">
                <a16:creationId xmlns:a16="http://schemas.microsoft.com/office/drawing/2014/main" id="{B3DA270C-AB43-006A-ED39-8220BDDDEE59}"/>
              </a:ext>
            </a:extLst>
          </p:cNvPr>
          <p:cNvSpPr/>
          <p:nvPr/>
        </p:nvSpPr>
        <p:spPr>
          <a:xfrm>
            <a:off x="441706" y="1063284"/>
            <a:ext cx="688798" cy="693360"/>
          </a:xfrm>
          <a:prstGeom prst="roundRect">
            <a:avLst/>
          </a:prstGeom>
          <a:solidFill>
            <a:srgbClr val="EF9C82"/>
          </a:solidFill>
          <a:ln/>
        </p:spPr>
        <p:txBody>
          <a:bodyPr/>
          <a:lstStyle/>
          <a:p>
            <a:endParaRPr lang="en-US" sz="1500"/>
          </a:p>
        </p:txBody>
      </p:sp>
      <p:pic>
        <p:nvPicPr>
          <p:cNvPr id="11" name="Picture 10">
            <a:extLst>
              <a:ext uri="{FF2B5EF4-FFF2-40B4-BE49-F238E27FC236}">
                <a16:creationId xmlns:a16="http://schemas.microsoft.com/office/drawing/2014/main" id="{9C78C638-56CE-C677-2A57-E38D812E6794}"/>
              </a:ext>
            </a:extLst>
          </p:cNvPr>
          <p:cNvPicPr>
            <a:picLocks noChangeAspect="1"/>
          </p:cNvPicPr>
          <p:nvPr/>
        </p:nvPicPr>
        <p:blipFill>
          <a:blip r:embed="rId4"/>
          <a:stretch>
            <a:fillRect/>
          </a:stretch>
        </p:blipFill>
        <p:spPr>
          <a:xfrm>
            <a:off x="534809" y="1075237"/>
            <a:ext cx="502592" cy="669453"/>
          </a:xfrm>
          <a:prstGeom prst="rect">
            <a:avLst/>
          </a:prstGeom>
        </p:spPr>
      </p:pic>
      <p:sp>
        <p:nvSpPr>
          <p:cNvPr id="12" name="Shape 7">
            <a:extLst>
              <a:ext uri="{FF2B5EF4-FFF2-40B4-BE49-F238E27FC236}">
                <a16:creationId xmlns:a16="http://schemas.microsoft.com/office/drawing/2014/main" id="{404C38BA-9F41-AA59-3793-1330D85695B2}"/>
              </a:ext>
            </a:extLst>
          </p:cNvPr>
          <p:cNvSpPr/>
          <p:nvPr/>
        </p:nvSpPr>
        <p:spPr>
          <a:xfrm>
            <a:off x="4411782" y="3998161"/>
            <a:ext cx="688798" cy="693360"/>
          </a:xfrm>
          <a:prstGeom prst="roundRect">
            <a:avLst/>
          </a:prstGeom>
          <a:solidFill>
            <a:srgbClr val="EF9C82"/>
          </a:solidFill>
          <a:ln/>
        </p:spPr>
        <p:txBody>
          <a:bodyPr/>
          <a:lstStyle/>
          <a:p>
            <a:endParaRPr lang="en-US" sz="1500"/>
          </a:p>
        </p:txBody>
      </p:sp>
      <p:pic>
        <p:nvPicPr>
          <p:cNvPr id="4098" name="Picture 2">
            <a:extLst>
              <a:ext uri="{FF2B5EF4-FFF2-40B4-BE49-F238E27FC236}">
                <a16:creationId xmlns:a16="http://schemas.microsoft.com/office/drawing/2014/main" id="{51E4FF43-F5F4-7A33-3F36-6B63455E62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3479" y="4022314"/>
            <a:ext cx="545403" cy="648756"/>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782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7508</TotalTime>
  <Words>2526</Words>
  <Application>Microsoft Macintosh PowerPoint</Application>
  <PresentationFormat>Widescreen</PresentationFormat>
  <Paragraphs>153</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Georgia</vt:lpstr>
      <vt:lpstr>Quattrocento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Forrest Pasturel</cp:lastModifiedBy>
  <cp:revision>5</cp:revision>
  <dcterms:created xsi:type="dcterms:W3CDTF">2013-01-27T09:14:16Z</dcterms:created>
  <dcterms:modified xsi:type="dcterms:W3CDTF">2026-04-27T05:20:26Z</dcterms:modified>
  <cp:category/>
</cp:coreProperties>
</file>