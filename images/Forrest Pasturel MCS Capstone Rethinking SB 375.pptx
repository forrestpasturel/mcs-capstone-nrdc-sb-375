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69" r:id="rId2"/>
    <p:sldId id="256" r:id="rId3"/>
    <p:sldId id="272" r:id="rId4"/>
    <p:sldId id="258" r:id="rId5"/>
    <p:sldId id="259" r:id="rId6"/>
    <p:sldId id="260" r:id="rId7"/>
    <p:sldId id="257" r:id="rId8"/>
    <p:sldId id="261" r:id="rId9"/>
    <p:sldId id="262" r:id="rId10"/>
    <p:sldId id="263" r:id="rId11"/>
    <p:sldId id="264" r:id="rId12"/>
    <p:sldId id="265" r:id="rId13"/>
    <p:sldId id="276" r:id="rId14"/>
    <p:sldId id="277" r:id="rId15"/>
    <p:sldId id="266" r:id="rId16"/>
    <p:sldId id="278" r:id="rId17"/>
    <p:sldId id="279" r:id="rId18"/>
    <p:sldId id="28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B99E"/>
    <a:srgbClr val="F5E6D3"/>
    <a:srgbClr val="2284A8"/>
    <a:srgbClr val="E8967A"/>
    <a:srgbClr val="005A62"/>
    <a:srgbClr val="0F7166"/>
    <a:srgbClr val="076C60"/>
    <a:srgbClr val="BEA20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06"/>
    <p:restoredTop sz="95956"/>
  </p:normalViewPr>
  <p:slideViewPr>
    <p:cSldViewPr snapToGrid="0" snapToObjects="1">
      <p:cViewPr varScale="1">
        <p:scale>
          <a:sx n="112" d="100"/>
          <a:sy n="112" d="100"/>
        </p:scale>
        <p:origin x="34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811567-72F8-4A25-8D44-A44510E0E3F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546BB92-A7F7-4A31-A342-57F429D01D68}">
      <dgm:prSet custT="1"/>
      <dgm:spPr/>
      <dgm:t>
        <a:bodyPr/>
        <a:lstStyle/>
        <a:p>
          <a:pPr>
            <a:lnSpc>
              <a:spcPct val="100000"/>
            </a:lnSpc>
          </a:pPr>
          <a:r>
            <a:rPr lang="en-US" sz="1800" b="0" dirty="0">
              <a:solidFill>
                <a:srgbClr val="076C60"/>
              </a:solidFill>
              <a:latin typeface="Quattrocento" panose="02020502030000000404" pitchFamily="18" charset="0"/>
            </a:rPr>
            <a:t>VMT: CA's daily driving tab</a:t>
          </a:r>
        </a:p>
      </dgm:t>
    </dgm:pt>
    <dgm:pt modelId="{35325462-366E-4C34-AE61-78BCF17885A9}" type="parTrans" cxnId="{4B7B028E-1987-4997-835A-EC27B7166C5C}">
      <dgm:prSet/>
      <dgm:spPr/>
      <dgm:t>
        <a:bodyPr/>
        <a:lstStyle/>
        <a:p>
          <a:endParaRPr lang="en-US"/>
        </a:p>
      </dgm:t>
    </dgm:pt>
    <dgm:pt modelId="{F4DB988E-AF93-4E8E-8D5E-AE423C89435E}" type="sibTrans" cxnId="{4B7B028E-1987-4997-835A-EC27B7166C5C}">
      <dgm:prSet/>
      <dgm:spPr/>
      <dgm:t>
        <a:bodyPr/>
        <a:lstStyle/>
        <a:p>
          <a:endParaRPr lang="en-US"/>
        </a:p>
      </dgm:t>
    </dgm:pt>
    <dgm:pt modelId="{A8DD809B-B1B2-4FDC-9E55-B819AE50B24F}">
      <dgm:prSet custT="1"/>
      <dgm:spPr/>
      <dgm:t>
        <a:bodyPr/>
        <a:lstStyle/>
        <a:p>
          <a:pPr>
            <a:lnSpc>
              <a:spcPct val="100000"/>
            </a:lnSpc>
          </a:pPr>
          <a:r>
            <a:rPr lang="en-US" sz="1800" dirty="0">
              <a:solidFill>
                <a:srgbClr val="076C60"/>
              </a:solidFill>
              <a:latin typeface="Quattrocento" panose="02020502030000000404" pitchFamily="18" charset="0"/>
            </a:rPr>
            <a:t>Californians drive about 24–25 miles per person per day</a:t>
          </a:r>
        </a:p>
      </dgm:t>
    </dgm:pt>
    <dgm:pt modelId="{9EA0EA97-0E61-4A2F-8B69-FD8DDE7D1259}" type="parTrans" cxnId="{E747EE07-8C60-4057-99D6-B0E8FAD8BD03}">
      <dgm:prSet/>
      <dgm:spPr/>
      <dgm:t>
        <a:bodyPr/>
        <a:lstStyle/>
        <a:p>
          <a:endParaRPr lang="en-US"/>
        </a:p>
      </dgm:t>
    </dgm:pt>
    <dgm:pt modelId="{06F81574-ACED-4362-AFF1-0F17C935A174}" type="sibTrans" cxnId="{E747EE07-8C60-4057-99D6-B0E8FAD8BD03}">
      <dgm:prSet/>
      <dgm:spPr/>
      <dgm:t>
        <a:bodyPr/>
        <a:lstStyle/>
        <a:p>
          <a:endParaRPr lang="en-US"/>
        </a:p>
      </dgm:t>
    </dgm:pt>
    <dgm:pt modelId="{F59F0AA0-3699-4B4A-B476-50FEC2C89173}">
      <dgm:prSet/>
      <dgm:spPr/>
      <dgm:t>
        <a:bodyPr/>
        <a:lstStyle/>
        <a:p>
          <a:pPr>
            <a:lnSpc>
              <a:spcPct val="100000"/>
            </a:lnSpc>
          </a:pPr>
          <a:r>
            <a:rPr lang="en-US" dirty="0">
              <a:solidFill>
                <a:srgbClr val="076C60"/>
              </a:solidFill>
              <a:latin typeface="Quattrocento" panose="02020502030000000404" pitchFamily="18" charset="0"/>
            </a:rPr>
            <a:t>Carbon neutrality by 2045: ~17 miles per person per day</a:t>
          </a:r>
        </a:p>
      </dgm:t>
    </dgm:pt>
    <dgm:pt modelId="{91E6A957-D306-4B56-A00A-7C7538F6914D}" type="parTrans" cxnId="{86BF92DF-600F-49C6-AA4D-4FBC9196A1E9}">
      <dgm:prSet/>
      <dgm:spPr/>
      <dgm:t>
        <a:bodyPr/>
        <a:lstStyle/>
        <a:p>
          <a:endParaRPr lang="en-US"/>
        </a:p>
      </dgm:t>
    </dgm:pt>
    <dgm:pt modelId="{643B9523-E721-4EF7-BB37-C831701409C4}" type="sibTrans" cxnId="{86BF92DF-600F-49C6-AA4D-4FBC9196A1E9}">
      <dgm:prSet/>
      <dgm:spPr/>
      <dgm:t>
        <a:bodyPr/>
        <a:lstStyle/>
        <a:p>
          <a:endParaRPr lang="en-US"/>
        </a:p>
      </dgm:t>
    </dgm:pt>
    <dgm:pt modelId="{DBE5C2DF-4608-4162-A0C7-5E210BE1DD9B}">
      <dgm:prSet custT="1"/>
      <dgm:spPr/>
      <dgm:t>
        <a:bodyPr/>
        <a:lstStyle/>
        <a:p>
          <a:pPr>
            <a:lnSpc>
              <a:spcPct val="100000"/>
            </a:lnSpc>
          </a:pPr>
          <a:r>
            <a:rPr lang="en-US" sz="1800" dirty="0">
              <a:solidFill>
                <a:srgbClr val="076C60"/>
              </a:solidFill>
              <a:latin typeface="Quattrocento" panose="02020502030000000404" pitchFamily="18" charset="0"/>
            </a:rPr>
            <a:t>Gap is only growing</a:t>
          </a:r>
        </a:p>
      </dgm:t>
    </dgm:pt>
    <dgm:pt modelId="{367C625B-A0BA-48D6-B622-0134CAF0BFE6}" type="parTrans" cxnId="{6B52D943-7420-4CC7-9903-87F261B76A3C}">
      <dgm:prSet/>
      <dgm:spPr/>
      <dgm:t>
        <a:bodyPr/>
        <a:lstStyle/>
        <a:p>
          <a:endParaRPr lang="en-US"/>
        </a:p>
      </dgm:t>
    </dgm:pt>
    <dgm:pt modelId="{A6329CB1-A78C-4293-86CB-0C27D5693478}" type="sibTrans" cxnId="{6B52D943-7420-4CC7-9903-87F261B76A3C}">
      <dgm:prSet/>
      <dgm:spPr/>
      <dgm:t>
        <a:bodyPr/>
        <a:lstStyle/>
        <a:p>
          <a:endParaRPr lang="en-US"/>
        </a:p>
      </dgm:t>
    </dgm:pt>
    <dgm:pt modelId="{139DE956-1DE9-46A8-8873-0FECE7B02EF7}" type="pres">
      <dgm:prSet presAssocID="{31811567-72F8-4A25-8D44-A44510E0E3F1}" presName="root" presStyleCnt="0">
        <dgm:presLayoutVars>
          <dgm:dir/>
          <dgm:resizeHandles val="exact"/>
        </dgm:presLayoutVars>
      </dgm:prSet>
      <dgm:spPr/>
    </dgm:pt>
    <dgm:pt modelId="{392F3CEE-BC1F-4BAA-83B3-1881039FC4F5}" type="pres">
      <dgm:prSet presAssocID="{6546BB92-A7F7-4A31-A342-57F429D01D68}" presName="compNode" presStyleCnt="0"/>
      <dgm:spPr/>
    </dgm:pt>
    <dgm:pt modelId="{C3E2916A-C6FD-43B2-A348-E1B8F49934D5}" type="pres">
      <dgm:prSet presAssocID="{6546BB92-A7F7-4A31-A342-57F429D01D68}" presName="bgRect" presStyleLbl="bgShp" presStyleIdx="0" presStyleCnt="4" custLinFactNeighborX="-4808" custLinFactNeighborY="1225"/>
      <dgm:spPr/>
    </dgm:pt>
    <dgm:pt modelId="{98EC76C2-D29B-4A72-A5AB-56CE3435AD89}" type="pres">
      <dgm:prSet presAssocID="{6546BB92-A7F7-4A31-A342-57F429D01D68}"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ar"/>
        </a:ext>
      </dgm:extLst>
    </dgm:pt>
    <dgm:pt modelId="{E341862C-3FC3-4A27-9E0E-8420A83794EB}" type="pres">
      <dgm:prSet presAssocID="{6546BB92-A7F7-4A31-A342-57F429D01D68}" presName="spaceRect" presStyleCnt="0"/>
      <dgm:spPr/>
    </dgm:pt>
    <dgm:pt modelId="{5E2DA22C-3CDA-4668-B9CF-475178571BDC}" type="pres">
      <dgm:prSet presAssocID="{6546BB92-A7F7-4A31-A342-57F429D01D68}" presName="parTx" presStyleLbl="revTx" presStyleIdx="0" presStyleCnt="4">
        <dgm:presLayoutVars>
          <dgm:chMax val="0"/>
          <dgm:chPref val="0"/>
        </dgm:presLayoutVars>
      </dgm:prSet>
      <dgm:spPr/>
    </dgm:pt>
    <dgm:pt modelId="{8765B425-30FB-4467-B58D-AF7A651ACB54}" type="pres">
      <dgm:prSet presAssocID="{F4DB988E-AF93-4E8E-8D5E-AE423C89435E}" presName="sibTrans" presStyleCnt="0"/>
      <dgm:spPr/>
    </dgm:pt>
    <dgm:pt modelId="{D073E730-33D4-4C2C-BFF4-90591D8F540A}" type="pres">
      <dgm:prSet presAssocID="{A8DD809B-B1B2-4FDC-9E55-B819AE50B24F}" presName="compNode" presStyleCnt="0"/>
      <dgm:spPr/>
    </dgm:pt>
    <dgm:pt modelId="{678CB97D-009F-44F7-B82F-B1CA4A81DE83}" type="pres">
      <dgm:prSet presAssocID="{A8DD809B-B1B2-4FDC-9E55-B819AE50B24F}" presName="bgRect" presStyleLbl="bgShp" presStyleIdx="1" presStyleCnt="4"/>
      <dgm:spPr/>
    </dgm:pt>
    <dgm:pt modelId="{764EDC78-01CB-4256-BE87-1D512E465A0D}" type="pres">
      <dgm:prSet presAssocID="{A8DD809B-B1B2-4FDC-9E55-B819AE50B24F}"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lippery Road with solid fill"/>
        </a:ext>
      </dgm:extLst>
    </dgm:pt>
    <dgm:pt modelId="{7DBF3C79-9E02-4F77-8417-3F0D5B6971B5}" type="pres">
      <dgm:prSet presAssocID="{A8DD809B-B1B2-4FDC-9E55-B819AE50B24F}" presName="spaceRect" presStyleCnt="0"/>
      <dgm:spPr/>
    </dgm:pt>
    <dgm:pt modelId="{F161548B-35E4-4997-8219-8284EE08D973}" type="pres">
      <dgm:prSet presAssocID="{A8DD809B-B1B2-4FDC-9E55-B819AE50B24F}" presName="parTx" presStyleLbl="revTx" presStyleIdx="1" presStyleCnt="4">
        <dgm:presLayoutVars>
          <dgm:chMax val="0"/>
          <dgm:chPref val="0"/>
        </dgm:presLayoutVars>
      </dgm:prSet>
      <dgm:spPr/>
    </dgm:pt>
    <dgm:pt modelId="{C4A89D46-4AC5-455C-85DF-53D1239A3155}" type="pres">
      <dgm:prSet presAssocID="{06F81574-ACED-4362-AFF1-0F17C935A174}" presName="sibTrans" presStyleCnt="0"/>
      <dgm:spPr/>
    </dgm:pt>
    <dgm:pt modelId="{D7C2BD85-3176-4544-9EE1-746E9D5F91AB}" type="pres">
      <dgm:prSet presAssocID="{F59F0AA0-3699-4B4A-B476-50FEC2C89173}" presName="compNode" presStyleCnt="0"/>
      <dgm:spPr/>
    </dgm:pt>
    <dgm:pt modelId="{DF9AA32B-986B-42B1-9A80-7915C2EF6030}" type="pres">
      <dgm:prSet presAssocID="{F59F0AA0-3699-4B4A-B476-50FEC2C89173}" presName="bgRect" presStyleLbl="bgShp" presStyleIdx="2" presStyleCnt="4"/>
      <dgm:spPr/>
    </dgm:pt>
    <dgm:pt modelId="{9B3FE012-0DF7-4F15-B74B-52A93C518317}" type="pres">
      <dgm:prSet presAssocID="{F59F0AA0-3699-4B4A-B476-50FEC2C89173}"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Leaf with solid fill"/>
        </a:ext>
      </dgm:extLst>
    </dgm:pt>
    <dgm:pt modelId="{6A6C845F-E44A-44E2-9190-6FD1AF0CCBA5}" type="pres">
      <dgm:prSet presAssocID="{F59F0AA0-3699-4B4A-B476-50FEC2C89173}" presName="spaceRect" presStyleCnt="0"/>
      <dgm:spPr/>
    </dgm:pt>
    <dgm:pt modelId="{3D9C40AA-61F5-4E87-9E25-DC4E15B47BF9}" type="pres">
      <dgm:prSet presAssocID="{F59F0AA0-3699-4B4A-B476-50FEC2C89173}" presName="parTx" presStyleLbl="revTx" presStyleIdx="2" presStyleCnt="4">
        <dgm:presLayoutVars>
          <dgm:chMax val="0"/>
          <dgm:chPref val="0"/>
        </dgm:presLayoutVars>
      </dgm:prSet>
      <dgm:spPr/>
    </dgm:pt>
    <dgm:pt modelId="{2655F50F-F869-4267-BFB0-16028F4C2DC5}" type="pres">
      <dgm:prSet presAssocID="{643B9523-E721-4EF7-BB37-C831701409C4}" presName="sibTrans" presStyleCnt="0"/>
      <dgm:spPr/>
    </dgm:pt>
    <dgm:pt modelId="{A52FECE9-36E4-45AF-8943-0168FE58F1FE}" type="pres">
      <dgm:prSet presAssocID="{DBE5C2DF-4608-4162-A0C7-5E210BE1DD9B}" presName="compNode" presStyleCnt="0"/>
      <dgm:spPr/>
    </dgm:pt>
    <dgm:pt modelId="{44CA1364-1866-499F-B7B0-866F23A12D96}" type="pres">
      <dgm:prSet presAssocID="{DBE5C2DF-4608-4162-A0C7-5E210BE1DD9B}" presName="bgRect" presStyleLbl="bgShp" presStyleIdx="3" presStyleCnt="4"/>
      <dgm:spPr/>
    </dgm:pt>
    <dgm:pt modelId="{90D85597-EAF8-4B28-BA37-91A6392A6AC4}" type="pres">
      <dgm:prSet presAssocID="{DBE5C2DF-4608-4162-A0C7-5E210BE1DD9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ximize"/>
        </a:ext>
      </dgm:extLst>
    </dgm:pt>
    <dgm:pt modelId="{C96F4EC9-2CB7-487C-9B7B-4F7101DC7086}" type="pres">
      <dgm:prSet presAssocID="{DBE5C2DF-4608-4162-A0C7-5E210BE1DD9B}" presName="spaceRect" presStyleCnt="0"/>
      <dgm:spPr/>
    </dgm:pt>
    <dgm:pt modelId="{4BFEDFBE-21D1-4D51-AD11-BFD20ACFE16F}" type="pres">
      <dgm:prSet presAssocID="{DBE5C2DF-4608-4162-A0C7-5E210BE1DD9B}" presName="parTx" presStyleLbl="revTx" presStyleIdx="3" presStyleCnt="4">
        <dgm:presLayoutVars>
          <dgm:chMax val="0"/>
          <dgm:chPref val="0"/>
        </dgm:presLayoutVars>
      </dgm:prSet>
      <dgm:spPr/>
    </dgm:pt>
  </dgm:ptLst>
  <dgm:cxnLst>
    <dgm:cxn modelId="{E747EE07-8C60-4057-99D6-B0E8FAD8BD03}" srcId="{31811567-72F8-4A25-8D44-A44510E0E3F1}" destId="{A8DD809B-B1B2-4FDC-9E55-B819AE50B24F}" srcOrd="1" destOrd="0" parTransId="{9EA0EA97-0E61-4A2F-8B69-FD8DDE7D1259}" sibTransId="{06F81574-ACED-4362-AFF1-0F17C935A174}"/>
    <dgm:cxn modelId="{C544B319-43B5-4174-A8B9-CFB7FFF7BB3C}" type="presOf" srcId="{6546BB92-A7F7-4A31-A342-57F429D01D68}" destId="{5E2DA22C-3CDA-4668-B9CF-475178571BDC}" srcOrd="0" destOrd="0" presId="urn:microsoft.com/office/officeart/2018/2/layout/IconVerticalSolidList"/>
    <dgm:cxn modelId="{688BA61F-DDBE-4E91-AB58-CCD2305BF3B2}" type="presOf" srcId="{A8DD809B-B1B2-4FDC-9E55-B819AE50B24F}" destId="{F161548B-35E4-4997-8219-8284EE08D973}" srcOrd="0" destOrd="0" presId="urn:microsoft.com/office/officeart/2018/2/layout/IconVerticalSolidList"/>
    <dgm:cxn modelId="{6B52D943-7420-4CC7-9903-87F261B76A3C}" srcId="{31811567-72F8-4A25-8D44-A44510E0E3F1}" destId="{DBE5C2DF-4608-4162-A0C7-5E210BE1DD9B}" srcOrd="3" destOrd="0" parTransId="{367C625B-A0BA-48D6-B622-0134CAF0BFE6}" sibTransId="{A6329CB1-A78C-4293-86CB-0C27D5693478}"/>
    <dgm:cxn modelId="{EEAF7981-2946-47FA-B9B7-10A873853B87}" type="presOf" srcId="{DBE5C2DF-4608-4162-A0C7-5E210BE1DD9B}" destId="{4BFEDFBE-21D1-4D51-AD11-BFD20ACFE16F}" srcOrd="0" destOrd="0" presId="urn:microsoft.com/office/officeart/2018/2/layout/IconVerticalSolidList"/>
    <dgm:cxn modelId="{4B7B028E-1987-4997-835A-EC27B7166C5C}" srcId="{31811567-72F8-4A25-8D44-A44510E0E3F1}" destId="{6546BB92-A7F7-4A31-A342-57F429D01D68}" srcOrd="0" destOrd="0" parTransId="{35325462-366E-4C34-AE61-78BCF17885A9}" sibTransId="{F4DB988E-AF93-4E8E-8D5E-AE423C89435E}"/>
    <dgm:cxn modelId="{243CF39B-4C15-4359-BF99-BBC0EAB4F2C6}" type="presOf" srcId="{31811567-72F8-4A25-8D44-A44510E0E3F1}" destId="{139DE956-1DE9-46A8-8873-0FECE7B02EF7}" srcOrd="0" destOrd="0" presId="urn:microsoft.com/office/officeart/2018/2/layout/IconVerticalSolidList"/>
    <dgm:cxn modelId="{86BF92DF-600F-49C6-AA4D-4FBC9196A1E9}" srcId="{31811567-72F8-4A25-8D44-A44510E0E3F1}" destId="{F59F0AA0-3699-4B4A-B476-50FEC2C89173}" srcOrd="2" destOrd="0" parTransId="{91E6A957-D306-4B56-A00A-7C7538F6914D}" sibTransId="{643B9523-E721-4EF7-BB37-C831701409C4}"/>
    <dgm:cxn modelId="{21AA72FF-BB4C-4D75-8D83-25064AB353DD}" type="presOf" srcId="{F59F0AA0-3699-4B4A-B476-50FEC2C89173}" destId="{3D9C40AA-61F5-4E87-9E25-DC4E15B47BF9}" srcOrd="0" destOrd="0" presId="urn:microsoft.com/office/officeart/2018/2/layout/IconVerticalSolidList"/>
    <dgm:cxn modelId="{DD937467-B365-422D-95E2-7D2D6E5E84E3}" type="presParOf" srcId="{139DE956-1DE9-46A8-8873-0FECE7B02EF7}" destId="{392F3CEE-BC1F-4BAA-83B3-1881039FC4F5}" srcOrd="0" destOrd="0" presId="urn:microsoft.com/office/officeart/2018/2/layout/IconVerticalSolidList"/>
    <dgm:cxn modelId="{1C11B6DA-FD56-45C2-9C02-C21D064DA094}" type="presParOf" srcId="{392F3CEE-BC1F-4BAA-83B3-1881039FC4F5}" destId="{C3E2916A-C6FD-43B2-A348-E1B8F49934D5}" srcOrd="0" destOrd="0" presId="urn:microsoft.com/office/officeart/2018/2/layout/IconVerticalSolidList"/>
    <dgm:cxn modelId="{9D23F986-F835-42A0-AF94-99CCA358C6BB}" type="presParOf" srcId="{392F3CEE-BC1F-4BAA-83B3-1881039FC4F5}" destId="{98EC76C2-D29B-4A72-A5AB-56CE3435AD89}" srcOrd="1" destOrd="0" presId="urn:microsoft.com/office/officeart/2018/2/layout/IconVerticalSolidList"/>
    <dgm:cxn modelId="{734905B0-C54C-42AD-858A-10DC3E09EBD1}" type="presParOf" srcId="{392F3CEE-BC1F-4BAA-83B3-1881039FC4F5}" destId="{E341862C-3FC3-4A27-9E0E-8420A83794EB}" srcOrd="2" destOrd="0" presId="urn:microsoft.com/office/officeart/2018/2/layout/IconVerticalSolidList"/>
    <dgm:cxn modelId="{D930716D-0D44-4D8C-A023-A4DB91DBABC7}" type="presParOf" srcId="{392F3CEE-BC1F-4BAA-83B3-1881039FC4F5}" destId="{5E2DA22C-3CDA-4668-B9CF-475178571BDC}" srcOrd="3" destOrd="0" presId="urn:microsoft.com/office/officeart/2018/2/layout/IconVerticalSolidList"/>
    <dgm:cxn modelId="{110146A9-9426-4DCF-8A90-3F28B3D90720}" type="presParOf" srcId="{139DE956-1DE9-46A8-8873-0FECE7B02EF7}" destId="{8765B425-30FB-4467-B58D-AF7A651ACB54}" srcOrd="1" destOrd="0" presId="urn:microsoft.com/office/officeart/2018/2/layout/IconVerticalSolidList"/>
    <dgm:cxn modelId="{52F5B621-4571-41A8-9A65-C5C5587537DB}" type="presParOf" srcId="{139DE956-1DE9-46A8-8873-0FECE7B02EF7}" destId="{D073E730-33D4-4C2C-BFF4-90591D8F540A}" srcOrd="2" destOrd="0" presId="urn:microsoft.com/office/officeart/2018/2/layout/IconVerticalSolidList"/>
    <dgm:cxn modelId="{24A4B84B-7C66-4866-A3E3-E5F25243C4A4}" type="presParOf" srcId="{D073E730-33D4-4C2C-BFF4-90591D8F540A}" destId="{678CB97D-009F-44F7-B82F-B1CA4A81DE83}" srcOrd="0" destOrd="0" presId="urn:microsoft.com/office/officeart/2018/2/layout/IconVerticalSolidList"/>
    <dgm:cxn modelId="{12960FBA-6D26-4387-8557-CAAC27616D55}" type="presParOf" srcId="{D073E730-33D4-4C2C-BFF4-90591D8F540A}" destId="{764EDC78-01CB-4256-BE87-1D512E465A0D}" srcOrd="1" destOrd="0" presId="urn:microsoft.com/office/officeart/2018/2/layout/IconVerticalSolidList"/>
    <dgm:cxn modelId="{4D273B9B-7799-4FDB-AE72-1170EB4032EB}" type="presParOf" srcId="{D073E730-33D4-4C2C-BFF4-90591D8F540A}" destId="{7DBF3C79-9E02-4F77-8417-3F0D5B6971B5}" srcOrd="2" destOrd="0" presId="urn:microsoft.com/office/officeart/2018/2/layout/IconVerticalSolidList"/>
    <dgm:cxn modelId="{B193804B-7B84-45FA-8D67-6205C2803DE2}" type="presParOf" srcId="{D073E730-33D4-4C2C-BFF4-90591D8F540A}" destId="{F161548B-35E4-4997-8219-8284EE08D973}" srcOrd="3" destOrd="0" presId="urn:microsoft.com/office/officeart/2018/2/layout/IconVerticalSolidList"/>
    <dgm:cxn modelId="{A3E3FCAF-5009-4BB9-B9F2-37BCF68F5CE6}" type="presParOf" srcId="{139DE956-1DE9-46A8-8873-0FECE7B02EF7}" destId="{C4A89D46-4AC5-455C-85DF-53D1239A3155}" srcOrd="3" destOrd="0" presId="urn:microsoft.com/office/officeart/2018/2/layout/IconVerticalSolidList"/>
    <dgm:cxn modelId="{733A9752-30A7-435C-8B81-D99A131C15B1}" type="presParOf" srcId="{139DE956-1DE9-46A8-8873-0FECE7B02EF7}" destId="{D7C2BD85-3176-4544-9EE1-746E9D5F91AB}" srcOrd="4" destOrd="0" presId="urn:microsoft.com/office/officeart/2018/2/layout/IconVerticalSolidList"/>
    <dgm:cxn modelId="{941DE25A-94A5-4BF1-9C82-91365B0A32A9}" type="presParOf" srcId="{D7C2BD85-3176-4544-9EE1-746E9D5F91AB}" destId="{DF9AA32B-986B-42B1-9A80-7915C2EF6030}" srcOrd="0" destOrd="0" presId="urn:microsoft.com/office/officeart/2018/2/layout/IconVerticalSolidList"/>
    <dgm:cxn modelId="{1E662D08-160F-42D3-94BE-05CC15FC30C1}" type="presParOf" srcId="{D7C2BD85-3176-4544-9EE1-746E9D5F91AB}" destId="{9B3FE012-0DF7-4F15-B74B-52A93C518317}" srcOrd="1" destOrd="0" presId="urn:microsoft.com/office/officeart/2018/2/layout/IconVerticalSolidList"/>
    <dgm:cxn modelId="{338106D5-304A-46FE-8871-9CDD2B380318}" type="presParOf" srcId="{D7C2BD85-3176-4544-9EE1-746E9D5F91AB}" destId="{6A6C845F-E44A-44E2-9190-6FD1AF0CCBA5}" srcOrd="2" destOrd="0" presId="urn:microsoft.com/office/officeart/2018/2/layout/IconVerticalSolidList"/>
    <dgm:cxn modelId="{73002CC1-9EBA-44D0-9B41-74C62B7B1EB8}" type="presParOf" srcId="{D7C2BD85-3176-4544-9EE1-746E9D5F91AB}" destId="{3D9C40AA-61F5-4E87-9E25-DC4E15B47BF9}" srcOrd="3" destOrd="0" presId="urn:microsoft.com/office/officeart/2018/2/layout/IconVerticalSolidList"/>
    <dgm:cxn modelId="{25D49079-A2F4-4ECB-AA1B-42507411BCF8}" type="presParOf" srcId="{139DE956-1DE9-46A8-8873-0FECE7B02EF7}" destId="{2655F50F-F869-4267-BFB0-16028F4C2DC5}" srcOrd="5" destOrd="0" presId="urn:microsoft.com/office/officeart/2018/2/layout/IconVerticalSolidList"/>
    <dgm:cxn modelId="{3C1C5C28-C357-434D-B213-292A3F82B66A}" type="presParOf" srcId="{139DE956-1DE9-46A8-8873-0FECE7B02EF7}" destId="{A52FECE9-36E4-45AF-8943-0168FE58F1FE}" srcOrd="6" destOrd="0" presId="urn:microsoft.com/office/officeart/2018/2/layout/IconVerticalSolidList"/>
    <dgm:cxn modelId="{F1B071DB-F532-49ED-9624-E0B640F01023}" type="presParOf" srcId="{A52FECE9-36E4-45AF-8943-0168FE58F1FE}" destId="{44CA1364-1866-499F-B7B0-866F23A12D96}" srcOrd="0" destOrd="0" presId="urn:microsoft.com/office/officeart/2018/2/layout/IconVerticalSolidList"/>
    <dgm:cxn modelId="{11D0D24E-DF75-4FEF-8097-E1EDB85096CC}" type="presParOf" srcId="{A52FECE9-36E4-45AF-8943-0168FE58F1FE}" destId="{90D85597-EAF8-4B28-BA37-91A6392A6AC4}" srcOrd="1" destOrd="0" presId="urn:microsoft.com/office/officeart/2018/2/layout/IconVerticalSolidList"/>
    <dgm:cxn modelId="{76F2DBEB-476C-46F3-A223-258B8E323265}" type="presParOf" srcId="{A52FECE9-36E4-45AF-8943-0168FE58F1FE}" destId="{C96F4EC9-2CB7-487C-9B7B-4F7101DC7086}" srcOrd="2" destOrd="0" presId="urn:microsoft.com/office/officeart/2018/2/layout/IconVerticalSolidList"/>
    <dgm:cxn modelId="{4924D674-0F3B-4F7E-AE23-1F5B1868A8A1}" type="presParOf" srcId="{A52FECE9-36E4-45AF-8943-0168FE58F1FE}" destId="{4BFEDFBE-21D1-4D51-AD11-BFD20ACFE16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4E33F9-D01E-4AD2-9C12-89D0FF5E03BE}" type="doc">
      <dgm:prSet loTypeId="urn:microsoft.com/office/officeart/2005/8/layout/vProcess5" loCatId="process" qsTypeId="urn:microsoft.com/office/officeart/2005/8/quickstyle/simple1" qsCatId="simple" csTypeId="urn:microsoft.com/office/officeart/2005/8/colors/accent3_5" csCatId="accent3" phldr="1"/>
      <dgm:spPr/>
      <dgm:t>
        <a:bodyPr/>
        <a:lstStyle/>
        <a:p>
          <a:endParaRPr lang="en-US"/>
        </a:p>
      </dgm:t>
    </dgm:pt>
    <dgm:pt modelId="{8BE9585C-A8F8-42A9-8658-80F3409648CA}">
      <dgm:prSet custT="1"/>
      <dgm:spPr/>
      <dgm:t>
        <a:bodyPr/>
        <a:lstStyle/>
        <a:p>
          <a:r>
            <a:rPr lang="en-US" sz="1800" dirty="0">
              <a:latin typeface="Quattrocento" panose="02020502030000000404" pitchFamily="18" charset="0"/>
            </a:rPr>
            <a:t>SB 375 requires California's 18 MPOs to each produce a Sustainable Communities Strategy (SCS): a transportation and land use plan aligned with state climate targets</a:t>
          </a:r>
        </a:p>
      </dgm:t>
    </dgm:pt>
    <dgm:pt modelId="{8A633ADF-8EFB-46F3-AFEF-0D164461A679}" type="parTrans" cxnId="{37A969FB-9101-499B-8374-7423EDFF7F2F}">
      <dgm:prSet/>
      <dgm:spPr/>
      <dgm:t>
        <a:bodyPr/>
        <a:lstStyle/>
        <a:p>
          <a:endParaRPr lang="en-US"/>
        </a:p>
      </dgm:t>
    </dgm:pt>
    <dgm:pt modelId="{7813AD38-C7C3-4634-8863-9CDD4E74A5A8}" type="sibTrans" cxnId="{37A969FB-9101-499B-8374-7423EDFF7F2F}">
      <dgm:prSet/>
      <dgm:spPr/>
      <dgm:t>
        <a:bodyPr/>
        <a:lstStyle/>
        <a:p>
          <a:endParaRPr lang="en-US" dirty="0"/>
        </a:p>
      </dgm:t>
    </dgm:pt>
    <dgm:pt modelId="{B646EFFB-7D0D-401D-8425-46E0292EF821}">
      <dgm:prSet custT="1"/>
      <dgm:spPr/>
      <dgm:t>
        <a:bodyPr/>
        <a:lstStyle/>
        <a:p>
          <a:r>
            <a:rPr lang="en-US" sz="1800" dirty="0">
              <a:latin typeface="Quattrocento" panose="02020502030000000404" pitchFamily="18" charset="0"/>
            </a:rPr>
            <a:t>Regions must show, on paper, how their plan achieves those targets</a:t>
          </a:r>
        </a:p>
      </dgm:t>
    </dgm:pt>
    <dgm:pt modelId="{D79032D7-0A38-40B7-A3AF-9D890F1588DD}" type="parTrans" cxnId="{0D9ABD3F-9A2D-4FD5-BFCA-F87D1811CBFA}">
      <dgm:prSet/>
      <dgm:spPr/>
      <dgm:t>
        <a:bodyPr/>
        <a:lstStyle/>
        <a:p>
          <a:endParaRPr lang="en-US"/>
        </a:p>
      </dgm:t>
    </dgm:pt>
    <dgm:pt modelId="{C9DDF12B-A19F-4884-8E0A-367597E96C4F}" type="sibTrans" cxnId="{0D9ABD3F-9A2D-4FD5-BFCA-F87D1811CBFA}">
      <dgm:prSet/>
      <dgm:spPr/>
      <dgm:t>
        <a:bodyPr/>
        <a:lstStyle/>
        <a:p>
          <a:endParaRPr lang="en-US" dirty="0"/>
        </a:p>
      </dgm:t>
    </dgm:pt>
    <dgm:pt modelId="{BF7E1C46-AE1B-4653-B2BC-DDFB9767DE32}">
      <dgm:prSet custT="1"/>
      <dgm:spPr/>
      <dgm:t>
        <a:bodyPr/>
        <a:lstStyle/>
        <a:p>
          <a:r>
            <a:rPr lang="en-US" sz="1800" dirty="0">
              <a:latin typeface="Quattrocento" panose="02020502030000000404" pitchFamily="18" charset="0"/>
            </a:rPr>
            <a:t>SB 375 was groundbreaking in 2008. Sixteen years later, VMT and GHG emissions are still rising</a:t>
          </a:r>
        </a:p>
      </dgm:t>
    </dgm:pt>
    <dgm:pt modelId="{E9F51B6B-FFF1-45A0-95D0-B49DBFC4AC10}" type="parTrans" cxnId="{1F9F16B9-35F5-428F-B181-179B12F46162}">
      <dgm:prSet/>
      <dgm:spPr/>
      <dgm:t>
        <a:bodyPr/>
        <a:lstStyle/>
        <a:p>
          <a:endParaRPr lang="en-US"/>
        </a:p>
      </dgm:t>
    </dgm:pt>
    <dgm:pt modelId="{A0CBC561-C573-4B9B-A734-6001FF33B8A5}" type="sibTrans" cxnId="{1F9F16B9-35F5-428F-B181-179B12F46162}">
      <dgm:prSet/>
      <dgm:spPr/>
      <dgm:t>
        <a:bodyPr/>
        <a:lstStyle/>
        <a:p>
          <a:endParaRPr lang="en-US"/>
        </a:p>
      </dgm:t>
    </dgm:pt>
    <dgm:pt modelId="{8C3914E2-AF22-EF4A-A28E-BE035A30167A}" type="pres">
      <dgm:prSet presAssocID="{E54E33F9-D01E-4AD2-9C12-89D0FF5E03BE}" presName="outerComposite" presStyleCnt="0">
        <dgm:presLayoutVars>
          <dgm:chMax val="5"/>
          <dgm:dir/>
          <dgm:resizeHandles val="exact"/>
        </dgm:presLayoutVars>
      </dgm:prSet>
      <dgm:spPr/>
    </dgm:pt>
    <dgm:pt modelId="{36A174F2-D5AD-A34C-9D45-4D6B35A67D85}" type="pres">
      <dgm:prSet presAssocID="{E54E33F9-D01E-4AD2-9C12-89D0FF5E03BE}" presName="dummyMaxCanvas" presStyleCnt="0">
        <dgm:presLayoutVars/>
      </dgm:prSet>
      <dgm:spPr/>
    </dgm:pt>
    <dgm:pt modelId="{700D5A65-89D3-934B-A5B9-CA6574CBAB1E}" type="pres">
      <dgm:prSet presAssocID="{E54E33F9-D01E-4AD2-9C12-89D0FF5E03BE}" presName="ThreeNodes_1" presStyleLbl="node1" presStyleIdx="0" presStyleCnt="3">
        <dgm:presLayoutVars>
          <dgm:bulletEnabled val="1"/>
        </dgm:presLayoutVars>
      </dgm:prSet>
      <dgm:spPr/>
    </dgm:pt>
    <dgm:pt modelId="{88FB3B4C-3DC5-9B4A-BC25-1724C51E1A6F}" type="pres">
      <dgm:prSet presAssocID="{E54E33F9-D01E-4AD2-9C12-89D0FF5E03BE}" presName="ThreeNodes_2" presStyleLbl="node1" presStyleIdx="1" presStyleCnt="3">
        <dgm:presLayoutVars>
          <dgm:bulletEnabled val="1"/>
        </dgm:presLayoutVars>
      </dgm:prSet>
      <dgm:spPr/>
    </dgm:pt>
    <dgm:pt modelId="{326E1867-FF67-EC4D-94EC-90F7342A8B1A}" type="pres">
      <dgm:prSet presAssocID="{E54E33F9-D01E-4AD2-9C12-89D0FF5E03BE}" presName="ThreeNodes_3" presStyleLbl="node1" presStyleIdx="2" presStyleCnt="3">
        <dgm:presLayoutVars>
          <dgm:bulletEnabled val="1"/>
        </dgm:presLayoutVars>
      </dgm:prSet>
      <dgm:spPr/>
    </dgm:pt>
    <dgm:pt modelId="{74AD3859-25BF-7B4A-A500-F4E86C00550A}" type="pres">
      <dgm:prSet presAssocID="{E54E33F9-D01E-4AD2-9C12-89D0FF5E03BE}" presName="ThreeConn_1-2" presStyleLbl="fgAccFollowNode1" presStyleIdx="0" presStyleCnt="2">
        <dgm:presLayoutVars>
          <dgm:bulletEnabled val="1"/>
        </dgm:presLayoutVars>
      </dgm:prSet>
      <dgm:spPr/>
    </dgm:pt>
    <dgm:pt modelId="{2ABD8AD4-F5BB-7743-B8C7-95851AA52066}" type="pres">
      <dgm:prSet presAssocID="{E54E33F9-D01E-4AD2-9C12-89D0FF5E03BE}" presName="ThreeConn_2-3" presStyleLbl="fgAccFollowNode1" presStyleIdx="1" presStyleCnt="2">
        <dgm:presLayoutVars>
          <dgm:bulletEnabled val="1"/>
        </dgm:presLayoutVars>
      </dgm:prSet>
      <dgm:spPr/>
    </dgm:pt>
    <dgm:pt modelId="{B6985008-8F6D-304D-BCCB-900E4C05AE95}" type="pres">
      <dgm:prSet presAssocID="{E54E33F9-D01E-4AD2-9C12-89D0FF5E03BE}" presName="ThreeNodes_1_text" presStyleLbl="node1" presStyleIdx="2" presStyleCnt="3">
        <dgm:presLayoutVars>
          <dgm:bulletEnabled val="1"/>
        </dgm:presLayoutVars>
      </dgm:prSet>
      <dgm:spPr/>
    </dgm:pt>
    <dgm:pt modelId="{93B3DDBA-2B0B-9742-BE05-CBAE1D00AC13}" type="pres">
      <dgm:prSet presAssocID="{E54E33F9-D01E-4AD2-9C12-89D0FF5E03BE}" presName="ThreeNodes_2_text" presStyleLbl="node1" presStyleIdx="2" presStyleCnt="3">
        <dgm:presLayoutVars>
          <dgm:bulletEnabled val="1"/>
        </dgm:presLayoutVars>
      </dgm:prSet>
      <dgm:spPr/>
    </dgm:pt>
    <dgm:pt modelId="{B943F051-4D70-7C4F-B96C-3CD8B0F96AB5}" type="pres">
      <dgm:prSet presAssocID="{E54E33F9-D01E-4AD2-9C12-89D0FF5E03BE}" presName="ThreeNodes_3_text" presStyleLbl="node1" presStyleIdx="2" presStyleCnt="3">
        <dgm:presLayoutVars>
          <dgm:bulletEnabled val="1"/>
        </dgm:presLayoutVars>
      </dgm:prSet>
      <dgm:spPr/>
    </dgm:pt>
  </dgm:ptLst>
  <dgm:cxnLst>
    <dgm:cxn modelId="{D5810D0D-060F-5D4C-878E-94BF483AE3D6}" type="presOf" srcId="{C9DDF12B-A19F-4884-8E0A-367597E96C4F}" destId="{2ABD8AD4-F5BB-7743-B8C7-95851AA52066}" srcOrd="0" destOrd="0" presId="urn:microsoft.com/office/officeart/2005/8/layout/vProcess5"/>
    <dgm:cxn modelId="{1273EA18-7C6F-264F-B310-0385FECA775A}" type="presOf" srcId="{B646EFFB-7D0D-401D-8425-46E0292EF821}" destId="{93B3DDBA-2B0B-9742-BE05-CBAE1D00AC13}" srcOrd="1" destOrd="0" presId="urn:microsoft.com/office/officeart/2005/8/layout/vProcess5"/>
    <dgm:cxn modelId="{B8F71133-781D-8F47-8023-F5B4B5653E1B}" type="presOf" srcId="{8BE9585C-A8F8-42A9-8658-80F3409648CA}" destId="{B6985008-8F6D-304D-BCCB-900E4C05AE95}" srcOrd="1" destOrd="0" presId="urn:microsoft.com/office/officeart/2005/8/layout/vProcess5"/>
    <dgm:cxn modelId="{0D9ABD3F-9A2D-4FD5-BFCA-F87D1811CBFA}" srcId="{E54E33F9-D01E-4AD2-9C12-89D0FF5E03BE}" destId="{B646EFFB-7D0D-401D-8425-46E0292EF821}" srcOrd="1" destOrd="0" parTransId="{D79032D7-0A38-40B7-A3AF-9D890F1588DD}" sibTransId="{C9DDF12B-A19F-4884-8E0A-367597E96C4F}"/>
    <dgm:cxn modelId="{A6339B43-5DBA-1444-B33A-A2E022102AAC}" type="presOf" srcId="{8BE9585C-A8F8-42A9-8658-80F3409648CA}" destId="{700D5A65-89D3-934B-A5B9-CA6574CBAB1E}" srcOrd="0" destOrd="0" presId="urn:microsoft.com/office/officeart/2005/8/layout/vProcess5"/>
    <dgm:cxn modelId="{9D9C335A-B66A-E34C-B733-8D97456CF9EA}" type="presOf" srcId="{7813AD38-C7C3-4634-8863-9CDD4E74A5A8}" destId="{74AD3859-25BF-7B4A-A500-F4E86C00550A}" srcOrd="0" destOrd="0" presId="urn:microsoft.com/office/officeart/2005/8/layout/vProcess5"/>
    <dgm:cxn modelId="{C52BE68A-3B3E-AA46-87DF-B98E31508B25}" type="presOf" srcId="{B646EFFB-7D0D-401D-8425-46E0292EF821}" destId="{88FB3B4C-3DC5-9B4A-BC25-1724C51E1A6F}" srcOrd="0" destOrd="0" presId="urn:microsoft.com/office/officeart/2005/8/layout/vProcess5"/>
    <dgm:cxn modelId="{5FB6F18C-0AE0-1544-A950-4A2FFE4C8B77}" type="presOf" srcId="{BF7E1C46-AE1B-4653-B2BC-DDFB9767DE32}" destId="{326E1867-FF67-EC4D-94EC-90F7342A8B1A}" srcOrd="0" destOrd="0" presId="urn:microsoft.com/office/officeart/2005/8/layout/vProcess5"/>
    <dgm:cxn modelId="{1F9F16B9-35F5-428F-B181-179B12F46162}" srcId="{E54E33F9-D01E-4AD2-9C12-89D0FF5E03BE}" destId="{BF7E1C46-AE1B-4653-B2BC-DDFB9767DE32}" srcOrd="2" destOrd="0" parTransId="{E9F51B6B-FFF1-45A0-95D0-B49DBFC4AC10}" sibTransId="{A0CBC561-C573-4B9B-A734-6001FF33B8A5}"/>
    <dgm:cxn modelId="{E496F3CD-E191-DA43-B94B-21B6FBF652E8}" type="presOf" srcId="{E54E33F9-D01E-4AD2-9C12-89D0FF5E03BE}" destId="{8C3914E2-AF22-EF4A-A28E-BE035A30167A}" srcOrd="0" destOrd="0" presId="urn:microsoft.com/office/officeart/2005/8/layout/vProcess5"/>
    <dgm:cxn modelId="{6ACA6BF6-F5BF-694F-9BC5-7BFFEFC0F416}" type="presOf" srcId="{BF7E1C46-AE1B-4653-B2BC-DDFB9767DE32}" destId="{B943F051-4D70-7C4F-B96C-3CD8B0F96AB5}" srcOrd="1" destOrd="0" presId="urn:microsoft.com/office/officeart/2005/8/layout/vProcess5"/>
    <dgm:cxn modelId="{37A969FB-9101-499B-8374-7423EDFF7F2F}" srcId="{E54E33F9-D01E-4AD2-9C12-89D0FF5E03BE}" destId="{8BE9585C-A8F8-42A9-8658-80F3409648CA}" srcOrd="0" destOrd="0" parTransId="{8A633ADF-8EFB-46F3-AFEF-0D164461A679}" sibTransId="{7813AD38-C7C3-4634-8863-9CDD4E74A5A8}"/>
    <dgm:cxn modelId="{49F7CF9B-F96C-514D-BFBC-2A12E5121A48}" type="presParOf" srcId="{8C3914E2-AF22-EF4A-A28E-BE035A30167A}" destId="{36A174F2-D5AD-A34C-9D45-4D6B35A67D85}" srcOrd="0" destOrd="0" presId="urn:microsoft.com/office/officeart/2005/8/layout/vProcess5"/>
    <dgm:cxn modelId="{0026A86F-AA0C-7142-B566-75B980210F52}" type="presParOf" srcId="{8C3914E2-AF22-EF4A-A28E-BE035A30167A}" destId="{700D5A65-89D3-934B-A5B9-CA6574CBAB1E}" srcOrd="1" destOrd="0" presId="urn:microsoft.com/office/officeart/2005/8/layout/vProcess5"/>
    <dgm:cxn modelId="{DFEFFF3A-4888-6E46-B46B-9482EF819027}" type="presParOf" srcId="{8C3914E2-AF22-EF4A-A28E-BE035A30167A}" destId="{88FB3B4C-3DC5-9B4A-BC25-1724C51E1A6F}" srcOrd="2" destOrd="0" presId="urn:microsoft.com/office/officeart/2005/8/layout/vProcess5"/>
    <dgm:cxn modelId="{1768E522-4AC5-3741-898A-624417096A9C}" type="presParOf" srcId="{8C3914E2-AF22-EF4A-A28E-BE035A30167A}" destId="{326E1867-FF67-EC4D-94EC-90F7342A8B1A}" srcOrd="3" destOrd="0" presId="urn:microsoft.com/office/officeart/2005/8/layout/vProcess5"/>
    <dgm:cxn modelId="{893D84B3-537D-BB4B-9EEC-01419462351C}" type="presParOf" srcId="{8C3914E2-AF22-EF4A-A28E-BE035A30167A}" destId="{74AD3859-25BF-7B4A-A500-F4E86C00550A}" srcOrd="4" destOrd="0" presId="urn:microsoft.com/office/officeart/2005/8/layout/vProcess5"/>
    <dgm:cxn modelId="{1DBBAFEF-87A1-3B4F-9720-86FCAA6AF23A}" type="presParOf" srcId="{8C3914E2-AF22-EF4A-A28E-BE035A30167A}" destId="{2ABD8AD4-F5BB-7743-B8C7-95851AA52066}" srcOrd="5" destOrd="0" presId="urn:microsoft.com/office/officeart/2005/8/layout/vProcess5"/>
    <dgm:cxn modelId="{4FD31648-4C26-9942-8343-B9F779EB3DD3}" type="presParOf" srcId="{8C3914E2-AF22-EF4A-A28E-BE035A30167A}" destId="{B6985008-8F6D-304D-BCCB-900E4C05AE95}" srcOrd="6" destOrd="0" presId="urn:microsoft.com/office/officeart/2005/8/layout/vProcess5"/>
    <dgm:cxn modelId="{69D3BA3E-8360-6141-AFF9-02BC33D5517B}" type="presParOf" srcId="{8C3914E2-AF22-EF4A-A28E-BE035A30167A}" destId="{93B3DDBA-2B0B-9742-BE05-CBAE1D00AC13}" srcOrd="7" destOrd="0" presId="urn:microsoft.com/office/officeart/2005/8/layout/vProcess5"/>
    <dgm:cxn modelId="{4EF12A9A-B5E4-AA45-A15B-C59E061E0CDF}" type="presParOf" srcId="{8C3914E2-AF22-EF4A-A28E-BE035A30167A}" destId="{B943F051-4D70-7C4F-B96C-3CD8B0F96AB5}"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E2916A-C6FD-43B2-A348-E1B8F49934D5}">
      <dsp:nvSpPr>
        <dsp:cNvPr id="0" name=""/>
        <dsp:cNvSpPr/>
      </dsp:nvSpPr>
      <dsp:spPr>
        <a:xfrm>
          <a:off x="0" y="14750"/>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EC76C2-D29B-4A72-A5AB-56CE3435AD89}">
      <dsp:nvSpPr>
        <dsp:cNvPr id="0" name=""/>
        <dsp:cNvSpPr/>
      </dsp:nvSpPr>
      <dsp:spPr>
        <a:xfrm>
          <a:off x="265356" y="201377"/>
          <a:ext cx="482938" cy="482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2DA22C-3CDA-4668-B9CF-475178571BDC}">
      <dsp:nvSpPr>
        <dsp:cNvPr id="0" name=""/>
        <dsp:cNvSpPr/>
      </dsp:nvSpPr>
      <dsp:spPr>
        <a:xfrm>
          <a:off x="1013651" y="4004"/>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800100">
            <a:lnSpc>
              <a:spcPct val="100000"/>
            </a:lnSpc>
            <a:spcBef>
              <a:spcPct val="0"/>
            </a:spcBef>
            <a:spcAft>
              <a:spcPct val="35000"/>
            </a:spcAft>
            <a:buNone/>
          </a:pPr>
          <a:r>
            <a:rPr lang="en-US" sz="1800" b="0" kern="1200" dirty="0">
              <a:solidFill>
                <a:srgbClr val="076C60"/>
              </a:solidFill>
              <a:latin typeface="Quattrocento" panose="02020502030000000404" pitchFamily="18" charset="0"/>
            </a:rPr>
            <a:t>VMT: CA's daily driving tab</a:t>
          </a:r>
        </a:p>
      </dsp:txBody>
      <dsp:txXfrm>
        <a:off x="1013651" y="4004"/>
        <a:ext cx="3024725" cy="932037"/>
      </dsp:txXfrm>
    </dsp:sp>
    <dsp:sp modelId="{678CB97D-009F-44F7-B82F-B1CA4A81DE83}">
      <dsp:nvSpPr>
        <dsp:cNvPr id="0" name=""/>
        <dsp:cNvSpPr/>
      </dsp:nvSpPr>
      <dsp:spPr>
        <a:xfrm>
          <a:off x="0" y="1169051"/>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4EDC78-01CB-4256-BE87-1D512E465A0D}">
      <dsp:nvSpPr>
        <dsp:cNvPr id="0" name=""/>
        <dsp:cNvSpPr/>
      </dsp:nvSpPr>
      <dsp:spPr>
        <a:xfrm>
          <a:off x="265356" y="1366424"/>
          <a:ext cx="482938" cy="482466"/>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61548B-35E4-4997-8219-8284EE08D973}">
      <dsp:nvSpPr>
        <dsp:cNvPr id="0" name=""/>
        <dsp:cNvSpPr/>
      </dsp:nvSpPr>
      <dsp:spPr>
        <a:xfrm>
          <a:off x="1013651" y="1169051"/>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800100">
            <a:lnSpc>
              <a:spcPct val="100000"/>
            </a:lnSpc>
            <a:spcBef>
              <a:spcPct val="0"/>
            </a:spcBef>
            <a:spcAft>
              <a:spcPct val="35000"/>
            </a:spcAft>
            <a:buNone/>
          </a:pPr>
          <a:r>
            <a:rPr lang="en-US" sz="1800" kern="1200" dirty="0">
              <a:solidFill>
                <a:srgbClr val="076C60"/>
              </a:solidFill>
              <a:latin typeface="Quattrocento" panose="02020502030000000404" pitchFamily="18" charset="0"/>
            </a:rPr>
            <a:t>Californians drive about 24–25 miles per person per day</a:t>
          </a:r>
        </a:p>
      </dsp:txBody>
      <dsp:txXfrm>
        <a:off x="1013651" y="1169051"/>
        <a:ext cx="3024725" cy="932037"/>
      </dsp:txXfrm>
    </dsp:sp>
    <dsp:sp modelId="{DF9AA32B-986B-42B1-9A80-7915C2EF6030}">
      <dsp:nvSpPr>
        <dsp:cNvPr id="0" name=""/>
        <dsp:cNvSpPr/>
      </dsp:nvSpPr>
      <dsp:spPr>
        <a:xfrm>
          <a:off x="0" y="2334099"/>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3FE012-0DF7-4F15-B74B-52A93C518317}">
      <dsp:nvSpPr>
        <dsp:cNvPr id="0" name=""/>
        <dsp:cNvSpPr/>
      </dsp:nvSpPr>
      <dsp:spPr>
        <a:xfrm>
          <a:off x="265356" y="2531471"/>
          <a:ext cx="482938" cy="482466"/>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9C40AA-61F5-4E87-9E25-DC4E15B47BF9}">
      <dsp:nvSpPr>
        <dsp:cNvPr id="0" name=""/>
        <dsp:cNvSpPr/>
      </dsp:nvSpPr>
      <dsp:spPr>
        <a:xfrm>
          <a:off x="1013651" y="2334099"/>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755650">
            <a:lnSpc>
              <a:spcPct val="100000"/>
            </a:lnSpc>
            <a:spcBef>
              <a:spcPct val="0"/>
            </a:spcBef>
            <a:spcAft>
              <a:spcPct val="35000"/>
            </a:spcAft>
            <a:buNone/>
          </a:pPr>
          <a:r>
            <a:rPr lang="en-US" sz="1700" kern="1200" dirty="0">
              <a:solidFill>
                <a:srgbClr val="076C60"/>
              </a:solidFill>
              <a:latin typeface="Quattrocento" panose="02020502030000000404" pitchFamily="18" charset="0"/>
            </a:rPr>
            <a:t>Carbon neutrality by 2045: ~17 miles per person per day</a:t>
          </a:r>
        </a:p>
      </dsp:txBody>
      <dsp:txXfrm>
        <a:off x="1013651" y="2334099"/>
        <a:ext cx="3024725" cy="932037"/>
      </dsp:txXfrm>
    </dsp:sp>
    <dsp:sp modelId="{44CA1364-1866-499F-B7B0-866F23A12D96}">
      <dsp:nvSpPr>
        <dsp:cNvPr id="0" name=""/>
        <dsp:cNvSpPr/>
      </dsp:nvSpPr>
      <dsp:spPr>
        <a:xfrm>
          <a:off x="0" y="3499146"/>
          <a:ext cx="4069080" cy="8772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D85597-EAF8-4B28-BA37-91A6392A6AC4}">
      <dsp:nvSpPr>
        <dsp:cNvPr id="0" name=""/>
        <dsp:cNvSpPr/>
      </dsp:nvSpPr>
      <dsp:spPr>
        <a:xfrm>
          <a:off x="265356" y="3696519"/>
          <a:ext cx="482938" cy="4824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FEDFBE-21D1-4D51-AD11-BFD20ACFE16F}">
      <dsp:nvSpPr>
        <dsp:cNvPr id="0" name=""/>
        <dsp:cNvSpPr/>
      </dsp:nvSpPr>
      <dsp:spPr>
        <a:xfrm>
          <a:off x="1013651" y="3499146"/>
          <a:ext cx="3024725" cy="932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41" tIns="98641" rIns="98641" bIns="98641" numCol="1" spcCol="1270" anchor="ctr" anchorCtr="0">
          <a:noAutofit/>
        </a:bodyPr>
        <a:lstStyle/>
        <a:p>
          <a:pPr marL="0" lvl="0" indent="0" algn="l" defTabSz="800100">
            <a:lnSpc>
              <a:spcPct val="100000"/>
            </a:lnSpc>
            <a:spcBef>
              <a:spcPct val="0"/>
            </a:spcBef>
            <a:spcAft>
              <a:spcPct val="35000"/>
            </a:spcAft>
            <a:buNone/>
          </a:pPr>
          <a:r>
            <a:rPr lang="en-US" sz="1800" kern="1200" dirty="0">
              <a:solidFill>
                <a:srgbClr val="076C60"/>
              </a:solidFill>
              <a:latin typeface="Quattrocento" panose="02020502030000000404" pitchFamily="18" charset="0"/>
            </a:rPr>
            <a:t>Gap is only growing</a:t>
          </a:r>
        </a:p>
      </dsp:txBody>
      <dsp:txXfrm>
        <a:off x="1013651" y="3499146"/>
        <a:ext cx="3024725" cy="9320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D5A65-89D3-934B-A5B9-CA6574CBAB1E}">
      <dsp:nvSpPr>
        <dsp:cNvPr id="0" name=""/>
        <dsp:cNvSpPr/>
      </dsp:nvSpPr>
      <dsp:spPr>
        <a:xfrm>
          <a:off x="0" y="0"/>
          <a:ext cx="5829300" cy="1352216"/>
        </a:xfrm>
        <a:prstGeom prst="roundRect">
          <a:avLst>
            <a:gd name="adj" fmla="val 10000"/>
          </a:avLst>
        </a:prstGeom>
        <a:solidFill>
          <a:schemeClr val="accent3">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Quattrocento" panose="02020502030000000404" pitchFamily="18" charset="0"/>
            </a:rPr>
            <a:t>SB 375 requires California's 18 MPOs to each produce a Sustainable Communities Strategy (SCS): a transportation and land use plan aligned with state climate targets</a:t>
          </a:r>
        </a:p>
      </dsp:txBody>
      <dsp:txXfrm>
        <a:off x="39605" y="39605"/>
        <a:ext cx="4370153" cy="1273006"/>
      </dsp:txXfrm>
    </dsp:sp>
    <dsp:sp modelId="{88FB3B4C-3DC5-9B4A-BC25-1724C51E1A6F}">
      <dsp:nvSpPr>
        <dsp:cNvPr id="0" name=""/>
        <dsp:cNvSpPr/>
      </dsp:nvSpPr>
      <dsp:spPr>
        <a:xfrm>
          <a:off x="514349" y="1577585"/>
          <a:ext cx="5829300" cy="1352216"/>
        </a:xfrm>
        <a:prstGeom prst="roundRect">
          <a:avLst>
            <a:gd name="adj" fmla="val 10000"/>
          </a:avLst>
        </a:prstGeom>
        <a:solidFill>
          <a:schemeClr val="accent3">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Quattrocento" panose="02020502030000000404" pitchFamily="18" charset="0"/>
            </a:rPr>
            <a:t>Regions must show, on paper, how their plan achieves those targets</a:t>
          </a:r>
        </a:p>
      </dsp:txBody>
      <dsp:txXfrm>
        <a:off x="553954" y="1617190"/>
        <a:ext cx="4356799" cy="1273006"/>
      </dsp:txXfrm>
    </dsp:sp>
    <dsp:sp modelId="{326E1867-FF67-EC4D-94EC-90F7342A8B1A}">
      <dsp:nvSpPr>
        <dsp:cNvPr id="0" name=""/>
        <dsp:cNvSpPr/>
      </dsp:nvSpPr>
      <dsp:spPr>
        <a:xfrm>
          <a:off x="1028699" y="3155171"/>
          <a:ext cx="5829300" cy="1352216"/>
        </a:xfrm>
        <a:prstGeom prst="roundRect">
          <a:avLst>
            <a:gd name="adj" fmla="val 10000"/>
          </a:avLst>
        </a:prstGeom>
        <a:solidFill>
          <a:schemeClr val="accent3">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Quattrocento" panose="02020502030000000404" pitchFamily="18" charset="0"/>
            </a:rPr>
            <a:t>SB 375 was groundbreaking in 2008. Sixteen years later, VMT and GHG emissions are still rising</a:t>
          </a:r>
        </a:p>
      </dsp:txBody>
      <dsp:txXfrm>
        <a:off x="1068304" y="3194776"/>
        <a:ext cx="4356799" cy="1273006"/>
      </dsp:txXfrm>
    </dsp:sp>
    <dsp:sp modelId="{74AD3859-25BF-7B4A-A500-F4E86C00550A}">
      <dsp:nvSpPr>
        <dsp:cNvPr id="0" name=""/>
        <dsp:cNvSpPr/>
      </dsp:nvSpPr>
      <dsp:spPr>
        <a:xfrm>
          <a:off x="4950359" y="1025430"/>
          <a:ext cx="878940" cy="878940"/>
        </a:xfrm>
        <a:prstGeom prst="downArrow">
          <a:avLst>
            <a:gd name="adj1" fmla="val 55000"/>
            <a:gd name="adj2" fmla="val 45000"/>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148120" y="1025430"/>
        <a:ext cx="483418" cy="661402"/>
      </dsp:txXfrm>
    </dsp:sp>
    <dsp:sp modelId="{2ABD8AD4-F5BB-7743-B8C7-95851AA52066}">
      <dsp:nvSpPr>
        <dsp:cNvPr id="0" name=""/>
        <dsp:cNvSpPr/>
      </dsp:nvSpPr>
      <dsp:spPr>
        <a:xfrm>
          <a:off x="5464709" y="2594001"/>
          <a:ext cx="878940" cy="878940"/>
        </a:xfrm>
        <a:prstGeom prst="downArrow">
          <a:avLst>
            <a:gd name="adj1" fmla="val 55000"/>
            <a:gd name="adj2" fmla="val 45000"/>
          </a:avLst>
        </a:prstGeom>
        <a:solidFill>
          <a:schemeClr val="accent3">
            <a:alpha val="90000"/>
            <a:tint val="40000"/>
            <a:hueOff val="0"/>
            <a:satOff val="0"/>
            <a:lumOff val="0"/>
            <a:alphaOff val="-4000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662470" y="2594001"/>
        <a:ext cx="483418" cy="6614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80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want to start not with policy — but with something everyone in this room has experienced. Sitting in traffic. Watching the air quality index tick up on a hot afternoon. Wondering why, despite everything we've heard about California's climate leadership, our roads keep getting more congested and our air keeps getting worse. That's what this project is about. And the answer isn't 'drive less.' It's about changing what we fund.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091271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VMT is the single most important metric in this presentation, so I want to make sure it's crystal clear. It's not complicated — it's just the total mileage bill California runs up every day. The reason it matters for climate is simple: more miles driven equals more fuel burned equals more emissions. What's striking is that even as electric vehicles have grown, total VMT has continued to climb — which means electrification alone won't get us there. We have to actually drive less, collectively.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SB 375 was genuinely a landmark law when it passed. It was the first in the country to link transportation planning to climate targets at a regional level. The idea was: if we require regions to plan for lower emissions, the spending will follow. Spoiler: it didn't. And the reason why is what I want to show you next.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50000"/>
              </a:lnSpc>
              <a:spcAft>
                <a:spcPts val="600"/>
              </a:spcAft>
            </a:pPr>
            <a:r>
              <a:rPr dirty="0"/>
              <a:t>This is the core insight of the whole project, and I want to make sure it lands. SB 375 is a planning mandate. It requires good documents. It does not require good spending decisions. And in practice, what we've seen is that regions produce plans showing impressive VMT reductions — and then fund projects that do the opposite. There's no mechanism that says: if you miss your target, you lose your highway funding. That's the gap we're trying to close.</a:t>
            </a:r>
            <a:br>
              <a:rPr lang="en-US" dirty="0"/>
            </a:br>
            <a:br>
              <a:rPr lang="en-US" dirty="0"/>
            </a:br>
            <a:r>
              <a:rPr lang="en-US" sz="1200" dirty="0">
                <a:solidFill>
                  <a:srgbClr val="F5E6D3"/>
                </a:solidFill>
                <a:latin typeface="Calibri"/>
              </a:rPr>
              <a:t>•  Think of it like a gym membership where you write a detailed workout schedule every four years — but no one ever checks if you showed up</a:t>
            </a:r>
          </a:p>
          <a:p>
            <a:pPr>
              <a:lnSpc>
                <a:spcPct val="150000"/>
              </a:lnSpc>
              <a:spcAft>
                <a:spcPts val="600"/>
              </a:spcAft>
            </a:pPr>
            <a:r>
              <a:rPr lang="en-US" sz="1200" dirty="0">
                <a:solidFill>
                  <a:srgbClr val="F5E6D3"/>
                </a:solidFill>
                <a:latin typeface="Calibri"/>
              </a:rPr>
              <a:t>•  Regions can submit a plan projecting significant VMT reductions, then fund highway expansions that generate more driving — with no legal consequence</a:t>
            </a:r>
          </a:p>
          <a:p>
            <a:pPr>
              <a:lnSpc>
                <a:spcPct val="150000"/>
              </a:lnSpc>
              <a:spcAft>
                <a:spcPts val="600"/>
              </a:spcAft>
            </a:pPr>
            <a:r>
              <a:rPr lang="en-US" sz="1200" dirty="0">
                <a:solidFill>
                  <a:srgbClr val="F5E6D3"/>
                </a:solidFill>
                <a:latin typeface="Calibri"/>
              </a:rPr>
              <a:t>•  This gap between planning and spending is where climate progress gets lost</a:t>
            </a:r>
          </a:p>
          <a:p>
            <a:pPr>
              <a:lnSpc>
                <a:spcPct val="150000"/>
              </a:lnSpc>
              <a:spcAft>
                <a:spcPts val="600"/>
              </a:spcAft>
            </a:pPr>
            <a:r>
              <a:rPr lang="en-US" sz="1200" dirty="0">
                <a:solidFill>
                  <a:srgbClr val="F5E6D3"/>
                </a:solidFill>
                <a:latin typeface="Calibri"/>
              </a:rPr>
              <a:t>•  Result: VMT and emissions are trending upward statewide, even as regions report "on track" in their plans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capstone was done through UC Berkeley's Rausser College of Natural Resources. My partner on the project was NRDC — the Natural Resources Defense Council — specifically Zak Accuardi, who works on exactly these questions professionally. I want to be upfront: this is a policy analysis project, not an engineering one. We're looking at how laws are written and how money flows — not at individual driver behavior.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where the project gets strategic. We couldn't just amend SB 375 directly — the legal structure is too narrow for investment mandates. But SB 1087, introduced just this February, opens the right doors. It's currently a fairly dry administrative bill. But because it touches the same code sections, it gives advocates a vehicle to attach real enforcement mechanisms this legislative session. The window is open right now.</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None of these states reinvented the wheel. They just added consequences. Colorado locked the budget. Minnesota required honest accounting. Virginia built equity into the scoring. Massachusetts made the targets legally binding. California has the policy infrastructure to do all four — we just need the political will to attach them to the right bill.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scenario I'd recommend as the starting point for this legislative session. It's not the most transformative option, but it's the most politically viable. The key insight is that it doesn't permanently cut anyone's funding — it creates a pause with a clear path to restoration. That makes it much harder to oppose. A region that's genuinely making progress has nothing to fear from this.</a:t>
            </a:r>
            <a:endParaRPr lang="en-US" dirty="0"/>
          </a:p>
          <a:p>
            <a:endParaRPr lang="en-US" dirty="0"/>
          </a:p>
          <a:p>
            <a:pPr>
              <a:lnSpc>
                <a:spcPct val="150000"/>
              </a:lnSpc>
              <a:spcAft>
                <a:spcPts val="600"/>
              </a:spcAft>
            </a:pPr>
            <a:r>
              <a:rPr lang="en-US" sz="1200" dirty="0">
                <a:solidFill>
                  <a:srgbClr val="F5E6D3"/>
                </a:solidFill>
                <a:latin typeface="Calibri"/>
              </a:rPr>
              <a:t>•  Modeled on: Colorado's GHG Budget Lock</a:t>
            </a:r>
          </a:p>
          <a:p>
            <a:pPr>
              <a:lnSpc>
                <a:spcPct val="150000"/>
              </a:lnSpc>
              <a:spcAft>
                <a:spcPts val="600"/>
              </a:spcAft>
            </a:pPr>
            <a:r>
              <a:rPr lang="en-US" sz="1200" dirty="0">
                <a:solidFill>
                  <a:srgbClr val="F5E6D3"/>
                </a:solidFill>
                <a:latin typeface="Calibri"/>
              </a:rPr>
              <a:t>•  Trigger: Two consecutive planning cycles with missed GHG (greenhouse gas) targets</a:t>
            </a:r>
          </a:p>
          <a:p>
            <a:pPr>
              <a:lnSpc>
                <a:spcPct val="150000"/>
              </a:lnSpc>
              <a:spcAft>
                <a:spcPts val="600"/>
              </a:spcAft>
            </a:pPr>
            <a:r>
              <a:rPr lang="en-US" sz="1200" dirty="0">
                <a:solidFill>
                  <a:srgbClr val="F5E6D3"/>
                </a:solidFill>
                <a:latin typeface="Calibri"/>
              </a:rPr>
              <a:t>•  Consequence: No state or federal funds may be spent on projects that add new highway lanes until CARB (California Air Resources Board) certifies a credible Corrective Action Plan</a:t>
            </a:r>
          </a:p>
          <a:p>
            <a:pPr>
              <a:lnSpc>
                <a:spcPct val="150000"/>
              </a:lnSpc>
              <a:spcAft>
                <a:spcPts val="600"/>
              </a:spcAft>
            </a:pPr>
            <a:r>
              <a:rPr lang="en-US" sz="1200" dirty="0">
                <a:solidFill>
                  <a:srgbClr val="F5E6D3"/>
                </a:solidFill>
                <a:latin typeface="Calibri"/>
              </a:rPr>
              <a:t>•  Restoration: Funding resumes only when the region demonstrates a binding path back to its 2035 and 2045 targets</a:t>
            </a:r>
          </a:p>
          <a:p>
            <a:pPr>
              <a:lnSpc>
                <a:spcPct val="150000"/>
              </a:lnSpc>
              <a:spcAft>
                <a:spcPts val="600"/>
              </a:spcAft>
            </a:pPr>
            <a:r>
              <a:rPr lang="en-US" sz="1200" dirty="0">
                <a:solidFill>
                  <a:srgbClr val="F5E6D3"/>
                </a:solidFill>
                <a:latin typeface="Calibri"/>
              </a:rPr>
              <a:t>•  Political viability: </a:t>
            </a:r>
            <a:r>
              <a:rPr lang="en-US" sz="1200" b="1" u="sng" dirty="0">
                <a:solidFill>
                  <a:srgbClr val="F5E6D3"/>
                </a:solidFill>
                <a:latin typeface="Calibri"/>
              </a:rPr>
              <a:t>MODERATE</a:t>
            </a:r>
            <a:r>
              <a:rPr lang="en-US" sz="1200" dirty="0">
                <a:solidFill>
                  <a:srgbClr val="F5E6D3"/>
                </a:solidFill>
                <a:latin typeface="Calibri"/>
              </a:rPr>
              <a:t>: most feasible near-term option; consequence is a VMT pause, not a permanent cut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This one has real teeth. It basically says: 'Big Highway' projects have to fund their own climate offsets. If Caltrans wants to add a lane on I-5, it has to show that the induced demand won't blow up regional emissions targets — and if it will, it has to fund transit or housing alternatives that absorb that demand. This is how you stop the cycle of building more roads and then wondering why there's more traffic.</a:t>
            </a:r>
            <a:endParaRPr lang="en-US" dirty="0"/>
          </a:p>
          <a:p>
            <a:pPr>
              <a:spcAft>
                <a:spcPts val="600"/>
              </a:spcAft>
            </a:pPr>
            <a:endParaRPr lang="en-US" sz="1200" dirty="0">
              <a:solidFill>
                <a:srgbClr val="F5E6D3"/>
              </a:solidFill>
              <a:latin typeface="Calibri"/>
            </a:endParaRPr>
          </a:p>
          <a:p>
            <a:pPr>
              <a:spcAft>
                <a:spcPts val="600"/>
              </a:spcAft>
            </a:pPr>
            <a:r>
              <a:rPr lang="en-US" sz="1200" dirty="0">
                <a:solidFill>
                  <a:srgbClr val="F5E6D3"/>
                </a:solidFill>
                <a:latin typeface="Calibri"/>
              </a:rPr>
              <a:t> Modeled on: Minnesota's Capacity Trigger</a:t>
            </a:r>
            <a:endParaRPr lang="en-US" sz="900" dirty="0">
              <a:solidFill>
                <a:srgbClr val="F5E6D3"/>
              </a:solidFill>
              <a:latin typeface="Calibri"/>
            </a:endParaRPr>
          </a:p>
          <a:p>
            <a:pPr>
              <a:spcAft>
                <a:spcPts val="600"/>
              </a:spcAft>
            </a:pPr>
            <a:r>
              <a:rPr lang="en-US" sz="1200" dirty="0">
                <a:solidFill>
                  <a:srgbClr val="F5E6D3"/>
                </a:solidFill>
                <a:latin typeface="Calibri"/>
              </a:rPr>
              <a:t>•  Requirement: Any project adding vehicle capacity must complete a 20-year GHG and VMT impact assessment before inclusion in regional funding program.</a:t>
            </a:r>
            <a:endParaRPr lang="en-US" sz="900" dirty="0">
              <a:solidFill>
                <a:srgbClr val="F5E6D3"/>
              </a:solidFill>
              <a:latin typeface="Calibri"/>
            </a:endParaRPr>
          </a:p>
          <a:p>
            <a:pPr>
              <a:spcAft>
                <a:spcPts val="600"/>
              </a:spcAft>
            </a:pPr>
            <a:r>
              <a:rPr lang="en-US" sz="1200" dirty="0">
                <a:solidFill>
                  <a:srgbClr val="F5E6D3"/>
                </a:solidFill>
                <a:latin typeface="Calibri"/>
              </a:rPr>
              <a:t>•  If assessment shows net-increase in driving, the project sponsor must fund a VMT Mitigation Plan (transit improvements, bike infrastructure, or infill housing) that fully offsets projected 20-year impact.</a:t>
            </a:r>
            <a:endParaRPr lang="en-US" sz="900" dirty="0">
              <a:solidFill>
                <a:srgbClr val="F5E6D3"/>
              </a:solidFill>
              <a:latin typeface="Calibri"/>
            </a:endParaRPr>
          </a:p>
          <a:p>
            <a:pPr>
              <a:spcAft>
                <a:spcPts val="600"/>
              </a:spcAft>
            </a:pPr>
            <a:r>
              <a:rPr lang="en-US" sz="1200" dirty="0">
                <a:solidFill>
                  <a:srgbClr val="F5E6D3"/>
                </a:solidFill>
                <a:latin typeface="Calibri"/>
              </a:rPr>
              <a:t>•  Political viability: </a:t>
            </a:r>
            <a:r>
              <a:rPr lang="en-US" sz="1200" b="1" u="sng" dirty="0">
                <a:solidFill>
                  <a:srgbClr val="F5E6D3"/>
                </a:solidFill>
                <a:latin typeface="Calibri"/>
              </a:rPr>
              <a:t>STRONG,</a:t>
            </a:r>
            <a:r>
              <a:rPr lang="en-US" sz="1200" dirty="0">
                <a:solidFill>
                  <a:srgbClr val="F5E6D3"/>
                </a:solidFill>
                <a:latin typeface="Calibri"/>
              </a:rPr>
              <a:t> but contested: highway agencies will push back</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long game. It fundamentally restructures how California decides what gets funded — not by tweaking the scoring at the margins, but by establishing a hard floor. If your project makes climate worse, it doesn't get state money. Full stop. Virginia and Massachusetts have shown this is legally defensible and politically survivable — but it will require building a broader coalition than Scenario 1 to get there.</a:t>
            </a:r>
            <a:endParaRPr lang="en-US" dirty="0"/>
          </a:p>
          <a:p>
            <a:endParaRPr lang="en-US" dirty="0"/>
          </a:p>
          <a:p>
            <a:pPr>
              <a:lnSpc>
                <a:spcPct val="150000"/>
              </a:lnSpc>
              <a:spcAft>
                <a:spcPts val="600"/>
              </a:spcAft>
            </a:pPr>
            <a:r>
              <a:rPr lang="en-US" sz="1200" dirty="0">
                <a:solidFill>
                  <a:srgbClr val="F5E6D3"/>
                </a:solidFill>
                <a:latin typeface="Calibri"/>
              </a:rPr>
              <a:t>•  Modeled on: Virginia's SMART SCALE Scoring + Massachusetts' Enforceable Emission Caps</a:t>
            </a:r>
          </a:p>
          <a:p>
            <a:pPr>
              <a:lnSpc>
                <a:spcPct val="150000"/>
              </a:lnSpc>
              <a:spcAft>
                <a:spcPts val="600"/>
              </a:spcAft>
            </a:pPr>
            <a:r>
              <a:rPr lang="en-US" sz="1200" dirty="0">
                <a:solidFill>
                  <a:srgbClr val="F5E6D3"/>
                </a:solidFill>
                <a:latin typeface="Calibri"/>
              </a:rPr>
              <a:t>•  Climate Floor: Any project with a negative net score for VMT (Vehicle Miles Traveled) reduction is automatically ineligible for state funding, regardless of how it scores on other criteria</a:t>
            </a:r>
          </a:p>
          <a:p>
            <a:pPr>
              <a:lnSpc>
                <a:spcPct val="150000"/>
              </a:lnSpc>
              <a:spcAft>
                <a:spcPts val="600"/>
              </a:spcAft>
            </a:pPr>
            <a:r>
              <a:rPr lang="en-US" sz="1200" dirty="0">
                <a:solidFill>
                  <a:srgbClr val="F5E6D3"/>
                </a:solidFill>
                <a:latin typeface="Calibri"/>
              </a:rPr>
              <a:t>•  Objective Need Standard: Projects must address a need identified in a statewide assessment — not just a locally-defined traffic throughput goal</a:t>
            </a:r>
          </a:p>
          <a:p>
            <a:pPr>
              <a:lnSpc>
                <a:spcPct val="150000"/>
              </a:lnSpc>
              <a:spcAft>
                <a:spcPts val="600"/>
              </a:spcAft>
            </a:pPr>
            <a:r>
              <a:rPr lang="en-US" sz="1200" dirty="0">
                <a:solidFill>
                  <a:srgbClr val="F5E6D3"/>
                </a:solidFill>
                <a:latin typeface="Calibri"/>
              </a:rPr>
              <a:t>•  Multimodal Alternatives Test: For every mobility need identified, at least two non-highway alternatives must be evaluated with the same rigor as the capacity project</a:t>
            </a:r>
          </a:p>
          <a:p>
            <a:pPr>
              <a:lnSpc>
                <a:spcPct val="150000"/>
              </a:lnSpc>
              <a:spcAft>
                <a:spcPts val="600"/>
              </a:spcAft>
            </a:pPr>
            <a:r>
              <a:rPr lang="en-US" sz="1200" dirty="0">
                <a:solidFill>
                  <a:srgbClr val="F5E6D3"/>
                </a:solidFill>
                <a:latin typeface="Calibri"/>
              </a:rPr>
              <a:t>•  If a multimodal option scores better on climate, the highway expansion is statutorily ineligible</a:t>
            </a:r>
          </a:p>
          <a:p>
            <a:pPr>
              <a:lnSpc>
                <a:spcPct val="150000"/>
              </a:lnSpc>
              <a:spcAft>
                <a:spcPts val="600"/>
              </a:spcAft>
            </a:pPr>
            <a:r>
              <a:rPr lang="en-US" sz="1200" dirty="0">
                <a:solidFill>
                  <a:srgbClr val="F5E6D3"/>
                </a:solidFill>
                <a:latin typeface="Calibri"/>
              </a:rPr>
              <a:t>•  Political viability: TRANSFORMATIVE but faces strongest opposition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48C1-DFAD-311F-B703-60D8DEDD2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3C403-9D11-85E5-0562-26569F6EA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3BA929-4600-8B5F-BC48-1D858E365B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6CDC77-8340-E44F-D830-4A99234F0EE8}"/>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4027988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I want to be transparent about a methodological choice here. We used per-capita VMT as our primary metric, which can actually undercount burden in places like the Central Valley, where absolute freight traffic is enormous but spread across a smaller population. The 309 hotspot number is conservative. The human reality — elevated asthma rates, cardiovascular disease, premature death near these corridors — is well-documented in the literature and should not be obscured by the averages.</a:t>
            </a:r>
            <a:br>
              <a:rPr lang="en-US" dirty="0"/>
            </a:br>
            <a:br>
              <a:rPr lang="en-US" dirty="0"/>
            </a:br>
            <a:r>
              <a:rPr lang="en-US" sz="1200" dirty="0">
                <a:solidFill>
                  <a:srgbClr val="F5E6D3"/>
                </a:solidFill>
                <a:latin typeface="Calibri"/>
              </a:rPr>
              <a:t>Note: per-capita VMT can appear lower in dense urban corridors even when absolute pollution burden is highest.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F5E6D3"/>
              </a:solidFill>
              <a:latin typeface="Calibri"/>
            </a:endParaRPr>
          </a:p>
          <a:p>
            <a:pPr>
              <a:lnSpc>
                <a:spcPct val="150000"/>
              </a:lnSpc>
              <a:spcAft>
                <a:spcPts val="600"/>
              </a:spcAft>
            </a:pPr>
            <a:r>
              <a:rPr lang="en-US" sz="1200" dirty="0">
                <a:solidFill>
                  <a:srgbClr val="F5E6D3"/>
                </a:solidFill>
                <a:latin typeface="Calibri"/>
              </a:rPr>
              <a:t>•  309 hotspots census tracts: high VMT and high pollution burden</a:t>
            </a:r>
          </a:p>
          <a:p>
            <a:pPr>
              <a:lnSpc>
                <a:spcPct val="150000"/>
              </a:lnSpc>
              <a:spcAft>
                <a:spcPts val="600"/>
              </a:spcAft>
            </a:pPr>
            <a:endParaRPr lang="en-US" sz="1000" dirty="0">
              <a:solidFill>
                <a:srgbClr val="F5E6D3"/>
              </a:solidFill>
              <a:latin typeface="Calibri"/>
            </a:endParaRPr>
          </a:p>
          <a:p>
            <a:pPr>
              <a:lnSpc>
                <a:spcPct val="150000"/>
              </a:lnSpc>
              <a:spcAft>
                <a:spcPts val="600"/>
              </a:spcAft>
            </a:pPr>
            <a:r>
              <a:rPr lang="en-US" sz="1200" dirty="0">
                <a:solidFill>
                  <a:srgbClr val="F5E6D3"/>
                </a:solidFill>
                <a:latin typeface="Calibri"/>
              </a:rPr>
              <a:t>•  I-710, I-105, SR-99, and I-80 corridors</a:t>
            </a:r>
          </a:p>
          <a:p>
            <a:pPr>
              <a:lnSpc>
                <a:spcPct val="150000"/>
              </a:lnSpc>
              <a:spcAft>
                <a:spcPts val="600"/>
              </a:spcAft>
            </a:pPr>
            <a:endParaRPr lang="en-US" sz="1000" dirty="0">
              <a:solidFill>
                <a:srgbClr val="F5E6D3"/>
              </a:solidFill>
              <a:latin typeface="Calibri"/>
            </a:endParaRPr>
          </a:p>
          <a:p>
            <a:pPr>
              <a:lnSpc>
                <a:spcPct val="150000"/>
              </a:lnSpc>
              <a:spcAft>
                <a:spcPts val="600"/>
              </a:spcAft>
            </a:pPr>
            <a:r>
              <a:rPr lang="en-US" sz="1200" dirty="0">
                <a:solidFill>
                  <a:srgbClr val="F5E6D3"/>
                </a:solidFill>
                <a:latin typeface="Calibri"/>
              </a:rPr>
              <a:t>•  Central Valley: lower per-capita VMT but concentrated freight and agricultural traffic exposure</a:t>
            </a:r>
          </a:p>
          <a:p>
            <a:pPr>
              <a:lnSpc>
                <a:spcPct val="150000"/>
              </a:lnSpc>
              <a:spcAft>
                <a:spcPts val="600"/>
              </a:spcAft>
            </a:pPr>
            <a:endParaRPr lang="en-US" sz="1000" dirty="0">
              <a:solidFill>
                <a:srgbClr val="F5E6D3"/>
              </a:solidFill>
              <a:latin typeface="Calibri"/>
            </a:endParaRPr>
          </a:p>
          <a:p>
            <a:pPr>
              <a:lnSpc>
                <a:spcPct val="150000"/>
              </a:lnSpc>
              <a:spcAft>
                <a:spcPts val="600"/>
              </a:spcAft>
            </a:pPr>
            <a:r>
              <a:rPr lang="en-US" sz="1200" dirty="0">
                <a:solidFill>
                  <a:srgbClr val="F5E6D3"/>
                </a:solidFill>
                <a:latin typeface="Calibri"/>
              </a:rPr>
              <a:t>•  Reformed investment: transit, walking infrastructure, infill housing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F5E6D3"/>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dirty="0"/>
          </a:p>
        </p:txBody>
      </p:sp>
      <p:sp>
        <p:nvSpPr>
          <p:cNvPr id="3" name="Shape 1"/>
          <p:cNvSpPr/>
          <p:nvPr/>
        </p:nvSpPr>
        <p:spPr>
          <a:xfrm>
            <a:off x="0" y="0"/>
            <a:ext cx="12192000" cy="6858000"/>
          </a:xfrm>
          <a:prstGeom prst="rect">
            <a:avLst/>
          </a:prstGeom>
          <a:solidFill>
            <a:srgbClr val="123332"/>
          </a:solidFill>
          <a:ln/>
        </p:spPr>
        <p:txBody>
          <a:bodyPr/>
          <a:lstStyle/>
          <a:p>
            <a:endParaRPr lang="en-US" sz="1500" dirty="0"/>
          </a:p>
        </p:txBody>
      </p:sp>
    </p:spTree>
    <p:extLst>
      <p:ext uri="{BB962C8B-B14F-4D97-AF65-F5344CB8AC3E}">
        <p14:creationId xmlns:p14="http://schemas.microsoft.com/office/powerpoint/2010/main" val="2426834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dirty="0"/>
          </a:p>
        </p:txBody>
      </p:sp>
      <p:sp>
        <p:nvSpPr>
          <p:cNvPr id="3" name="Shape 1"/>
          <p:cNvSpPr/>
          <p:nvPr/>
        </p:nvSpPr>
        <p:spPr>
          <a:xfrm>
            <a:off x="0" y="0"/>
            <a:ext cx="12192000" cy="6858000"/>
          </a:xfrm>
          <a:prstGeom prst="rect">
            <a:avLst/>
          </a:prstGeom>
          <a:solidFill>
            <a:srgbClr val="123332"/>
          </a:solidFill>
          <a:ln/>
        </p:spPr>
        <p:txBody>
          <a:bodyPr/>
          <a:lstStyle/>
          <a:p>
            <a:endParaRPr lang="en-US" sz="1500" dirty="0"/>
          </a:p>
        </p:txBody>
      </p:sp>
    </p:spTree>
    <p:extLst>
      <p:ext uri="{BB962C8B-B14F-4D97-AF65-F5344CB8AC3E}">
        <p14:creationId xmlns:p14="http://schemas.microsoft.com/office/powerpoint/2010/main" val="3738698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C4241"/>
          </a:solidFill>
          <a:ln/>
        </p:spPr>
        <p:txBody>
          <a:bodyPr/>
          <a:lstStyle/>
          <a:p>
            <a:endParaRPr lang="en-US" sz="1500" dirty="0"/>
          </a:p>
        </p:txBody>
      </p:sp>
      <p:sp>
        <p:nvSpPr>
          <p:cNvPr id="3" name="Shape 1"/>
          <p:cNvSpPr/>
          <p:nvPr/>
        </p:nvSpPr>
        <p:spPr>
          <a:xfrm>
            <a:off x="0" y="0"/>
            <a:ext cx="12192000" cy="6858000"/>
          </a:xfrm>
          <a:prstGeom prst="rect">
            <a:avLst/>
          </a:prstGeom>
          <a:solidFill>
            <a:srgbClr val="123332"/>
          </a:solidFill>
          <a:ln/>
        </p:spPr>
        <p:txBody>
          <a:bodyPr/>
          <a:lstStyle/>
          <a:p>
            <a:endParaRPr lang="en-US" sz="1500" dirty="0"/>
          </a:p>
        </p:txBody>
      </p:sp>
    </p:spTree>
    <p:extLst>
      <p:ext uri="{BB962C8B-B14F-4D97-AF65-F5344CB8AC3E}">
        <p14:creationId xmlns:p14="http://schemas.microsoft.com/office/powerpoint/2010/main" val="3279582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wav"/><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image" Target="../media/image13.png"/><Relationship Id="rId5" Type="http://schemas.openxmlformats.org/officeDocument/2006/relationships/diagramLayout" Target="../diagrams/layout1.xml"/><Relationship Id="rId10" Type="http://schemas.openxmlformats.org/officeDocument/2006/relationships/image" Target="../media/image12.png"/><Relationship Id="rId4" Type="http://schemas.openxmlformats.org/officeDocument/2006/relationships/diagramData" Target="../diagrams/data1.xm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4.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2.xml"/><Relationship Id="rId11" Type="http://schemas.openxmlformats.org/officeDocument/2006/relationships/image" Target="../media/image17.png"/><Relationship Id="rId5" Type="http://schemas.openxmlformats.org/officeDocument/2006/relationships/diagramLayout" Target="../diagrams/layout2.xml"/><Relationship Id="rId10" Type="http://schemas.openxmlformats.org/officeDocument/2006/relationships/image" Target="../media/image16.svg"/><Relationship Id="rId4" Type="http://schemas.openxmlformats.org/officeDocument/2006/relationships/diagramData" Target="../diagrams/data2.xml"/><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sv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jpeg"/><Relationship Id="rId1" Type="http://schemas.openxmlformats.org/officeDocument/2006/relationships/slideLayout" Target="../slideLayouts/slideLayout13.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18.jpeg"/><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jpeg"/><Relationship Id="rId10" Type="http://schemas.openxmlformats.org/officeDocument/2006/relationships/image" Target="../media/image49.jpeg"/><Relationship Id="rId4" Type="http://schemas.openxmlformats.org/officeDocument/2006/relationships/image" Target="../media/image43.jpeg"/><Relationship Id="rId9" Type="http://schemas.openxmlformats.org/officeDocument/2006/relationships/image" Target="../media/image48.jpeg"/></Relationships>
</file>

<file path=ppt/slides/_rels/slide1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FEDBDE-5DD4-7015-74C8-5D3D3BAEF1A9}"/>
              </a:ext>
            </a:extLst>
          </p:cNvPr>
          <p:cNvPicPr>
            <a:picLocks noChangeAspect="1"/>
          </p:cNvPicPr>
          <p:nvPr/>
        </p:nvPicPr>
        <p:blipFill>
          <a:blip r:embed="rId3">
            <a:alphaModFix amt="50000"/>
          </a:blip>
          <a:stretch>
            <a:fillRect/>
          </a:stretch>
        </p:blipFill>
        <p:spPr>
          <a:xfrm>
            <a:off x="-1" y="0"/>
            <a:ext cx="12192000" cy="6858000"/>
          </a:xfrm>
          <a:prstGeom prst="rect">
            <a:avLst/>
          </a:prstGeom>
          <a:noFill/>
          <a:ln>
            <a:noFill/>
          </a:ln>
        </p:spPr>
      </p:pic>
      <p:sp>
        <p:nvSpPr>
          <p:cNvPr id="3" name="Text 0"/>
          <p:cNvSpPr/>
          <p:nvPr/>
        </p:nvSpPr>
        <p:spPr>
          <a:xfrm>
            <a:off x="2605415" y="2147909"/>
            <a:ext cx="3490586" cy="776011"/>
          </a:xfrm>
          <a:prstGeom prst="rect">
            <a:avLst/>
          </a:prstGeom>
          <a:noFill/>
          <a:ln/>
        </p:spPr>
        <p:txBody>
          <a:bodyPr wrap="none" lIns="0" tIns="0" rIns="0" bIns="0" rtlCol="0" anchor="t"/>
          <a:lstStyle/>
          <a:p>
            <a:r>
              <a:rPr lang="en-US" sz="5400" b="1" dirty="0">
                <a:solidFill>
                  <a:srgbClr val="E8967A"/>
                </a:solidFill>
                <a:latin typeface="Quattrocento" panose="02020502030000000404" pitchFamily="18" charset="0"/>
                <a:cs typeface="Calibri" panose="020F0502020204030204" pitchFamily="34" charset="0"/>
              </a:rPr>
              <a:t>Rethinking</a:t>
            </a:r>
          </a:p>
        </p:txBody>
      </p:sp>
      <p:sp>
        <p:nvSpPr>
          <p:cNvPr id="4" name="Text 1"/>
          <p:cNvSpPr/>
          <p:nvPr/>
        </p:nvSpPr>
        <p:spPr>
          <a:xfrm>
            <a:off x="2442574" y="3083458"/>
            <a:ext cx="6914367" cy="1034759"/>
          </a:xfrm>
          <a:prstGeom prst="rect">
            <a:avLst/>
          </a:prstGeom>
          <a:solidFill>
            <a:schemeClr val="accent1">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algn="ctr"/>
            <a:r>
              <a:rPr lang="en-US" sz="3200" b="1" dirty="0">
                <a:solidFill>
                  <a:schemeClr val="bg1"/>
                </a:solidFill>
                <a:latin typeface="Quattrocento" panose="02020502030000000404" pitchFamily="18" charset="0"/>
                <a:ea typeface="Quattrocento" pitchFamily="34" charset="-122"/>
                <a:cs typeface="Calibri" panose="020F0502020204030204" pitchFamily="34" charset="0"/>
              </a:rPr>
              <a:t>Legislative pathways to transform California's transportation landscape</a:t>
            </a:r>
            <a:endParaRPr lang="en-US" sz="3200" b="1" dirty="0">
              <a:solidFill>
                <a:schemeClr val="bg1"/>
              </a:solidFill>
              <a:latin typeface="Quattrocento" panose="02020502030000000404" pitchFamily="18" charset="0"/>
              <a:cs typeface="Calibri" panose="020F0502020204030204" pitchFamily="34" charset="0"/>
            </a:endParaRPr>
          </a:p>
        </p:txBody>
      </p:sp>
      <p:pic>
        <p:nvPicPr>
          <p:cNvPr id="6" name="Picture 5">
            <a:extLst>
              <a:ext uri="{FF2B5EF4-FFF2-40B4-BE49-F238E27FC236}">
                <a16:creationId xmlns:a16="http://schemas.microsoft.com/office/drawing/2014/main" id="{CD3948C3-2957-2462-B66A-23BAD27B7BA2}"/>
              </a:ext>
            </a:extLst>
          </p:cNvPr>
          <p:cNvPicPr>
            <a:picLocks noChangeAspect="1"/>
          </p:cNvPicPr>
          <p:nvPr/>
        </p:nvPicPr>
        <p:blipFill>
          <a:blip r:embed="rId4"/>
          <a:stretch>
            <a:fillRect/>
          </a:stretch>
        </p:blipFill>
        <p:spPr>
          <a:xfrm>
            <a:off x="133397" y="140022"/>
            <a:ext cx="793686" cy="1057190"/>
          </a:xfrm>
          <a:prstGeom prst="rect">
            <a:avLst/>
          </a:prstGeom>
        </p:spPr>
      </p:pic>
      <p:pic>
        <p:nvPicPr>
          <p:cNvPr id="8" name="Picture 7">
            <a:extLst>
              <a:ext uri="{FF2B5EF4-FFF2-40B4-BE49-F238E27FC236}">
                <a16:creationId xmlns:a16="http://schemas.microsoft.com/office/drawing/2014/main" id="{01B16A45-609D-6354-25B8-8CF1581B6391}"/>
              </a:ext>
            </a:extLst>
          </p:cNvPr>
          <p:cNvPicPr>
            <a:picLocks noChangeAspect="1"/>
          </p:cNvPicPr>
          <p:nvPr/>
        </p:nvPicPr>
        <p:blipFill>
          <a:blip r:embed="rId5"/>
          <a:stretch>
            <a:fillRect/>
          </a:stretch>
        </p:blipFill>
        <p:spPr>
          <a:xfrm>
            <a:off x="1060480" y="140022"/>
            <a:ext cx="3296326" cy="776011"/>
          </a:xfrm>
          <a:prstGeom prst="rect">
            <a:avLst/>
          </a:prstGeom>
        </p:spPr>
      </p:pic>
      <p:sp>
        <p:nvSpPr>
          <p:cNvPr id="9" name="Text 0">
            <a:extLst>
              <a:ext uri="{FF2B5EF4-FFF2-40B4-BE49-F238E27FC236}">
                <a16:creationId xmlns:a16="http://schemas.microsoft.com/office/drawing/2014/main" id="{578FBF7E-532A-B9A4-079C-CDBE2F9127BE}"/>
              </a:ext>
            </a:extLst>
          </p:cNvPr>
          <p:cNvSpPr/>
          <p:nvPr/>
        </p:nvSpPr>
        <p:spPr>
          <a:xfrm>
            <a:off x="6176672" y="2147908"/>
            <a:ext cx="1927668" cy="776011"/>
          </a:xfrm>
          <a:prstGeom prst="rect">
            <a:avLst/>
          </a:prstGeom>
          <a:noFill/>
          <a:ln/>
        </p:spPr>
        <p:txBody>
          <a:bodyPr wrap="none" lIns="0" tIns="0" rIns="0" bIns="0" rtlCol="0" anchor="t"/>
          <a:lstStyle/>
          <a:p>
            <a:r>
              <a:rPr lang="en-US" sz="5400" b="1" dirty="0">
                <a:solidFill>
                  <a:srgbClr val="00B0F0"/>
                </a:solidFill>
                <a:latin typeface="Quattrocento" panose="02020502030000000404" pitchFamily="18" charset="0"/>
                <a:cs typeface="Calibri" panose="020F0502020204030204" pitchFamily="34" charset="0"/>
              </a:rPr>
              <a:t>SB 375</a:t>
            </a:r>
          </a:p>
        </p:txBody>
      </p:sp>
      <p:sp>
        <p:nvSpPr>
          <p:cNvPr id="11" name="TextBox 10">
            <a:extLst>
              <a:ext uri="{FF2B5EF4-FFF2-40B4-BE49-F238E27FC236}">
                <a16:creationId xmlns:a16="http://schemas.microsoft.com/office/drawing/2014/main" id="{5A2915CA-327F-88C2-9CB0-E9ED00A66B19}"/>
              </a:ext>
            </a:extLst>
          </p:cNvPr>
          <p:cNvSpPr txBox="1"/>
          <p:nvPr/>
        </p:nvSpPr>
        <p:spPr>
          <a:xfrm>
            <a:off x="1390389" y="5034105"/>
            <a:ext cx="4705612" cy="523220"/>
          </a:xfrm>
          <a:prstGeom prst="rect">
            <a:avLst/>
          </a:prstGeom>
          <a:solidFill>
            <a:schemeClr val="accent6">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a:spAutoFit/>
          </a:bodyPr>
          <a:lstStyle/>
          <a:p>
            <a:r>
              <a:rPr lang="en-US" sz="2800" b="1" dirty="0">
                <a:solidFill>
                  <a:schemeClr val="bg1"/>
                </a:solidFill>
                <a:latin typeface="Quattrocento" panose="02020502030000000404" pitchFamily="18" charset="0"/>
                <a:ea typeface="Quattrocento" pitchFamily="34" charset="-122"/>
                <a:cs typeface="Calibri" panose="020F0502020204030204" pitchFamily="34" charset="0"/>
              </a:rPr>
              <a:t>from incumbent stagnation</a:t>
            </a:r>
            <a:endParaRPr lang="en-US" sz="2800" dirty="0">
              <a:solidFill>
                <a:schemeClr val="bg1"/>
              </a:solidFill>
              <a:latin typeface="Quattrocento" panose="02020502030000000404" pitchFamily="18" charset="0"/>
              <a:cs typeface="Calibri" panose="020F0502020204030204" pitchFamily="34" charset="0"/>
            </a:endParaRPr>
          </a:p>
        </p:txBody>
      </p:sp>
      <p:sp>
        <p:nvSpPr>
          <p:cNvPr id="12" name="TextBox 11">
            <a:extLst>
              <a:ext uri="{FF2B5EF4-FFF2-40B4-BE49-F238E27FC236}">
                <a16:creationId xmlns:a16="http://schemas.microsoft.com/office/drawing/2014/main" id="{E571F9DE-9F0A-E55D-D986-5F0D70070702}"/>
              </a:ext>
            </a:extLst>
          </p:cNvPr>
          <p:cNvSpPr txBox="1"/>
          <p:nvPr/>
        </p:nvSpPr>
        <p:spPr>
          <a:xfrm>
            <a:off x="6095999" y="5034105"/>
            <a:ext cx="4250500" cy="523220"/>
          </a:xfrm>
          <a:prstGeom prst="rect">
            <a:avLst/>
          </a:prstGeom>
          <a:solidFill>
            <a:schemeClr val="accent1">
              <a:alpha val="5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0">
            <a:scrgbClr r="0" g="0" b="0"/>
          </a:lnRef>
          <a:fillRef idx="0">
            <a:scrgbClr r="0" g="0" b="0"/>
          </a:fillRef>
          <a:effectRef idx="0">
            <a:scrgbClr r="0" g="0" b="0"/>
          </a:effectRef>
          <a:fontRef idx="minor">
            <a:schemeClr val="lt1"/>
          </a:fontRef>
        </p:style>
        <p:txBody>
          <a:bodyPr wrap="square">
            <a:spAutoFit/>
          </a:bodyPr>
          <a:lstStyle/>
          <a:p>
            <a:r>
              <a:rPr lang="en-US" sz="2800" b="1" dirty="0">
                <a:solidFill>
                  <a:schemeClr val="bg1"/>
                </a:solidFill>
                <a:latin typeface="Quattrocento" panose="02020502030000000404" pitchFamily="18" charset="0"/>
                <a:ea typeface="Quattrocento" pitchFamily="34" charset="-122"/>
                <a:cs typeface="Calibri" panose="020F0502020204030204" pitchFamily="34" charset="0"/>
              </a:rPr>
              <a:t>to climate accountability</a:t>
            </a:r>
            <a:endParaRPr lang="en-US" sz="2800" dirty="0">
              <a:solidFill>
                <a:schemeClr val="bg1"/>
              </a:solidFill>
              <a:latin typeface="Quattrocento" panose="02020502030000000404" pitchFamily="18"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1" y="320040"/>
            <a:ext cx="5132070" cy="1323439"/>
          </a:xfrm>
          <a:prstGeom prst="rect">
            <a:avLst/>
          </a:prstGeom>
          <a:noFill/>
        </p:spPr>
        <p:txBody>
          <a:bodyPr wrap="square">
            <a:spAutoFit/>
          </a:bodyPr>
          <a:lstStyle/>
          <a:p>
            <a:r>
              <a:rPr lang="en-US" sz="4000" b="1" dirty="0">
                <a:solidFill>
                  <a:srgbClr val="E8967A"/>
                </a:solidFill>
                <a:latin typeface="Quattrocento" panose="02020502030000000404" pitchFamily="18" charset="0"/>
                <a:cs typeface="Calibri" panose="020F0502020204030204" pitchFamily="34" charset="0"/>
              </a:rPr>
              <a:t>Californication: </a:t>
            </a:r>
          </a:p>
          <a:p>
            <a:r>
              <a:rPr lang="en-US" sz="4000" b="1" dirty="0">
                <a:solidFill>
                  <a:srgbClr val="E8967A"/>
                </a:solidFill>
                <a:latin typeface="Quattrocento" panose="02020502030000000404" pitchFamily="18" charset="0"/>
                <a:cs typeface="Calibri" panose="020F0502020204030204" pitchFamily="34" charset="0"/>
              </a:rPr>
              <a:t>A </a:t>
            </a:r>
            <a:r>
              <a:rPr sz="4000" b="1" dirty="0">
                <a:solidFill>
                  <a:srgbClr val="E8967A"/>
                </a:solidFill>
                <a:latin typeface="Quattrocento" panose="02020502030000000404" pitchFamily="18" charset="0"/>
                <a:cs typeface="Calibri" panose="020F0502020204030204" pitchFamily="34" charset="0"/>
              </a:rPr>
              <a:t>Traffic Problem</a:t>
            </a:r>
          </a:p>
        </p:txBody>
      </p:sp>
      <p:sp>
        <p:nvSpPr>
          <p:cNvPr id="3" name="TextBox 2"/>
          <p:cNvSpPr txBox="1"/>
          <p:nvPr/>
        </p:nvSpPr>
        <p:spPr>
          <a:xfrm>
            <a:off x="731519" y="2131959"/>
            <a:ext cx="4572000" cy="1569660"/>
          </a:xfrm>
          <a:prstGeom prst="rect">
            <a:avLst/>
          </a:prstGeom>
          <a:noFill/>
        </p:spPr>
        <p:txBody>
          <a:bodyPr wrap="square">
            <a:spAutoFit/>
          </a:bodyPr>
          <a:lstStyle/>
          <a:p>
            <a:pPr algn="l"/>
            <a:r>
              <a:rPr sz="3200" b="1" dirty="0">
                <a:solidFill>
                  <a:srgbClr val="F5E6D3"/>
                </a:solidFill>
                <a:latin typeface="Quattrocento" panose="02020502030000000404" pitchFamily="18" charset="0"/>
                <a:cs typeface="Calibri" panose="020F0502020204030204" pitchFamily="34" charset="0"/>
              </a:rPr>
              <a:t>Californians drive</a:t>
            </a:r>
            <a:r>
              <a:rPr lang="en-US" sz="3200" b="1" dirty="0">
                <a:solidFill>
                  <a:srgbClr val="F5E6D3"/>
                </a:solidFill>
                <a:latin typeface="Quattrocento" panose="02020502030000000404" pitchFamily="18" charset="0"/>
                <a:cs typeface="Calibri" panose="020F0502020204030204" pitchFamily="34" charset="0"/>
              </a:rPr>
              <a:t> nearly ~</a:t>
            </a:r>
            <a:r>
              <a:rPr sz="3200" b="1" dirty="0">
                <a:solidFill>
                  <a:srgbClr val="F5E6D3"/>
                </a:solidFill>
                <a:latin typeface="Quattrocento" panose="02020502030000000404" pitchFamily="18" charset="0"/>
                <a:cs typeface="Calibri" panose="020F0502020204030204" pitchFamily="34" charset="0"/>
              </a:rPr>
              <a:t>1 </a:t>
            </a:r>
            <a:r>
              <a:rPr lang="en-US" sz="3200" b="1" dirty="0">
                <a:solidFill>
                  <a:srgbClr val="F5E6D3"/>
                </a:solidFill>
                <a:latin typeface="Quattrocento" panose="02020502030000000404" pitchFamily="18" charset="0"/>
                <a:cs typeface="Calibri" panose="020F0502020204030204" pitchFamily="34" charset="0"/>
              </a:rPr>
              <a:t>B</a:t>
            </a:r>
            <a:r>
              <a:rPr sz="3200" b="1" dirty="0">
                <a:solidFill>
                  <a:srgbClr val="F5E6D3"/>
                </a:solidFill>
                <a:latin typeface="Quattrocento" panose="02020502030000000404" pitchFamily="18" charset="0"/>
                <a:cs typeface="Calibri" panose="020F0502020204030204" pitchFamily="34" charset="0"/>
              </a:rPr>
              <a:t>illion miles</a:t>
            </a:r>
            <a:r>
              <a:rPr lang="en-US" sz="3200" b="1" dirty="0">
                <a:solidFill>
                  <a:srgbClr val="F5E6D3"/>
                </a:solidFill>
                <a:latin typeface="Quattrocento" panose="02020502030000000404" pitchFamily="18" charset="0"/>
                <a:cs typeface="Calibri" panose="020F0502020204030204" pitchFamily="34" charset="0"/>
              </a:rPr>
              <a:t> DAILY</a:t>
            </a:r>
            <a:r>
              <a:rPr sz="3200" b="1" dirty="0">
                <a:solidFill>
                  <a:srgbClr val="F5E6D3"/>
                </a:solidFill>
                <a:latin typeface="Quattrocento" panose="02020502030000000404" pitchFamily="18" charset="0"/>
                <a:cs typeface="Calibri" panose="020F0502020204030204" pitchFamily="34" charset="0"/>
              </a:rPr>
              <a:t>. </a:t>
            </a:r>
            <a:endParaRPr lang="en-US" sz="3200" b="1" dirty="0">
              <a:solidFill>
                <a:srgbClr val="F5E6D3"/>
              </a:solidFill>
              <a:latin typeface="Quattrocento" panose="02020502030000000404" pitchFamily="18" charset="0"/>
              <a:cs typeface="Calibri" panose="020F0502020204030204" pitchFamily="34" charset="0"/>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1</a:t>
            </a:r>
          </a:p>
        </p:txBody>
      </p:sp>
      <p:pic>
        <p:nvPicPr>
          <p:cNvPr id="7" name="Image 0" descr="preencoded.png">
            <a:extLst>
              <a:ext uri="{FF2B5EF4-FFF2-40B4-BE49-F238E27FC236}">
                <a16:creationId xmlns:a16="http://schemas.microsoft.com/office/drawing/2014/main" id="{6049DC21-82BC-244F-81D1-D3BFEFD8FC13}"/>
              </a:ext>
            </a:extLst>
          </p:cNvPr>
          <p:cNvPicPr>
            <a:picLocks noChangeAspect="1"/>
          </p:cNvPicPr>
          <p:nvPr/>
        </p:nvPicPr>
        <p:blipFill>
          <a:blip r:embed="rId3"/>
          <a:stretch>
            <a:fillRect/>
          </a:stretch>
        </p:blipFill>
        <p:spPr>
          <a:xfrm>
            <a:off x="7620000" y="0"/>
            <a:ext cx="4572000" cy="6858000"/>
          </a:xfrm>
          <a:prstGeom prst="rect">
            <a:avLst/>
          </a:prstGeom>
        </p:spPr>
      </p:pic>
      <p:sp>
        <p:nvSpPr>
          <p:cNvPr id="8" name="TextBox 7">
            <a:extLst>
              <a:ext uri="{FF2B5EF4-FFF2-40B4-BE49-F238E27FC236}">
                <a16:creationId xmlns:a16="http://schemas.microsoft.com/office/drawing/2014/main" id="{389353BC-0072-C0DF-731D-A8BF37931942}"/>
              </a:ext>
            </a:extLst>
          </p:cNvPr>
          <p:cNvSpPr txBox="1"/>
          <p:nvPr/>
        </p:nvSpPr>
        <p:spPr>
          <a:xfrm>
            <a:off x="731519" y="4190100"/>
            <a:ext cx="4572000" cy="1077218"/>
          </a:xfrm>
          <a:prstGeom prst="rect">
            <a:avLst/>
          </a:prstGeom>
          <a:noFill/>
        </p:spPr>
        <p:txBody>
          <a:bodyPr wrap="square">
            <a:spAutoFit/>
          </a:bodyPr>
          <a:lstStyle/>
          <a:p>
            <a:pPr algn="l"/>
            <a:r>
              <a:rPr lang="en-US" sz="3200" b="1" dirty="0">
                <a:solidFill>
                  <a:srgbClr val="F5E6D3"/>
                </a:solidFill>
                <a:latin typeface="Quattrocento" panose="02020502030000000404" pitchFamily="18" charset="0"/>
                <a:cs typeface="Calibri" panose="020F0502020204030204" pitchFamily="34" charset="0"/>
              </a:rPr>
              <a:t>~</a:t>
            </a:r>
            <a:r>
              <a:rPr lang="en-US" sz="3200" b="1" i="0" dirty="0">
                <a:solidFill>
                  <a:srgbClr val="F5E6D3"/>
                </a:solidFill>
                <a:effectLst/>
                <a:latin typeface="Quattrocento" panose="02020502030000000404" pitchFamily="18" charset="0"/>
                <a:cs typeface="Calibri" panose="020F0502020204030204" pitchFamily="34" charset="0"/>
              </a:rPr>
              <a:t>40,000 trips around the Earth's equator.</a:t>
            </a:r>
            <a:endParaRPr lang="en-US" sz="3200" b="1" dirty="0">
              <a:solidFill>
                <a:srgbClr val="F5E6D3"/>
              </a:solidFill>
              <a:latin typeface="Quattrocento" panose="02020502030000000404" pitchFamily="18"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347C8C1-483E-C9B5-3DCE-B8AFCECEF35F}"/>
              </a:ext>
            </a:extLst>
          </p:cNvPr>
          <p:cNvSpPr/>
          <p:nvPr/>
        </p:nvSpPr>
        <p:spPr>
          <a:xfrm>
            <a:off x="315613" y="292197"/>
            <a:ext cx="11711385" cy="741148"/>
          </a:xfrm>
          <a:prstGeom prst="rect">
            <a:avLst/>
          </a:prstGeom>
          <a:noFill/>
          <a:ln/>
        </p:spPr>
        <p:txBody>
          <a:bodyPr wrap="square" lIns="0" tIns="0" rIns="0" bIns="0" rtlCol="0" anchor="t"/>
          <a:lstStyle/>
          <a:p>
            <a:pPr>
              <a:lnSpc>
                <a:spcPts val="4583"/>
              </a:lnSpc>
            </a:pPr>
            <a:r>
              <a:rPr lang="en-US" sz="3400" b="1" dirty="0">
                <a:solidFill>
                  <a:srgbClr val="E8967A"/>
                </a:solidFill>
                <a:latin typeface="Quattrocento" panose="02020502030000000404" pitchFamily="18" charset="0"/>
                <a:cs typeface="Calibri" panose="020F0502020204030204" pitchFamily="34" charset="0"/>
              </a:rPr>
              <a:t>Transportation emissions largest source of CA share</a:t>
            </a:r>
            <a:endParaRPr lang="en-US" sz="3400" dirty="0">
              <a:solidFill>
                <a:srgbClr val="F3CABC"/>
              </a:solidFill>
              <a:latin typeface="Quattrocento" panose="02020502030000000404" pitchFamily="18" charset="0"/>
              <a:cs typeface="Calibri" panose="020F0502020204030204" pitchFamily="34" charset="0"/>
            </a:endParaRPr>
          </a:p>
        </p:txBody>
      </p:sp>
      <p:pic>
        <p:nvPicPr>
          <p:cNvPr id="3074" name="Picture 2" descr="A pie chart showing 2023 GHG Emissions by Economic Sector. The chart shows the relative size of 2023…">
            <a:extLst>
              <a:ext uri="{FF2B5EF4-FFF2-40B4-BE49-F238E27FC236}">
                <a16:creationId xmlns:a16="http://schemas.microsoft.com/office/drawing/2014/main" id="{476F6481-DFB8-2E5B-D87A-12A80B326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446" r="13070"/>
          <a:stretch>
            <a:fillRect/>
          </a:stretch>
        </p:blipFill>
        <p:spPr bwMode="auto">
          <a:xfrm>
            <a:off x="5518732" y="1378853"/>
            <a:ext cx="6508266" cy="5186950"/>
          </a:xfrm>
          <a:prstGeom prst="roundRect">
            <a:avLst/>
          </a:prstGeom>
          <a:solidFill>
            <a:schemeClr val="bg1"/>
          </a:solidFill>
        </p:spPr>
      </p:pic>
      <p:sp>
        <p:nvSpPr>
          <p:cNvPr id="4" name="Text 1">
            <a:extLst>
              <a:ext uri="{FF2B5EF4-FFF2-40B4-BE49-F238E27FC236}">
                <a16:creationId xmlns:a16="http://schemas.microsoft.com/office/drawing/2014/main" id="{62302417-D8B8-942A-AA91-923C75212FA3}"/>
              </a:ext>
            </a:extLst>
          </p:cNvPr>
          <p:cNvSpPr/>
          <p:nvPr/>
        </p:nvSpPr>
        <p:spPr>
          <a:xfrm>
            <a:off x="8222334" y="6575524"/>
            <a:ext cx="1074234"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CARB</a:t>
            </a:r>
            <a:endParaRPr lang="en-US" sz="1167" dirty="0">
              <a:solidFill>
                <a:srgbClr val="E8967A"/>
              </a:solidFill>
            </a:endParaRPr>
          </a:p>
        </p:txBody>
      </p:sp>
      <p:sp>
        <p:nvSpPr>
          <p:cNvPr id="6" name="Text 1">
            <a:extLst>
              <a:ext uri="{FF2B5EF4-FFF2-40B4-BE49-F238E27FC236}">
                <a16:creationId xmlns:a16="http://schemas.microsoft.com/office/drawing/2014/main" id="{15DD2169-98EF-8E76-DBB9-B976A496A6A9}"/>
              </a:ext>
            </a:extLst>
          </p:cNvPr>
          <p:cNvSpPr/>
          <p:nvPr/>
        </p:nvSpPr>
        <p:spPr>
          <a:xfrm>
            <a:off x="178416" y="1766216"/>
            <a:ext cx="5429250" cy="4646083"/>
          </a:xfrm>
          <a:prstGeom prst="rect">
            <a:avLst/>
          </a:prstGeom>
          <a:noFill/>
          <a:ln/>
        </p:spPr>
        <p:txBody>
          <a:bodyPr wrap="none" lIns="0" tIns="0" rIns="0" bIns="0" rtlCol="0" anchor="t"/>
          <a:lstStyle/>
          <a:p>
            <a:pPr>
              <a:lnSpc>
                <a:spcPts val="2292"/>
              </a:lnSpc>
            </a:pPr>
            <a:endParaRPr lang="en-US" sz="1167" dirty="0"/>
          </a:p>
        </p:txBody>
      </p:sp>
      <p:sp>
        <p:nvSpPr>
          <p:cNvPr id="7" name="TextBox 6">
            <a:extLst>
              <a:ext uri="{FF2B5EF4-FFF2-40B4-BE49-F238E27FC236}">
                <a16:creationId xmlns:a16="http://schemas.microsoft.com/office/drawing/2014/main" id="{2C35FB19-5019-BC32-6CA7-FA1C17FC8CFA}"/>
              </a:ext>
            </a:extLst>
          </p:cNvPr>
          <p:cNvSpPr txBox="1"/>
          <p:nvPr/>
        </p:nvSpPr>
        <p:spPr>
          <a:xfrm>
            <a:off x="2815167" y="1852084"/>
            <a:ext cx="184731" cy="323165"/>
          </a:xfrm>
          <a:prstGeom prst="rect">
            <a:avLst/>
          </a:prstGeom>
          <a:noFill/>
        </p:spPr>
        <p:txBody>
          <a:bodyPr wrap="none" rtlCol="0">
            <a:spAutoFit/>
          </a:bodyPr>
          <a:lstStyle/>
          <a:p>
            <a:endParaRPr lang="en-US" sz="1500" dirty="0"/>
          </a:p>
        </p:txBody>
      </p:sp>
      <p:sp>
        <p:nvSpPr>
          <p:cNvPr id="10" name="TextBox 9">
            <a:extLst>
              <a:ext uri="{FF2B5EF4-FFF2-40B4-BE49-F238E27FC236}">
                <a16:creationId xmlns:a16="http://schemas.microsoft.com/office/drawing/2014/main" id="{A739EAB5-A4A3-7C7F-2B1E-43227E0FDF74}"/>
              </a:ext>
            </a:extLst>
          </p:cNvPr>
          <p:cNvSpPr txBox="1"/>
          <p:nvPr/>
        </p:nvSpPr>
        <p:spPr>
          <a:xfrm>
            <a:off x="32949" y="2581214"/>
            <a:ext cx="5429250" cy="830997"/>
          </a:xfrm>
          <a:prstGeom prst="rect">
            <a:avLst/>
          </a:prstGeom>
          <a:noFill/>
        </p:spPr>
        <p:txBody>
          <a:bodyPr wrap="square" rtlCol="0">
            <a:spAutoFit/>
          </a:bodyPr>
          <a:lstStyle/>
          <a:p>
            <a:pPr algn="ctr"/>
            <a:r>
              <a:rPr lang="en-US" sz="2400" b="1" dirty="0">
                <a:solidFill>
                  <a:srgbClr val="F5E6D3"/>
                </a:solidFill>
                <a:latin typeface="Quattrocento" panose="02020502030000000404" pitchFamily="18" charset="0"/>
              </a:rPr>
              <a:t>Statewide greenhouse gas emissions from transportation sector</a:t>
            </a:r>
            <a:endParaRPr lang="en-US" sz="2400" dirty="0">
              <a:solidFill>
                <a:srgbClr val="F5E6D3"/>
              </a:solidFill>
              <a:latin typeface="Quattrocento" panose="02020502030000000404" pitchFamily="18" charset="0"/>
            </a:endParaRPr>
          </a:p>
        </p:txBody>
      </p:sp>
      <p:sp>
        <p:nvSpPr>
          <p:cNvPr id="11" name="TextBox 10">
            <a:extLst>
              <a:ext uri="{FF2B5EF4-FFF2-40B4-BE49-F238E27FC236}">
                <a16:creationId xmlns:a16="http://schemas.microsoft.com/office/drawing/2014/main" id="{9BF07B95-AF76-1A5F-24FF-6D0ED7936348}"/>
              </a:ext>
            </a:extLst>
          </p:cNvPr>
          <p:cNvSpPr txBox="1"/>
          <p:nvPr/>
        </p:nvSpPr>
        <p:spPr>
          <a:xfrm>
            <a:off x="1972935" y="1766216"/>
            <a:ext cx="1662343" cy="923330"/>
          </a:xfrm>
          <a:prstGeom prst="rect">
            <a:avLst/>
          </a:prstGeom>
          <a:noFill/>
        </p:spPr>
        <p:txBody>
          <a:bodyPr wrap="square" rtlCol="0">
            <a:spAutoFit/>
          </a:bodyPr>
          <a:lstStyle/>
          <a:p>
            <a:pPr algn="ctr"/>
            <a:r>
              <a:rPr lang="en-US" sz="5400" b="1" dirty="0">
                <a:solidFill>
                  <a:srgbClr val="E8967A"/>
                </a:solidFill>
                <a:latin typeface="Quattrocento" panose="02020502030000000404" pitchFamily="18" charset="0"/>
                <a:cs typeface="Calibri" panose="020F0502020204030204" pitchFamily="34" charset="0"/>
              </a:rPr>
              <a:t>38%</a:t>
            </a:r>
            <a:endParaRPr lang="en-US" sz="5000" dirty="0">
              <a:solidFill>
                <a:srgbClr val="E8967A"/>
              </a:solidFill>
              <a:latin typeface="Quattrocento" panose="02020502030000000404" pitchFamily="18" charset="0"/>
              <a:cs typeface="Calibri" panose="020F0502020204030204" pitchFamily="34" charset="0"/>
            </a:endParaRPr>
          </a:p>
        </p:txBody>
      </p:sp>
      <p:sp>
        <p:nvSpPr>
          <p:cNvPr id="12" name="TextBox 11">
            <a:extLst>
              <a:ext uri="{FF2B5EF4-FFF2-40B4-BE49-F238E27FC236}">
                <a16:creationId xmlns:a16="http://schemas.microsoft.com/office/drawing/2014/main" id="{E3EE3856-EDA6-A685-126A-D1216E891C2D}"/>
              </a:ext>
            </a:extLst>
          </p:cNvPr>
          <p:cNvSpPr txBox="1"/>
          <p:nvPr/>
        </p:nvSpPr>
        <p:spPr>
          <a:xfrm>
            <a:off x="1049565" y="4413277"/>
            <a:ext cx="3169887" cy="861774"/>
          </a:xfrm>
          <a:prstGeom prst="rect">
            <a:avLst/>
          </a:prstGeom>
          <a:noFill/>
        </p:spPr>
        <p:txBody>
          <a:bodyPr wrap="square" rtlCol="0">
            <a:spAutoFit/>
          </a:bodyPr>
          <a:lstStyle/>
          <a:p>
            <a:pPr algn="ctr"/>
            <a:r>
              <a:rPr lang="en-US" sz="5000" b="1" dirty="0">
                <a:solidFill>
                  <a:srgbClr val="E8967A"/>
                </a:solidFill>
                <a:latin typeface="Quattrocento" panose="02020502030000000404" pitchFamily="18" charset="0"/>
                <a:cs typeface="Calibri" panose="020F0502020204030204" pitchFamily="34" charset="0"/>
              </a:rPr>
              <a:t>~137 MMT</a:t>
            </a:r>
            <a:endParaRPr lang="en-US" sz="5000" dirty="0">
              <a:solidFill>
                <a:srgbClr val="E8967A"/>
              </a:solidFill>
              <a:latin typeface="Quattrocento" panose="02020502030000000404" pitchFamily="18" charset="0"/>
              <a:cs typeface="Calibri" panose="020F0502020204030204" pitchFamily="34" charset="0"/>
            </a:endParaRPr>
          </a:p>
        </p:txBody>
      </p:sp>
      <p:sp>
        <p:nvSpPr>
          <p:cNvPr id="13" name="TextBox 12">
            <a:extLst>
              <a:ext uri="{FF2B5EF4-FFF2-40B4-BE49-F238E27FC236}">
                <a16:creationId xmlns:a16="http://schemas.microsoft.com/office/drawing/2014/main" id="{25497B6A-1E9B-7664-CD69-B1105233F9CF}"/>
              </a:ext>
            </a:extLst>
          </p:cNvPr>
          <p:cNvSpPr txBox="1"/>
          <p:nvPr/>
        </p:nvSpPr>
        <p:spPr>
          <a:xfrm>
            <a:off x="32949" y="5210599"/>
            <a:ext cx="5316185" cy="461665"/>
          </a:xfrm>
          <a:prstGeom prst="rect">
            <a:avLst/>
          </a:prstGeom>
          <a:noFill/>
        </p:spPr>
        <p:txBody>
          <a:bodyPr wrap="square" rtlCol="0">
            <a:spAutoFit/>
          </a:bodyPr>
          <a:lstStyle/>
          <a:p>
            <a:pPr algn="ctr"/>
            <a:r>
              <a:rPr lang="en-US" sz="2400" b="1" dirty="0">
                <a:solidFill>
                  <a:srgbClr val="F5E6D3"/>
                </a:solidFill>
                <a:latin typeface="Quattrocento" panose="02020502030000000404" pitchFamily="18" charset="0"/>
              </a:rPr>
              <a:t>CO</a:t>
            </a:r>
            <a:r>
              <a:rPr lang="en-US" sz="2400" b="1" baseline="-25000" dirty="0">
                <a:solidFill>
                  <a:srgbClr val="F5E6D3"/>
                </a:solidFill>
                <a:latin typeface="Quattrocento" panose="02020502030000000404" pitchFamily="18" charset="0"/>
              </a:rPr>
              <a:t>2</a:t>
            </a:r>
            <a:r>
              <a:rPr lang="en-US" sz="2400" b="1" dirty="0">
                <a:solidFill>
                  <a:srgbClr val="F5E6D3"/>
                </a:solidFill>
                <a:latin typeface="Quattrocento" panose="02020502030000000404" pitchFamily="18" charset="0"/>
              </a:rPr>
              <a:t>e emissions from transportation</a:t>
            </a:r>
            <a:endParaRPr lang="en-US" sz="2400" i="1" u="sng" dirty="0">
              <a:solidFill>
                <a:srgbClr val="F5E6D3"/>
              </a:solidFill>
            </a:endParaRPr>
          </a:p>
        </p:txBody>
      </p:sp>
      <p:pic>
        <p:nvPicPr>
          <p:cNvPr id="5" name="Picture 4">
            <a:extLst>
              <a:ext uri="{FF2B5EF4-FFF2-40B4-BE49-F238E27FC236}">
                <a16:creationId xmlns:a16="http://schemas.microsoft.com/office/drawing/2014/main" id="{C5BFE883-E637-4BF2-EF4B-B85775DD7108}"/>
              </a:ext>
            </a:extLst>
          </p:cNvPr>
          <p:cNvPicPr>
            <a:picLocks noChangeAspect="1"/>
          </p:cNvPicPr>
          <p:nvPr/>
        </p:nvPicPr>
        <p:blipFill>
          <a:blip r:embed="rId4"/>
          <a:stretch>
            <a:fillRect/>
          </a:stretch>
        </p:blipFill>
        <p:spPr>
          <a:xfrm>
            <a:off x="5460970" y="1729164"/>
            <a:ext cx="6698081" cy="4409733"/>
          </a:xfrm>
          <a:prstGeom prst="rect">
            <a:avLst/>
          </a:prstGeom>
        </p:spPr>
      </p:pic>
      <p:sp>
        <p:nvSpPr>
          <p:cNvPr id="8" name="Text 1">
            <a:extLst>
              <a:ext uri="{FF2B5EF4-FFF2-40B4-BE49-F238E27FC236}">
                <a16:creationId xmlns:a16="http://schemas.microsoft.com/office/drawing/2014/main" id="{CD4B114A-72FC-6B82-BDC0-1C16C68FB3A8}"/>
              </a:ext>
            </a:extLst>
          </p:cNvPr>
          <p:cNvSpPr/>
          <p:nvPr/>
        </p:nvSpPr>
        <p:spPr>
          <a:xfrm>
            <a:off x="7948147" y="6247661"/>
            <a:ext cx="1622607"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NextGen Policy</a:t>
            </a:r>
            <a:endParaRPr lang="en-US" sz="1167" dirty="0">
              <a:solidFill>
                <a:srgbClr val="E8967A"/>
              </a:solidFill>
            </a:endParaRPr>
          </a:p>
        </p:txBody>
      </p:sp>
    </p:spTree>
    <p:extLst>
      <p:ext uri="{BB962C8B-B14F-4D97-AF65-F5344CB8AC3E}">
        <p14:creationId xmlns:p14="http://schemas.microsoft.com/office/powerpoint/2010/main" val="257170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anim calcmode="lin" valueType="num">
                                      <p:cBhvr>
                                        <p:cTn id="20" dur="500" fill="hold"/>
                                        <p:tgtEl>
                                          <p:spTgt spid="12"/>
                                        </p:tgtEl>
                                        <p:attrNameLst>
                                          <p:attrName>ppt_x</p:attrName>
                                        </p:attrNameLst>
                                      </p:cBhvr>
                                      <p:tavLst>
                                        <p:tav tm="0">
                                          <p:val>
                                            <p:strVal val="#ppt_x"/>
                                          </p:val>
                                        </p:tav>
                                        <p:tav tm="100000">
                                          <p:val>
                                            <p:strVal val="#ppt_x"/>
                                          </p:val>
                                        </p:tav>
                                      </p:tavLst>
                                    </p:anim>
                                    <p:anim calcmode="lin" valueType="num">
                                      <p:cBhvr>
                                        <p:cTn id="21" dur="5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anim calcmode="lin" valueType="num">
                                      <p:cBhvr>
                                        <p:cTn id="25" dur="500" fill="hold"/>
                                        <p:tgtEl>
                                          <p:spTgt spid="13"/>
                                        </p:tgtEl>
                                        <p:attrNameLst>
                                          <p:attrName>ppt_x</p:attrName>
                                        </p:attrNameLst>
                                      </p:cBhvr>
                                      <p:tavLst>
                                        <p:tav tm="0">
                                          <p:val>
                                            <p:strVal val="#ppt_x"/>
                                          </p:val>
                                        </p:tav>
                                        <p:tav tm="100000">
                                          <p:val>
                                            <p:strVal val="#ppt_x"/>
                                          </p:val>
                                        </p:tav>
                                      </p:tavLst>
                                    </p:anim>
                                    <p:anim calcmode="lin" valueType="num">
                                      <p:cBhvr>
                                        <p:cTn id="26"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74"/>
                                        </p:tgtEl>
                                        <p:attrNameLst>
                                          <p:attrName>style.visibility</p:attrName>
                                        </p:attrNameLst>
                                      </p:cBhvr>
                                      <p:to>
                                        <p:strVal val="visible"/>
                                      </p:to>
                                    </p:set>
                                    <p:animEffect transition="in" filter="fade">
                                      <p:cBhvr>
                                        <p:cTn id="31" dur="500"/>
                                        <p:tgtEl>
                                          <p:spTgt spid="3074"/>
                                        </p:tgtEl>
                                      </p:cBhvr>
                                    </p:animEffect>
                                  </p:childTnLst>
                                  <p:subTnLst>
                                    <p:set>
                                      <p:cBhvr override="childStyle">
                                        <p:cTn dur="1" fill="hold" display="0" masterRel="nextClick" afterEffect="1"/>
                                        <p:tgtEl>
                                          <p:spTgt spid="3074"/>
                                        </p:tgtEl>
                                        <p:attrNameLst>
                                          <p:attrName>style.visibility</p:attrName>
                                        </p:attrNameLst>
                                      </p:cBhvr>
                                      <p:to>
                                        <p:strVal val="hidden"/>
                                      </p:to>
                                    </p:set>
                                  </p:subTnLst>
                                </p:cTn>
                              </p:par>
                              <p:par>
                                <p:cTn id="32" presetID="10" presetClass="entr" presetSubtype="0" fill="hold" grpId="0"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11" grpId="0"/>
      <p:bldP spid="12" grpId="0"/>
      <p:bldP spid="13" grpId="0"/>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What Is VMT</a:t>
            </a:r>
            <a:r>
              <a:rPr lang="en-US" sz="3400" b="1" dirty="0">
                <a:solidFill>
                  <a:srgbClr val="E8967A"/>
                </a:solidFill>
                <a:latin typeface="Quattrocento" panose="02020502030000000404" pitchFamily="18" charset="0"/>
              </a:rPr>
              <a:t>, a</a:t>
            </a:r>
            <a:r>
              <a:rPr sz="3400" b="1" dirty="0">
                <a:solidFill>
                  <a:srgbClr val="E8967A"/>
                </a:solidFill>
                <a:latin typeface="Quattrocento" panose="02020502030000000404" pitchFamily="18" charset="0"/>
              </a:rPr>
              <a:t>nd Why Does It Keep Going Up?</a:t>
            </a:r>
          </a:p>
        </p:txBody>
      </p:sp>
      <p:sp>
        <p:nvSpPr>
          <p:cNvPr id="3" name="TextBox 2"/>
          <p:cNvSpPr txBox="1"/>
          <p:nvPr/>
        </p:nvSpPr>
        <p:spPr>
          <a:xfrm>
            <a:off x="731520" y="948726"/>
            <a:ext cx="1054577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Vehicle Miles Traveled </a:t>
            </a:r>
            <a:r>
              <a:rPr lang="en-US" sz="2000" b="1" dirty="0">
                <a:solidFill>
                  <a:srgbClr val="F5E6D3"/>
                </a:solidFill>
                <a:latin typeface="Quattrocento" panose="02020502030000000404" pitchFamily="18" charset="0"/>
              </a:rPr>
              <a:t>(VMT): </a:t>
            </a:r>
            <a:r>
              <a:rPr sz="2000" b="1" dirty="0">
                <a:solidFill>
                  <a:srgbClr val="F5E6D3"/>
                </a:solidFill>
                <a:latin typeface="Quattrocento" panose="02020502030000000404" pitchFamily="18" charset="0"/>
              </a:rPr>
              <a:t>the total miles driven by all cars in a region. </a:t>
            </a:r>
            <a:endParaRPr lang="en-US" sz="2000" b="1" dirty="0">
              <a:solidFill>
                <a:srgbClr val="F5E6D3"/>
              </a:solidFill>
              <a:latin typeface="Quattrocento" panose="02020502030000000404" pitchFamily="18" charset="0"/>
            </a:endParaRPr>
          </a:p>
          <a:p>
            <a:pPr algn="l"/>
            <a:r>
              <a:rPr lang="en-US" sz="2000" b="1" dirty="0">
                <a:solidFill>
                  <a:srgbClr val="F5E6D3"/>
                </a:solidFill>
                <a:latin typeface="Quattrocento" panose="02020502030000000404" pitchFamily="18" charset="0"/>
              </a:rPr>
              <a:t>A measurement </a:t>
            </a:r>
            <a:r>
              <a:rPr sz="2000" b="1" dirty="0">
                <a:solidFill>
                  <a:srgbClr val="F5E6D3"/>
                </a:solidFill>
                <a:latin typeface="Quattrocento" panose="02020502030000000404" pitchFamily="18" charset="0"/>
              </a:rPr>
              <a:t>for California's climate </a:t>
            </a:r>
            <a:r>
              <a:rPr lang="en-US" sz="2000" b="1" dirty="0">
                <a:solidFill>
                  <a:srgbClr val="F5E6D3"/>
                </a:solidFill>
                <a:latin typeface="Quattrocento" panose="02020502030000000404" pitchFamily="18" charset="0"/>
              </a:rPr>
              <a:t>transportation progress.</a:t>
            </a:r>
            <a:endParaRPr sz="2000" b="1" dirty="0">
              <a:solidFill>
                <a:srgbClr val="F5E6D3"/>
              </a:solidFill>
              <a:latin typeface="Quattrocento" panose="02020502030000000404" pitchFamily="18" charset="0"/>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3</a:t>
            </a:r>
          </a:p>
        </p:txBody>
      </p:sp>
      <p:graphicFrame>
        <p:nvGraphicFramePr>
          <p:cNvPr id="12" name="TextBox 3">
            <a:extLst>
              <a:ext uri="{FF2B5EF4-FFF2-40B4-BE49-F238E27FC236}">
                <a16:creationId xmlns:a16="http://schemas.microsoft.com/office/drawing/2014/main" id="{DFBCAEDA-C492-04C7-3CC6-700A7E8B5BF6}"/>
              </a:ext>
            </a:extLst>
          </p:cNvPr>
          <p:cNvGraphicFramePr/>
          <p:nvPr>
            <p:extLst>
              <p:ext uri="{D42A27DB-BD31-4B8C-83A1-F6EECF244321}">
                <p14:modId xmlns:p14="http://schemas.microsoft.com/office/powerpoint/2010/main" val="3760603136"/>
              </p:ext>
            </p:extLst>
          </p:nvPr>
        </p:nvGraphicFramePr>
        <p:xfrm>
          <a:off x="285751" y="2011331"/>
          <a:ext cx="4069080" cy="44351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25D48477-6639-669B-4260-3FE8E4942D04}"/>
              </a:ext>
            </a:extLst>
          </p:cNvPr>
          <p:cNvPicPr>
            <a:picLocks noChangeAspect="1"/>
          </p:cNvPicPr>
          <p:nvPr/>
        </p:nvPicPr>
        <p:blipFill>
          <a:blip r:embed="rId9"/>
          <a:srcRect l="36020"/>
          <a:stretch>
            <a:fillRect/>
          </a:stretch>
        </p:blipFill>
        <p:spPr>
          <a:xfrm>
            <a:off x="5360670" y="2011330"/>
            <a:ext cx="6476741" cy="3726529"/>
          </a:xfrm>
          <a:prstGeom prst="rect">
            <a:avLst/>
          </a:prstGeom>
        </p:spPr>
      </p:pic>
      <p:pic>
        <p:nvPicPr>
          <p:cNvPr id="13" name="Picture 12">
            <a:extLst>
              <a:ext uri="{FF2B5EF4-FFF2-40B4-BE49-F238E27FC236}">
                <a16:creationId xmlns:a16="http://schemas.microsoft.com/office/drawing/2014/main" id="{9FC1844D-6555-89E2-9ABE-BDFA11A5B4C5}"/>
              </a:ext>
            </a:extLst>
          </p:cNvPr>
          <p:cNvPicPr>
            <a:picLocks noChangeAspect="1"/>
          </p:cNvPicPr>
          <p:nvPr/>
        </p:nvPicPr>
        <p:blipFill>
          <a:blip r:embed="rId10"/>
          <a:stretch>
            <a:fillRect/>
          </a:stretch>
        </p:blipFill>
        <p:spPr>
          <a:xfrm>
            <a:off x="5852160" y="1864008"/>
            <a:ext cx="5322643" cy="4582512"/>
          </a:xfrm>
          <a:prstGeom prst="rect">
            <a:avLst/>
          </a:prstGeom>
        </p:spPr>
      </p:pic>
      <p:sp>
        <p:nvSpPr>
          <p:cNvPr id="15" name="Text 1">
            <a:extLst>
              <a:ext uri="{FF2B5EF4-FFF2-40B4-BE49-F238E27FC236}">
                <a16:creationId xmlns:a16="http://schemas.microsoft.com/office/drawing/2014/main" id="{1E67986E-85BA-9BD6-6445-63BD390F49CE}"/>
              </a:ext>
            </a:extLst>
          </p:cNvPr>
          <p:cNvSpPr/>
          <p:nvPr/>
        </p:nvSpPr>
        <p:spPr>
          <a:xfrm>
            <a:off x="8061923" y="6494845"/>
            <a:ext cx="1074234"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CARB</a:t>
            </a:r>
            <a:endParaRPr lang="en-US" sz="1167" dirty="0">
              <a:solidFill>
                <a:srgbClr val="E8967A"/>
              </a:solidFill>
            </a:endParaRPr>
          </a:p>
        </p:txBody>
      </p:sp>
      <p:pic>
        <p:nvPicPr>
          <p:cNvPr id="19" name="Picture 18">
            <a:extLst>
              <a:ext uri="{FF2B5EF4-FFF2-40B4-BE49-F238E27FC236}">
                <a16:creationId xmlns:a16="http://schemas.microsoft.com/office/drawing/2014/main" id="{2D4282B6-F9ED-DFD5-3C0D-1978E91A00DD}"/>
              </a:ext>
            </a:extLst>
          </p:cNvPr>
          <p:cNvPicPr>
            <a:picLocks noChangeAspect="1"/>
          </p:cNvPicPr>
          <p:nvPr/>
        </p:nvPicPr>
        <p:blipFill>
          <a:blip r:embed="rId11"/>
          <a:stretch>
            <a:fillRect/>
          </a:stretch>
        </p:blipFill>
        <p:spPr>
          <a:xfrm>
            <a:off x="4840999" y="1700520"/>
            <a:ext cx="6863321" cy="4790270"/>
          </a:xfrm>
          <a:prstGeom prst="rect">
            <a:avLst/>
          </a:prstGeom>
        </p:spPr>
      </p:pic>
      <p:sp>
        <p:nvSpPr>
          <p:cNvPr id="20" name="Text 1">
            <a:extLst>
              <a:ext uri="{FF2B5EF4-FFF2-40B4-BE49-F238E27FC236}">
                <a16:creationId xmlns:a16="http://schemas.microsoft.com/office/drawing/2014/main" id="{A96650A6-BFA0-B5B6-42A1-FA1081DC31AC}"/>
              </a:ext>
            </a:extLst>
          </p:cNvPr>
          <p:cNvSpPr/>
          <p:nvPr/>
        </p:nvSpPr>
        <p:spPr>
          <a:xfrm>
            <a:off x="7829729" y="6482708"/>
            <a:ext cx="1367503"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Streetsblog</a:t>
            </a:r>
            <a:endParaRPr lang="en-US" sz="1167" dirty="0">
              <a:solidFill>
                <a:srgbClr val="E8967A"/>
              </a:solidFill>
            </a:endParaRPr>
          </a:p>
        </p:txBody>
      </p:sp>
      <p:sp>
        <p:nvSpPr>
          <p:cNvPr id="21" name="Text 1">
            <a:extLst>
              <a:ext uri="{FF2B5EF4-FFF2-40B4-BE49-F238E27FC236}">
                <a16:creationId xmlns:a16="http://schemas.microsoft.com/office/drawing/2014/main" id="{4156C3D2-4F66-F039-B753-FCD231E632D5}"/>
              </a:ext>
            </a:extLst>
          </p:cNvPr>
          <p:cNvSpPr/>
          <p:nvPr/>
        </p:nvSpPr>
        <p:spPr>
          <a:xfrm>
            <a:off x="7702176" y="6470571"/>
            <a:ext cx="1622607" cy="318142"/>
          </a:xfrm>
          <a:prstGeom prst="rect">
            <a:avLst/>
          </a:prstGeom>
          <a:noFill/>
          <a:ln/>
        </p:spPr>
        <p:txBody>
          <a:bodyPr wrap="none" lIns="0" tIns="0" rIns="0" bIns="0" rtlCol="0" anchor="t"/>
          <a:lstStyle/>
          <a:p>
            <a:pPr>
              <a:lnSpc>
                <a:spcPts val="2292"/>
              </a:lnSpc>
            </a:pPr>
            <a:r>
              <a:rPr lang="en-US" sz="1167" dirty="0">
                <a:solidFill>
                  <a:srgbClr val="E8967A"/>
                </a:solidFill>
                <a:latin typeface="Quattrocento" pitchFamily="34" charset="0"/>
              </a:rPr>
              <a:t>Source: NextGen Policy</a:t>
            </a:r>
            <a:endParaRPr lang="en-US" sz="1167" dirty="0">
              <a:solidFill>
                <a:srgbClr val="E8967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graphicEl>
                                              <a:dgm id="{98EC76C2-D29B-4A72-A5AB-56CE3435AD89}"/>
                                            </p:graphicEl>
                                          </p:spTgt>
                                        </p:tgtEl>
                                        <p:attrNameLst>
                                          <p:attrName>style.visibility</p:attrName>
                                        </p:attrNameLst>
                                      </p:cBhvr>
                                      <p:to>
                                        <p:strVal val="visible"/>
                                      </p:to>
                                    </p:set>
                                    <p:anim calcmode="lin" valueType="num">
                                      <p:cBhvr additive="base">
                                        <p:cTn id="7" dur="500" fill="hold"/>
                                        <p:tgtEl>
                                          <p:spTgt spid="12">
                                            <p:graphicEl>
                                              <a:dgm id="{98EC76C2-D29B-4A72-A5AB-56CE3435AD89}"/>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graphicEl>
                                              <a:dgm id="{98EC76C2-D29B-4A72-A5AB-56CE3435AD89}"/>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graphicEl>
                                              <a:dgm id="{C3E2916A-C6FD-43B2-A348-E1B8F49934D5}"/>
                                            </p:graphicEl>
                                          </p:spTgt>
                                        </p:tgtEl>
                                        <p:attrNameLst>
                                          <p:attrName>style.visibility</p:attrName>
                                        </p:attrNameLst>
                                      </p:cBhvr>
                                      <p:to>
                                        <p:strVal val="visible"/>
                                      </p:to>
                                    </p:set>
                                    <p:anim calcmode="lin" valueType="num">
                                      <p:cBhvr additive="base">
                                        <p:cTn id="11" dur="500" fill="hold"/>
                                        <p:tgtEl>
                                          <p:spTgt spid="12">
                                            <p:graphicEl>
                                              <a:dgm id="{C3E2916A-C6FD-43B2-A348-E1B8F49934D5}"/>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graphicEl>
                                              <a:dgm id="{C3E2916A-C6FD-43B2-A348-E1B8F49934D5}"/>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graphicEl>
                                              <a:dgm id="{5E2DA22C-3CDA-4668-B9CF-475178571BDC}"/>
                                            </p:graphicEl>
                                          </p:spTgt>
                                        </p:tgtEl>
                                        <p:attrNameLst>
                                          <p:attrName>style.visibility</p:attrName>
                                        </p:attrNameLst>
                                      </p:cBhvr>
                                      <p:to>
                                        <p:strVal val="visible"/>
                                      </p:to>
                                    </p:set>
                                    <p:anim calcmode="lin" valueType="num">
                                      <p:cBhvr additive="base">
                                        <p:cTn id="15" dur="500" fill="hold"/>
                                        <p:tgtEl>
                                          <p:spTgt spid="12">
                                            <p:graphicEl>
                                              <a:dgm id="{5E2DA22C-3CDA-4668-B9CF-475178571BDC}"/>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graphicEl>
                                              <a:dgm id="{5E2DA22C-3CDA-4668-B9CF-475178571BDC}"/>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graphicEl>
                                              <a:dgm id="{764EDC78-01CB-4256-BE87-1D512E465A0D}"/>
                                            </p:graphicEl>
                                          </p:spTgt>
                                        </p:tgtEl>
                                        <p:attrNameLst>
                                          <p:attrName>style.visibility</p:attrName>
                                        </p:attrNameLst>
                                      </p:cBhvr>
                                      <p:to>
                                        <p:strVal val="visible"/>
                                      </p:to>
                                    </p:set>
                                    <p:anim calcmode="lin" valueType="num">
                                      <p:cBhvr additive="base">
                                        <p:cTn id="21" dur="500" fill="hold"/>
                                        <p:tgtEl>
                                          <p:spTgt spid="12">
                                            <p:graphicEl>
                                              <a:dgm id="{764EDC78-01CB-4256-BE87-1D512E465A0D}"/>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
                                            <p:graphicEl>
                                              <a:dgm id="{764EDC78-01CB-4256-BE87-1D512E465A0D}"/>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
                                            <p:graphicEl>
                                              <a:dgm id="{678CB97D-009F-44F7-B82F-B1CA4A81DE83}"/>
                                            </p:graphicEl>
                                          </p:spTgt>
                                        </p:tgtEl>
                                        <p:attrNameLst>
                                          <p:attrName>style.visibility</p:attrName>
                                        </p:attrNameLst>
                                      </p:cBhvr>
                                      <p:to>
                                        <p:strVal val="visible"/>
                                      </p:to>
                                    </p:set>
                                    <p:anim calcmode="lin" valueType="num">
                                      <p:cBhvr additive="base">
                                        <p:cTn id="25" dur="500" fill="hold"/>
                                        <p:tgtEl>
                                          <p:spTgt spid="12">
                                            <p:graphicEl>
                                              <a:dgm id="{678CB97D-009F-44F7-B82F-B1CA4A81DE8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graphicEl>
                                              <a:dgm id="{678CB97D-009F-44F7-B82F-B1CA4A81DE83}"/>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graphicEl>
                                              <a:dgm id="{F161548B-35E4-4997-8219-8284EE08D973}"/>
                                            </p:graphicEl>
                                          </p:spTgt>
                                        </p:tgtEl>
                                        <p:attrNameLst>
                                          <p:attrName>style.visibility</p:attrName>
                                        </p:attrNameLst>
                                      </p:cBhvr>
                                      <p:to>
                                        <p:strVal val="visible"/>
                                      </p:to>
                                    </p:set>
                                    <p:anim calcmode="lin" valueType="num">
                                      <p:cBhvr additive="base">
                                        <p:cTn id="29" dur="500" fill="hold"/>
                                        <p:tgtEl>
                                          <p:spTgt spid="12">
                                            <p:graphicEl>
                                              <a:dgm id="{F161548B-35E4-4997-8219-8284EE08D973}"/>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
                                            <p:graphicEl>
                                              <a:dgm id="{F161548B-35E4-4997-8219-8284EE08D973}"/>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graphicEl>
                                              <a:dgm id="{DF9AA32B-986B-42B1-9A80-7915C2EF6030}"/>
                                            </p:graphicEl>
                                          </p:spTgt>
                                        </p:tgtEl>
                                        <p:attrNameLst>
                                          <p:attrName>style.visibility</p:attrName>
                                        </p:attrNameLst>
                                      </p:cBhvr>
                                      <p:to>
                                        <p:strVal val="visible"/>
                                      </p:to>
                                    </p:set>
                                    <p:anim calcmode="lin" valueType="num">
                                      <p:cBhvr additive="base">
                                        <p:cTn id="35" dur="500" fill="hold"/>
                                        <p:tgtEl>
                                          <p:spTgt spid="12">
                                            <p:graphicEl>
                                              <a:dgm id="{DF9AA32B-986B-42B1-9A80-7915C2EF6030}"/>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
                                            <p:graphicEl>
                                              <a:dgm id="{DF9AA32B-986B-42B1-9A80-7915C2EF6030}"/>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graphicEl>
                                              <a:dgm id="{9B3FE012-0DF7-4F15-B74B-52A93C518317}"/>
                                            </p:graphicEl>
                                          </p:spTgt>
                                        </p:tgtEl>
                                        <p:attrNameLst>
                                          <p:attrName>style.visibility</p:attrName>
                                        </p:attrNameLst>
                                      </p:cBhvr>
                                      <p:to>
                                        <p:strVal val="visible"/>
                                      </p:to>
                                    </p:set>
                                    <p:anim calcmode="lin" valueType="num">
                                      <p:cBhvr additive="base">
                                        <p:cTn id="39" dur="500" fill="hold"/>
                                        <p:tgtEl>
                                          <p:spTgt spid="12">
                                            <p:graphicEl>
                                              <a:dgm id="{9B3FE012-0DF7-4F15-B74B-52A93C518317}"/>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
                                            <p:graphicEl>
                                              <a:dgm id="{9B3FE012-0DF7-4F15-B74B-52A93C518317}"/>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graphicEl>
                                              <a:dgm id="{3D9C40AA-61F5-4E87-9E25-DC4E15B47BF9}"/>
                                            </p:graphicEl>
                                          </p:spTgt>
                                        </p:tgtEl>
                                        <p:attrNameLst>
                                          <p:attrName>style.visibility</p:attrName>
                                        </p:attrNameLst>
                                      </p:cBhvr>
                                      <p:to>
                                        <p:strVal val="visible"/>
                                      </p:to>
                                    </p:set>
                                    <p:anim calcmode="lin" valueType="num">
                                      <p:cBhvr additive="base">
                                        <p:cTn id="43" dur="500" fill="hold"/>
                                        <p:tgtEl>
                                          <p:spTgt spid="12">
                                            <p:graphicEl>
                                              <a:dgm id="{3D9C40AA-61F5-4E87-9E25-DC4E15B47BF9}"/>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graphicEl>
                                              <a:dgm id="{3D9C40AA-61F5-4E87-9E25-DC4E15B47BF9}"/>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1+#ppt_w/2"/>
                                          </p:val>
                                        </p:tav>
                                        <p:tav tm="100000">
                                          <p:val>
                                            <p:strVal val="#ppt_x"/>
                                          </p:val>
                                        </p:tav>
                                      </p:tavLst>
                                    </p:anim>
                                    <p:anim calcmode="lin" valueType="num">
                                      <p:cBhvr additive="base">
                                        <p:cTn id="50" dur="500" fill="hold"/>
                                        <p:tgtEl>
                                          <p:spTgt spid="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
                                        </p:tgtEl>
                                        <p:attrNameLst>
                                          <p:attrName>style.visibility</p:attrName>
                                        </p:attrNameLst>
                                      </p:cBhvr>
                                      <p:to>
                                        <p:strVal val="hidden"/>
                                      </p:to>
                                    </p:set>
                                  </p:subTnLst>
                                </p:cTn>
                              </p:par>
                              <p:par>
                                <p:cTn id="51" presetID="18" presetClass="entr" presetSubtype="12"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strips(downLeft)">
                                      <p:cBhvr>
                                        <p:cTn id="53" dur="1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par>
                                <p:cTn id="59" presetID="18" presetClass="entr" presetSubtype="12"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strips(downLeft)">
                                      <p:cBhvr>
                                        <p:cTn id="61" dur="1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300"/>
                                        <p:tgtEl>
                                          <p:spTgt spid="13"/>
                                        </p:tgtEl>
                                      </p:cBhvr>
                                    </p:animEffect>
                                  </p:childTnLst>
                                  <p:subTnLst>
                                    <p:audio>
                                      <p:cMediaNode>
                                        <p:cTn display="0" masterRel="sameClick">
                                          <p:stCondLst>
                                            <p:cond evt="begin" delay="0">
                                              <p:tn val="64"/>
                                            </p:cond>
                                          </p:stCondLst>
                                          <p:endCondLst>
                                            <p:cond evt="onStopAudio" delay="0">
                                              <p:tgtEl>
                                                <p:sldTgt/>
                                              </p:tgtEl>
                                            </p:cond>
                                          </p:endCondLst>
                                        </p:cTn>
                                        <p:tgtEl>
                                          <p:sndTgt r:embed="rId3" name="whoosh.wav"/>
                                        </p:tgtEl>
                                      </p:cMediaNode>
                                    </p:audio>
                                  </p:subTnLst>
                                </p:cTn>
                              </p:par>
                              <p:par>
                                <p:cTn id="67" presetID="18" presetClass="entr" presetSubtype="12"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strips(downLeft)">
                                      <p:cBhvr>
                                        <p:cTn id="69" dur="1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12">
                                            <p:graphicEl>
                                              <a:dgm id="{90D85597-EAF8-4B28-BA37-91A6392A6AC4}"/>
                                            </p:graphicEl>
                                          </p:spTgt>
                                        </p:tgtEl>
                                        <p:attrNameLst>
                                          <p:attrName>style.visibility</p:attrName>
                                        </p:attrNameLst>
                                      </p:cBhvr>
                                      <p:to>
                                        <p:strVal val="visible"/>
                                      </p:to>
                                    </p:set>
                                    <p:anim calcmode="lin" valueType="num">
                                      <p:cBhvr additive="base">
                                        <p:cTn id="74" dur="500" fill="hold"/>
                                        <p:tgtEl>
                                          <p:spTgt spid="12">
                                            <p:graphicEl>
                                              <a:dgm id="{90D85597-EAF8-4B28-BA37-91A6392A6AC4}"/>
                                            </p:graphicEl>
                                          </p:spTgt>
                                        </p:tgtEl>
                                        <p:attrNameLst>
                                          <p:attrName>ppt_x</p:attrName>
                                        </p:attrNameLst>
                                      </p:cBhvr>
                                      <p:tavLst>
                                        <p:tav tm="0">
                                          <p:val>
                                            <p:strVal val="#ppt_x"/>
                                          </p:val>
                                        </p:tav>
                                        <p:tav tm="100000">
                                          <p:val>
                                            <p:strVal val="#ppt_x"/>
                                          </p:val>
                                        </p:tav>
                                      </p:tavLst>
                                    </p:anim>
                                    <p:anim calcmode="lin" valueType="num">
                                      <p:cBhvr additive="base">
                                        <p:cTn id="75" dur="500" fill="hold"/>
                                        <p:tgtEl>
                                          <p:spTgt spid="12">
                                            <p:graphicEl>
                                              <a:dgm id="{90D85597-EAF8-4B28-BA37-91A6392A6AC4}"/>
                                            </p:graphicEl>
                                          </p:spTgt>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12">
                                            <p:graphicEl>
                                              <a:dgm id="{44CA1364-1866-499F-B7B0-866F23A12D96}"/>
                                            </p:graphicEl>
                                          </p:spTgt>
                                        </p:tgtEl>
                                        <p:attrNameLst>
                                          <p:attrName>style.visibility</p:attrName>
                                        </p:attrNameLst>
                                      </p:cBhvr>
                                      <p:to>
                                        <p:strVal val="visible"/>
                                      </p:to>
                                    </p:set>
                                    <p:anim calcmode="lin" valueType="num">
                                      <p:cBhvr additive="base">
                                        <p:cTn id="78" dur="500" fill="hold"/>
                                        <p:tgtEl>
                                          <p:spTgt spid="12">
                                            <p:graphicEl>
                                              <a:dgm id="{44CA1364-1866-499F-B7B0-866F23A12D96}"/>
                                            </p:graphicEl>
                                          </p:spTgt>
                                        </p:tgtEl>
                                        <p:attrNameLst>
                                          <p:attrName>ppt_x</p:attrName>
                                        </p:attrNameLst>
                                      </p:cBhvr>
                                      <p:tavLst>
                                        <p:tav tm="0">
                                          <p:val>
                                            <p:strVal val="#ppt_x"/>
                                          </p:val>
                                        </p:tav>
                                        <p:tav tm="100000">
                                          <p:val>
                                            <p:strVal val="#ppt_x"/>
                                          </p:val>
                                        </p:tav>
                                      </p:tavLst>
                                    </p:anim>
                                    <p:anim calcmode="lin" valueType="num">
                                      <p:cBhvr additive="base">
                                        <p:cTn id="79" dur="500" fill="hold"/>
                                        <p:tgtEl>
                                          <p:spTgt spid="12">
                                            <p:graphicEl>
                                              <a:dgm id="{44CA1364-1866-499F-B7B0-866F23A12D96}"/>
                                            </p:graphicEl>
                                          </p:spTgt>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12">
                                            <p:graphicEl>
                                              <a:dgm id="{4BFEDFBE-21D1-4D51-AD11-BFD20ACFE16F}"/>
                                            </p:graphicEl>
                                          </p:spTgt>
                                        </p:tgtEl>
                                        <p:attrNameLst>
                                          <p:attrName>style.visibility</p:attrName>
                                        </p:attrNameLst>
                                      </p:cBhvr>
                                      <p:to>
                                        <p:strVal val="visible"/>
                                      </p:to>
                                    </p:set>
                                    <p:anim calcmode="lin" valueType="num">
                                      <p:cBhvr additive="base">
                                        <p:cTn id="82" dur="500" fill="hold"/>
                                        <p:tgtEl>
                                          <p:spTgt spid="12">
                                            <p:graphicEl>
                                              <a:dgm id="{4BFEDFBE-21D1-4D51-AD11-BFD20ACFE16F}"/>
                                            </p:graphicEl>
                                          </p:spTgt>
                                        </p:tgtEl>
                                        <p:attrNameLst>
                                          <p:attrName>ppt_x</p:attrName>
                                        </p:attrNameLst>
                                      </p:cBhvr>
                                      <p:tavLst>
                                        <p:tav tm="0">
                                          <p:val>
                                            <p:strVal val="#ppt_x"/>
                                          </p:val>
                                        </p:tav>
                                        <p:tav tm="100000">
                                          <p:val>
                                            <p:strVal val="#ppt_x"/>
                                          </p:val>
                                        </p:tav>
                                      </p:tavLst>
                                    </p:anim>
                                    <p:anim calcmode="lin" valueType="num">
                                      <p:cBhvr additive="base">
                                        <p:cTn id="83" dur="500" fill="hold"/>
                                        <p:tgtEl>
                                          <p:spTgt spid="12">
                                            <p:graphicEl>
                                              <a:dgm id="{4BFEDFBE-21D1-4D51-AD11-BFD20ACFE16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uiExpand="1">
        <p:bldSub>
          <a:bldDgm bld="one"/>
        </p:bldSub>
      </p:bldGraphic>
      <p:bldP spid="15"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999563"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SB 375 (2008): Policy Meant to Address VMT and GHG</a:t>
            </a:r>
            <a:endParaRPr sz="3400" b="1" dirty="0">
              <a:solidFill>
                <a:srgbClr val="E8967A"/>
              </a:solidFill>
              <a:latin typeface="Quattrocento" panose="02020502030000000404" pitchFamily="18" charset="0"/>
            </a:endParaRPr>
          </a:p>
        </p:txBody>
      </p:sp>
      <p:sp>
        <p:nvSpPr>
          <p:cNvPr id="3" name="TextBox 2"/>
          <p:cNvSpPr txBox="1"/>
          <p:nvPr/>
        </p:nvSpPr>
        <p:spPr>
          <a:xfrm>
            <a:off x="731520" y="999155"/>
            <a:ext cx="1072865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SB 375 </a:t>
            </a:r>
            <a:r>
              <a:rPr lang="en-US" sz="2000" b="1" dirty="0">
                <a:solidFill>
                  <a:srgbClr val="F5E6D3"/>
                </a:solidFill>
                <a:latin typeface="Quattrocento" panose="02020502030000000404" pitchFamily="18" charset="0"/>
              </a:rPr>
              <a:t>(Steinberg, 2008) </a:t>
            </a:r>
            <a:r>
              <a:rPr sz="2000" b="1" dirty="0">
                <a:solidFill>
                  <a:srgbClr val="F5E6D3"/>
                </a:solidFill>
                <a:latin typeface="Quattrocento" panose="02020502030000000404" pitchFamily="18" charset="0"/>
              </a:rPr>
              <a:t>requires every </a:t>
            </a:r>
            <a:r>
              <a:rPr lang="en-US" sz="2000" b="1" dirty="0">
                <a:solidFill>
                  <a:srgbClr val="F5E6D3"/>
                </a:solidFill>
                <a:latin typeface="Quattrocento" panose="02020502030000000404" pitchFamily="18" charset="0"/>
              </a:rPr>
              <a:t>CA</a:t>
            </a:r>
            <a:r>
              <a:rPr sz="2000" b="1" dirty="0">
                <a:solidFill>
                  <a:srgbClr val="F5E6D3"/>
                </a:solidFill>
                <a:latin typeface="Quattrocento" panose="02020502030000000404" pitchFamily="18" charset="0"/>
              </a:rPr>
              <a:t> region to create a plan showing how it will </a:t>
            </a:r>
            <a:r>
              <a:rPr lang="en-US" sz="2000" b="1" dirty="0">
                <a:solidFill>
                  <a:srgbClr val="F5E6D3"/>
                </a:solidFill>
                <a:latin typeface="Quattrocento" panose="02020502030000000404" pitchFamily="18" charset="0"/>
              </a:rPr>
              <a:t>plan to </a:t>
            </a:r>
            <a:r>
              <a:rPr sz="2000" b="1" dirty="0">
                <a:solidFill>
                  <a:srgbClr val="F5E6D3"/>
                </a:solidFill>
                <a:latin typeface="Quattrocento" panose="02020502030000000404" pitchFamily="18" charset="0"/>
              </a:rPr>
              <a:t>reduce transportation emissions.</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4</a:t>
            </a:r>
          </a:p>
        </p:txBody>
      </p:sp>
      <p:pic>
        <p:nvPicPr>
          <p:cNvPr id="7" name="Picture 6">
            <a:extLst>
              <a:ext uri="{FF2B5EF4-FFF2-40B4-BE49-F238E27FC236}">
                <a16:creationId xmlns:a16="http://schemas.microsoft.com/office/drawing/2014/main" id="{C11A175F-951D-AB56-65F5-85B4DD652894}"/>
              </a:ext>
            </a:extLst>
          </p:cNvPr>
          <p:cNvPicPr>
            <a:picLocks noChangeAspect="1"/>
          </p:cNvPicPr>
          <p:nvPr/>
        </p:nvPicPr>
        <p:blipFill>
          <a:blip r:embed="rId3"/>
          <a:stretch>
            <a:fillRect/>
          </a:stretch>
        </p:blipFill>
        <p:spPr>
          <a:xfrm>
            <a:off x="7768988" y="2314002"/>
            <a:ext cx="3962095" cy="3669401"/>
          </a:xfrm>
          <a:prstGeom prst="roundRect">
            <a:avLst/>
          </a:prstGeom>
        </p:spPr>
      </p:pic>
      <p:graphicFrame>
        <p:nvGraphicFramePr>
          <p:cNvPr id="9" name="TextBox 3">
            <a:extLst>
              <a:ext uri="{FF2B5EF4-FFF2-40B4-BE49-F238E27FC236}">
                <a16:creationId xmlns:a16="http://schemas.microsoft.com/office/drawing/2014/main" id="{9DB2EAEB-0E6C-8B4A-1C84-2BA6436DF927}"/>
              </a:ext>
            </a:extLst>
          </p:cNvPr>
          <p:cNvGraphicFramePr/>
          <p:nvPr>
            <p:extLst>
              <p:ext uri="{D42A27DB-BD31-4B8C-83A1-F6EECF244321}">
                <p14:modId xmlns:p14="http://schemas.microsoft.com/office/powerpoint/2010/main" val="3623591500"/>
              </p:ext>
            </p:extLst>
          </p:nvPr>
        </p:nvGraphicFramePr>
        <p:xfrm>
          <a:off x="731520" y="2076292"/>
          <a:ext cx="6858000" cy="45073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9" name="Graphic 18" descr="Bullseye with solid fill">
            <a:extLst>
              <a:ext uri="{FF2B5EF4-FFF2-40B4-BE49-F238E27FC236}">
                <a16:creationId xmlns:a16="http://schemas.microsoft.com/office/drawing/2014/main" id="{379B8094-4D86-827A-0421-6B41E563FC5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638647" y="3934221"/>
            <a:ext cx="914400" cy="914400"/>
          </a:xfrm>
          <a:prstGeom prst="rect">
            <a:avLst/>
          </a:prstGeom>
        </p:spPr>
      </p:pic>
      <p:pic>
        <p:nvPicPr>
          <p:cNvPr id="21" name="Graphic 20" descr="Hockey Stick Curve Graph outline">
            <a:extLst>
              <a:ext uri="{FF2B5EF4-FFF2-40B4-BE49-F238E27FC236}">
                <a16:creationId xmlns:a16="http://schemas.microsoft.com/office/drawing/2014/main" id="{9002237C-70BA-3F0E-B7D7-9CD550269D2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88411" y="5532120"/>
            <a:ext cx="914400" cy="914400"/>
          </a:xfrm>
          <a:prstGeom prst="rect">
            <a:avLst/>
          </a:prstGeom>
        </p:spPr>
      </p:pic>
      <p:pic>
        <p:nvPicPr>
          <p:cNvPr id="22" name="Picture 2">
            <a:extLst>
              <a:ext uri="{FF2B5EF4-FFF2-40B4-BE49-F238E27FC236}">
                <a16:creationId xmlns:a16="http://schemas.microsoft.com/office/drawing/2014/main" id="{F2CC5497-2B3F-C3C2-7CD0-83B93426860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95199" y="2469144"/>
            <a:ext cx="545403" cy="648756"/>
          </a:xfrm>
          <a:prstGeom prst="roundRect">
            <a:avLst/>
          </a:prstGeom>
          <a:solidFill>
            <a:srgbClr val="E8967A"/>
          </a:solidFill>
        </p:spPr>
      </p:pic>
      <p:sp>
        <p:nvSpPr>
          <p:cNvPr id="23" name="TextBox 22">
            <a:extLst>
              <a:ext uri="{FF2B5EF4-FFF2-40B4-BE49-F238E27FC236}">
                <a16:creationId xmlns:a16="http://schemas.microsoft.com/office/drawing/2014/main" id="{AD6E0CF5-1E33-17AB-008D-A6D90ED2CB44}"/>
              </a:ext>
            </a:extLst>
          </p:cNvPr>
          <p:cNvSpPr txBox="1"/>
          <p:nvPr/>
        </p:nvSpPr>
        <p:spPr>
          <a:xfrm>
            <a:off x="8009402" y="6076295"/>
            <a:ext cx="3450772" cy="461665"/>
          </a:xfrm>
          <a:prstGeom prst="rect">
            <a:avLst/>
          </a:prstGeom>
          <a:noFill/>
        </p:spPr>
        <p:txBody>
          <a:bodyPr wrap="square" rtlCol="0" anchor="ctr">
            <a:spAutoFit/>
          </a:bodyPr>
          <a:lstStyle/>
          <a:p>
            <a:pPr algn="ctr"/>
            <a:r>
              <a:rPr lang="en-US" sz="1200" dirty="0">
                <a:solidFill>
                  <a:srgbClr val="F5E6D3"/>
                </a:solidFill>
                <a:latin typeface="Quattrocento" panose="02020502030000000404" pitchFamily="18" charset="0"/>
              </a:rPr>
              <a:t>Update to the SB 375 Greenhouse Gas Emission Reduction Targets (CARB, 2018)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graphicEl>
                                              <a:dgm id="{700D5A65-89D3-934B-A5B9-CA6574CBAB1E}"/>
                                            </p:graphicEl>
                                          </p:spTgt>
                                        </p:tgtEl>
                                        <p:attrNameLst>
                                          <p:attrName>style.visibility</p:attrName>
                                        </p:attrNameLst>
                                      </p:cBhvr>
                                      <p:to>
                                        <p:strVal val="visible"/>
                                      </p:to>
                                    </p:set>
                                    <p:animEffect transition="in" filter="fade">
                                      <p:cBhvr>
                                        <p:cTn id="11" dur="500"/>
                                        <p:tgtEl>
                                          <p:spTgt spid="9">
                                            <p:graphicEl>
                                              <a:dgm id="{700D5A65-89D3-934B-A5B9-CA6574CBAB1E}"/>
                                            </p:graphic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graphicEl>
                                              <a:dgm id="{74AD3859-25BF-7B4A-A500-F4E86C00550A}"/>
                                            </p:graphicEl>
                                          </p:spTgt>
                                        </p:tgtEl>
                                        <p:attrNameLst>
                                          <p:attrName>style.visibility</p:attrName>
                                        </p:attrNameLst>
                                      </p:cBhvr>
                                      <p:to>
                                        <p:strVal val="visible"/>
                                      </p:to>
                                    </p:set>
                                    <p:animEffect transition="in" filter="fade">
                                      <p:cBhvr>
                                        <p:cTn id="19" dur="500"/>
                                        <p:tgtEl>
                                          <p:spTgt spid="9">
                                            <p:graphicEl>
                                              <a:dgm id="{74AD3859-25BF-7B4A-A500-F4E86C00550A}"/>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graphicEl>
                                              <a:dgm id="{88FB3B4C-3DC5-9B4A-BC25-1724C51E1A6F}"/>
                                            </p:graphicEl>
                                          </p:spTgt>
                                        </p:tgtEl>
                                        <p:attrNameLst>
                                          <p:attrName>style.visibility</p:attrName>
                                        </p:attrNameLst>
                                      </p:cBhvr>
                                      <p:to>
                                        <p:strVal val="visible"/>
                                      </p:to>
                                    </p:set>
                                    <p:animEffect transition="in" filter="fade">
                                      <p:cBhvr>
                                        <p:cTn id="27" dur="500"/>
                                        <p:tgtEl>
                                          <p:spTgt spid="9">
                                            <p:graphicEl>
                                              <a:dgm id="{88FB3B4C-3DC5-9B4A-BC25-1724C51E1A6F}"/>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graphicEl>
                                              <a:dgm id="{2ABD8AD4-F5BB-7743-B8C7-95851AA52066}"/>
                                            </p:graphicEl>
                                          </p:spTgt>
                                        </p:tgtEl>
                                        <p:attrNameLst>
                                          <p:attrName>style.visibility</p:attrName>
                                        </p:attrNameLst>
                                      </p:cBhvr>
                                      <p:to>
                                        <p:strVal val="visible"/>
                                      </p:to>
                                    </p:set>
                                    <p:animEffect transition="in" filter="fade">
                                      <p:cBhvr>
                                        <p:cTn id="32" dur="500"/>
                                        <p:tgtEl>
                                          <p:spTgt spid="9">
                                            <p:graphicEl>
                                              <a:dgm id="{2ABD8AD4-F5BB-7743-B8C7-95851AA52066}"/>
                                            </p:graphic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graphicEl>
                                              <a:dgm id="{326E1867-FF67-EC4D-94EC-90F7342A8B1A}"/>
                                            </p:graphicEl>
                                          </p:spTgt>
                                        </p:tgtEl>
                                        <p:attrNameLst>
                                          <p:attrName>style.visibility</p:attrName>
                                        </p:attrNameLst>
                                      </p:cBhvr>
                                      <p:to>
                                        <p:strVal val="visible"/>
                                      </p:to>
                                    </p:set>
                                    <p:animEffect transition="in" filter="fade">
                                      <p:cBhvr>
                                        <p:cTn id="38" dur="500"/>
                                        <p:tgtEl>
                                          <p:spTgt spid="9">
                                            <p:graphicEl>
                                              <a:dgm id="{326E1867-FF67-EC4D-94EC-90F7342A8B1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9"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Main Problem: </a:t>
            </a:r>
            <a:r>
              <a:rPr sz="3400" b="1" dirty="0">
                <a:solidFill>
                  <a:srgbClr val="E8967A"/>
                </a:solidFill>
                <a:latin typeface="Quattrocento" panose="02020502030000000404" pitchFamily="18" charset="0"/>
              </a:rPr>
              <a:t>Good Plans, No </a:t>
            </a:r>
            <a:r>
              <a:rPr lang="en-US" sz="3400" b="1" dirty="0">
                <a:solidFill>
                  <a:srgbClr val="E8967A"/>
                </a:solidFill>
                <a:latin typeface="Quattrocento" panose="02020502030000000404" pitchFamily="18" charset="0"/>
              </a:rPr>
              <a:t>Enforcement</a:t>
            </a:r>
            <a:endParaRPr sz="3400" b="1" dirty="0">
              <a:solidFill>
                <a:srgbClr val="E8967A"/>
              </a:solidFill>
              <a:latin typeface="Quattrocento" panose="02020502030000000404" pitchFamily="18" charset="0"/>
            </a:endParaRP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SB 375 requires regions to write plans that show a path to lower emissions.</a:t>
            </a:r>
            <a:endParaRPr lang="en-US" sz="2000" b="1" dirty="0">
              <a:solidFill>
                <a:srgbClr val="F5E6D3"/>
              </a:solidFill>
              <a:latin typeface="Quattrocento" panose="02020502030000000404" pitchFamily="18" charset="0"/>
            </a:endParaRPr>
          </a:p>
          <a:p>
            <a:pPr algn="l"/>
            <a:r>
              <a:rPr sz="2000" b="1" dirty="0">
                <a:solidFill>
                  <a:srgbClr val="F5E6D3"/>
                </a:solidFill>
                <a:latin typeface="Quattrocento" panose="02020502030000000404" pitchFamily="18" charset="0"/>
              </a:rPr>
              <a:t>It doesn't require them to follow the plan.</a:t>
            </a:r>
          </a:p>
        </p:txBody>
      </p:sp>
      <p:sp>
        <p:nvSpPr>
          <p:cNvPr id="5" name="Rounded Rectangle 4"/>
          <p:cNvSpPr/>
          <p:nvPr/>
        </p:nvSpPr>
        <p:spPr>
          <a:xfrm>
            <a:off x="903514" y="2335515"/>
            <a:ext cx="5192486" cy="329184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1526721" y="2508324"/>
            <a:ext cx="3946071" cy="523220"/>
          </a:xfrm>
          <a:prstGeom prst="rect">
            <a:avLst/>
          </a:prstGeom>
          <a:noFill/>
        </p:spPr>
        <p:txBody>
          <a:bodyPr wrap="square">
            <a:spAutoFit/>
          </a:bodyPr>
          <a:lstStyle/>
          <a:p>
            <a:pPr algn="ctr"/>
            <a:r>
              <a:rPr sz="2800" b="1" dirty="0">
                <a:solidFill>
                  <a:srgbClr val="00B0F0"/>
                </a:solidFill>
                <a:latin typeface="Quattrocento" panose="02020502030000000404" pitchFamily="18" charset="0"/>
              </a:rPr>
              <a:t>What SB 375 Requires</a:t>
            </a:r>
          </a:p>
        </p:txBody>
      </p:sp>
      <p:sp>
        <p:nvSpPr>
          <p:cNvPr id="7" name="TextBox 6"/>
          <p:cNvSpPr txBox="1"/>
          <p:nvPr/>
        </p:nvSpPr>
        <p:spPr>
          <a:xfrm>
            <a:off x="1273628" y="3107392"/>
            <a:ext cx="1979341" cy="2082621"/>
          </a:xfrm>
          <a:prstGeom prst="rect">
            <a:avLst/>
          </a:prstGeom>
          <a:noFill/>
        </p:spPr>
        <p:txBody>
          <a:bodyPr wrap="square">
            <a:spAutoFit/>
          </a:bodyPr>
          <a:lstStyle/>
          <a:p>
            <a:pPr>
              <a:spcAft>
                <a:spcPts val="400"/>
              </a:spcAft>
            </a:pPr>
            <a:r>
              <a:rPr sz="2400" dirty="0">
                <a:solidFill>
                  <a:srgbClr val="F5E6D3"/>
                </a:solidFill>
                <a:latin typeface="Quattrocento" panose="02020502030000000404" pitchFamily="18" charset="0"/>
              </a:rPr>
              <a:t>•  Plans</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  Projections</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  Targets</a:t>
            </a:r>
          </a:p>
        </p:txBody>
      </p:sp>
      <p:sp>
        <p:nvSpPr>
          <p:cNvPr id="8" name="Rounded Rectangle 7"/>
          <p:cNvSpPr/>
          <p:nvPr/>
        </p:nvSpPr>
        <p:spPr>
          <a:xfrm>
            <a:off x="6278880" y="2335515"/>
            <a:ext cx="5009606" cy="329184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6290071" y="2508324"/>
            <a:ext cx="4998415" cy="523220"/>
          </a:xfrm>
          <a:prstGeom prst="rect">
            <a:avLst/>
          </a:prstGeom>
          <a:noFill/>
        </p:spPr>
        <p:txBody>
          <a:bodyPr wrap="square">
            <a:spAutoFit/>
          </a:bodyPr>
          <a:lstStyle/>
          <a:p>
            <a:pPr algn="ctr"/>
            <a:r>
              <a:rPr lang="en-US" sz="2800" b="1" dirty="0">
                <a:solidFill>
                  <a:srgbClr val="E8967A"/>
                </a:solidFill>
                <a:latin typeface="Quattrocento" panose="02020502030000000404" pitchFamily="18" charset="0"/>
              </a:rPr>
              <a:t>What SB 375 </a:t>
            </a:r>
            <a:r>
              <a:rPr sz="2800" b="1" dirty="0">
                <a:solidFill>
                  <a:srgbClr val="E8967A"/>
                </a:solidFill>
                <a:latin typeface="Quattrocento" panose="02020502030000000404" pitchFamily="18" charset="0"/>
              </a:rPr>
              <a:t>Doesn't</a:t>
            </a:r>
            <a:r>
              <a:rPr lang="en-US" sz="2800" b="1" dirty="0">
                <a:solidFill>
                  <a:srgbClr val="E8967A"/>
                </a:solidFill>
                <a:latin typeface="Quattrocento" panose="02020502030000000404" pitchFamily="18" charset="0"/>
              </a:rPr>
              <a:t> </a:t>
            </a:r>
            <a:r>
              <a:rPr sz="2800" b="1" dirty="0">
                <a:solidFill>
                  <a:srgbClr val="E8967A"/>
                </a:solidFill>
                <a:latin typeface="Quattrocento" panose="02020502030000000404" pitchFamily="18" charset="0"/>
              </a:rPr>
              <a:t>Require</a:t>
            </a:r>
          </a:p>
        </p:txBody>
      </p:sp>
      <p:sp>
        <p:nvSpPr>
          <p:cNvPr id="10" name="TextBox 9"/>
          <p:cNvSpPr txBox="1"/>
          <p:nvPr/>
        </p:nvSpPr>
        <p:spPr>
          <a:xfrm>
            <a:off x="6600937" y="3107392"/>
            <a:ext cx="4365491" cy="2021066"/>
          </a:xfrm>
          <a:prstGeom prst="rect">
            <a:avLst/>
          </a:prstGeom>
          <a:noFill/>
        </p:spPr>
        <p:txBody>
          <a:bodyPr wrap="square">
            <a:spAutoFit/>
          </a:bodyPr>
          <a:lstStyle/>
          <a:p>
            <a:pPr>
              <a:spcAft>
                <a:spcPts val="400"/>
              </a:spcAft>
            </a:pPr>
            <a:r>
              <a:rPr sz="2400" dirty="0">
                <a:solidFill>
                  <a:srgbClr val="F5E6D3"/>
                </a:solidFill>
                <a:latin typeface="Quattrocento" panose="02020502030000000404" pitchFamily="18" charset="0"/>
              </a:rPr>
              <a:t>•  Spending alignment</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  Enforcement</a:t>
            </a:r>
            <a:endParaRPr lang="en-US" sz="2400" dirty="0">
              <a:solidFill>
                <a:srgbClr val="F5E6D3"/>
              </a:solidFill>
              <a:latin typeface="Quattrocento" panose="02020502030000000404" pitchFamily="18" charset="0"/>
            </a:endParaRPr>
          </a:p>
          <a:p>
            <a:pPr>
              <a:spcAft>
                <a:spcPts val="400"/>
              </a:spcAft>
            </a:pPr>
            <a:endParaRPr sz="2000" dirty="0">
              <a:solidFill>
                <a:srgbClr val="F5E6D3"/>
              </a:solidFill>
              <a:latin typeface="Quattrocento" panose="02020502030000000404" pitchFamily="18" charset="0"/>
            </a:endParaRPr>
          </a:p>
          <a:p>
            <a:pPr>
              <a:spcAft>
                <a:spcPts val="400"/>
              </a:spcAft>
            </a:pPr>
            <a:r>
              <a:rPr sz="2400" dirty="0">
                <a:solidFill>
                  <a:srgbClr val="F5E6D3"/>
                </a:solidFill>
                <a:latin typeface="Quattrocento" panose="02020502030000000404" pitchFamily="18" charset="0"/>
              </a:rPr>
              <a:t>•</a:t>
            </a:r>
            <a:r>
              <a:rPr lang="en-US" sz="2400" dirty="0">
                <a:solidFill>
                  <a:srgbClr val="F5E6D3"/>
                </a:solidFill>
                <a:latin typeface="Quattrocento" panose="02020502030000000404" pitchFamily="18" charset="0"/>
              </a:rPr>
              <a:t> Missed targets consequences</a:t>
            </a:r>
            <a:endParaRPr sz="2400" dirty="0">
              <a:solidFill>
                <a:srgbClr val="F5E6D3"/>
              </a:solidFill>
              <a:latin typeface="Quattrocento" panose="02020502030000000404" pitchFamily="18" charset="0"/>
            </a:endParaRPr>
          </a:p>
        </p:txBody>
      </p:sp>
      <p:sp>
        <p:nvSpPr>
          <p:cNvPr id="11" name="TextBox 10"/>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MCS Capstone </a:t>
            </a:r>
            <a:r>
              <a:rPr sz="3400" b="1" dirty="0">
                <a:solidFill>
                  <a:srgbClr val="E8967A"/>
                </a:solidFill>
                <a:latin typeface="Quattrocento" panose="02020502030000000404" pitchFamily="18" charset="0"/>
              </a:rPr>
              <a:t>Project</a:t>
            </a:r>
            <a:r>
              <a:rPr lang="en-US" sz="3400" b="1" dirty="0">
                <a:solidFill>
                  <a:srgbClr val="E8967A"/>
                </a:solidFill>
                <a:latin typeface="Quattrocento" panose="02020502030000000404" pitchFamily="18" charset="0"/>
              </a:rPr>
              <a:t> Scope</a:t>
            </a:r>
            <a:endParaRPr sz="3400" b="1" dirty="0">
              <a:solidFill>
                <a:srgbClr val="E8967A"/>
              </a:solidFill>
              <a:latin typeface="Quattrocento" panose="02020502030000000404" pitchFamily="18" charset="0"/>
            </a:endParaRPr>
          </a:p>
        </p:txBody>
      </p:sp>
      <p:sp>
        <p:nvSpPr>
          <p:cNvPr id="3" name="TextBox 2"/>
          <p:cNvSpPr txBox="1"/>
          <p:nvPr/>
        </p:nvSpPr>
        <p:spPr>
          <a:xfrm>
            <a:off x="716432" y="951123"/>
            <a:ext cx="10728655" cy="707886"/>
          </a:xfrm>
          <a:prstGeom prst="rect">
            <a:avLst/>
          </a:prstGeom>
          <a:noFill/>
        </p:spPr>
        <p:txBody>
          <a:bodyPr wrap="square">
            <a:spAutoFit/>
          </a:bodyPr>
          <a:lstStyle/>
          <a:p>
            <a:pPr algn="l"/>
            <a:r>
              <a:rPr lang="en-US" sz="2000" b="1" dirty="0">
                <a:solidFill>
                  <a:srgbClr val="F5E6D3"/>
                </a:solidFill>
                <a:latin typeface="Quattrocento" panose="02020502030000000404" pitchFamily="18" charset="0"/>
              </a:rPr>
              <a:t>R</a:t>
            </a:r>
            <a:r>
              <a:rPr sz="2000" b="1" dirty="0">
                <a:solidFill>
                  <a:srgbClr val="F5E6D3"/>
                </a:solidFill>
                <a:latin typeface="Quattrocento" panose="02020502030000000404" pitchFamily="18" charset="0"/>
              </a:rPr>
              <a:t>esearch was conducted in partnership with NRDC to find legislative pathways to make California's transportation spending match its climate goals.</a:t>
            </a:r>
          </a:p>
        </p:txBody>
      </p:sp>
      <p:sp>
        <p:nvSpPr>
          <p:cNvPr id="4" name="Rounded Rectangle 3"/>
          <p:cNvSpPr/>
          <p:nvPr/>
        </p:nvSpPr>
        <p:spPr>
          <a:xfrm>
            <a:off x="7466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975207" y="2125803"/>
            <a:ext cx="2926080" cy="523220"/>
          </a:xfrm>
          <a:prstGeom prst="rect">
            <a:avLst/>
          </a:prstGeom>
          <a:noFill/>
        </p:spPr>
        <p:txBody>
          <a:bodyPr wrap="square">
            <a:spAutoFit/>
          </a:bodyPr>
          <a:lstStyle/>
          <a:p>
            <a:pPr algn="l"/>
            <a:r>
              <a:rPr lang="en-US" sz="2800" b="1" dirty="0">
                <a:solidFill>
                  <a:srgbClr val="4A9B8E"/>
                </a:solidFill>
                <a:latin typeface="Quattrocento" panose="02020502030000000404" pitchFamily="18" charset="0"/>
              </a:rPr>
              <a:t>Sponsor</a:t>
            </a:r>
            <a:endParaRPr sz="2800" b="1" dirty="0">
              <a:solidFill>
                <a:srgbClr val="4A9B8E"/>
              </a:solidFill>
              <a:latin typeface="Quattrocento" panose="02020502030000000404" pitchFamily="18" charset="0"/>
            </a:endParaRPr>
          </a:p>
        </p:txBody>
      </p:sp>
      <p:sp>
        <p:nvSpPr>
          <p:cNvPr id="6" name="TextBox 5"/>
          <p:cNvSpPr txBox="1"/>
          <p:nvPr/>
        </p:nvSpPr>
        <p:spPr>
          <a:xfrm>
            <a:off x="975207" y="2649023"/>
            <a:ext cx="2926080" cy="2687915"/>
          </a:xfrm>
          <a:prstGeom prst="rect">
            <a:avLst/>
          </a:prstGeom>
          <a:noFill/>
        </p:spPr>
        <p:txBody>
          <a:bodyPr wrap="square">
            <a:spAutoFit/>
          </a:bodyPr>
          <a:lstStyle/>
          <a:p>
            <a:pPr>
              <a:spcAft>
                <a:spcPts val="400"/>
              </a:spcAft>
            </a:pPr>
            <a:r>
              <a:rPr dirty="0">
                <a:solidFill>
                  <a:srgbClr val="F5E6D3"/>
                </a:solidFill>
                <a:latin typeface="Quattrocento" panose="02020502030000000404" pitchFamily="18" charset="0"/>
              </a:rPr>
              <a:t>NRDC (Natural Resources Defense Council) is one of nation's leading environmental</a:t>
            </a:r>
            <a:r>
              <a:rPr lang="en-US" dirty="0">
                <a:solidFill>
                  <a:srgbClr val="F5E6D3"/>
                </a:solidFill>
                <a:latin typeface="Quattrocento" panose="02020502030000000404" pitchFamily="18" charset="0"/>
              </a:rPr>
              <a:t> </a:t>
            </a:r>
            <a:r>
              <a:rPr dirty="0">
                <a:solidFill>
                  <a:srgbClr val="F5E6D3"/>
                </a:solidFill>
                <a:latin typeface="Quattrocento" panose="02020502030000000404" pitchFamily="18" charset="0"/>
              </a:rPr>
              <a:t>policy</a:t>
            </a:r>
            <a:r>
              <a:rPr lang="en-US" dirty="0">
                <a:solidFill>
                  <a:srgbClr val="F5E6D3"/>
                </a:solidFill>
                <a:latin typeface="Quattrocento" panose="02020502030000000404" pitchFamily="18" charset="0"/>
              </a:rPr>
              <a:t> advocacy</a:t>
            </a:r>
            <a:r>
              <a:rPr dirty="0">
                <a:solidFill>
                  <a:srgbClr val="F5E6D3"/>
                </a:solidFill>
                <a:latin typeface="Quattrocento" panose="02020502030000000404" pitchFamily="18" charset="0"/>
              </a:rPr>
              <a:t> organizations.</a:t>
            </a:r>
          </a:p>
          <a:p>
            <a:pPr>
              <a:spcAft>
                <a:spcPts val="400"/>
              </a:spcAft>
            </a:pPr>
            <a:endParaRPr lang="en-US" dirty="0">
              <a:solidFill>
                <a:srgbClr val="F5E6D3"/>
              </a:solidFill>
              <a:latin typeface="Quattrocento" panose="02020502030000000404" pitchFamily="18" charset="0"/>
            </a:endParaRPr>
          </a:p>
          <a:p>
            <a:pPr>
              <a:spcAft>
                <a:spcPts val="400"/>
              </a:spcAft>
            </a:pPr>
            <a:r>
              <a:rPr dirty="0">
                <a:solidFill>
                  <a:srgbClr val="F5E6D3"/>
                </a:solidFill>
                <a:latin typeface="Quattrocento" panose="02020502030000000404" pitchFamily="18" charset="0"/>
              </a:rPr>
              <a:t>Zak Accuardi, </a:t>
            </a:r>
            <a:r>
              <a:rPr lang="en-US" dirty="0">
                <a:solidFill>
                  <a:srgbClr val="F5E6D3"/>
                </a:solidFill>
                <a:latin typeface="Quattrocento" panose="02020502030000000404" pitchFamily="18" charset="0"/>
              </a:rPr>
              <a:t>Director of Director, Mobility Choices, Climate &amp; Energy</a:t>
            </a:r>
            <a:r>
              <a:rPr dirty="0">
                <a:solidFill>
                  <a:srgbClr val="F5E6D3"/>
                </a:solidFill>
                <a:latin typeface="Quattrocento" panose="02020502030000000404" pitchFamily="18" charset="0"/>
              </a:rPr>
              <a:t>.</a:t>
            </a:r>
          </a:p>
        </p:txBody>
      </p:sp>
      <p:sp>
        <p:nvSpPr>
          <p:cNvPr id="7" name="Rounded Rectangle 6"/>
          <p:cNvSpPr/>
          <p:nvPr/>
        </p:nvSpPr>
        <p:spPr>
          <a:xfrm>
            <a:off x="44042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632807" y="2125803"/>
            <a:ext cx="2926080" cy="523220"/>
          </a:xfrm>
          <a:prstGeom prst="rect">
            <a:avLst/>
          </a:prstGeom>
          <a:noFill/>
        </p:spPr>
        <p:txBody>
          <a:bodyPr wrap="square">
            <a:spAutoFit/>
          </a:bodyPr>
          <a:lstStyle/>
          <a:p>
            <a:pPr algn="l"/>
            <a:r>
              <a:rPr sz="2800" b="1" dirty="0">
                <a:solidFill>
                  <a:srgbClr val="4A9B8E"/>
                </a:solidFill>
                <a:latin typeface="Quattrocento" panose="02020502030000000404" pitchFamily="18" charset="0"/>
              </a:rPr>
              <a:t>The Question</a:t>
            </a:r>
          </a:p>
        </p:txBody>
      </p:sp>
      <p:sp>
        <p:nvSpPr>
          <p:cNvPr id="9" name="TextBox 8"/>
          <p:cNvSpPr txBox="1"/>
          <p:nvPr/>
        </p:nvSpPr>
        <p:spPr>
          <a:xfrm>
            <a:off x="4632807" y="2649023"/>
            <a:ext cx="3048152" cy="2687915"/>
          </a:xfrm>
          <a:prstGeom prst="rect">
            <a:avLst/>
          </a:prstGeom>
          <a:noFill/>
        </p:spPr>
        <p:txBody>
          <a:bodyPr wrap="square">
            <a:spAutoFit/>
          </a:bodyPr>
          <a:lstStyle/>
          <a:p>
            <a:pPr>
              <a:spcAft>
                <a:spcPts val="400"/>
              </a:spcAft>
            </a:pPr>
            <a:r>
              <a:rPr dirty="0">
                <a:solidFill>
                  <a:srgbClr val="F5E6D3"/>
                </a:solidFill>
                <a:latin typeface="Quattrocento" panose="02020502030000000404" pitchFamily="18" charset="0"/>
              </a:rPr>
              <a:t>California SB 375 requires regions to plan for lower </a:t>
            </a:r>
            <a:r>
              <a:rPr lang="en-US" dirty="0">
                <a:solidFill>
                  <a:srgbClr val="F5E6D3"/>
                </a:solidFill>
                <a:latin typeface="Quattrocento" panose="02020502030000000404" pitchFamily="18" charset="0"/>
              </a:rPr>
              <a:t>GHG </a:t>
            </a:r>
            <a:r>
              <a:rPr dirty="0">
                <a:solidFill>
                  <a:srgbClr val="F5E6D3"/>
                </a:solidFill>
                <a:latin typeface="Quattrocento" panose="02020502030000000404" pitchFamily="18" charset="0"/>
              </a:rPr>
              <a:t>emissions.</a:t>
            </a:r>
          </a:p>
          <a:p>
            <a:pPr>
              <a:spcAft>
                <a:spcPts val="400"/>
              </a:spcAft>
            </a:pPr>
            <a:endParaRPr dirty="0">
              <a:solidFill>
                <a:srgbClr val="F5E6D3"/>
              </a:solidFill>
              <a:latin typeface="Quattrocento" panose="02020502030000000404" pitchFamily="18" charset="0"/>
            </a:endParaRPr>
          </a:p>
          <a:p>
            <a:pPr>
              <a:spcAft>
                <a:spcPts val="400"/>
              </a:spcAft>
            </a:pPr>
            <a:r>
              <a:rPr dirty="0">
                <a:solidFill>
                  <a:srgbClr val="F5E6D3"/>
                </a:solidFill>
                <a:latin typeface="Quattrocento" panose="02020502030000000404" pitchFamily="18" charset="0"/>
              </a:rPr>
              <a:t>But planning and </a:t>
            </a:r>
            <a:r>
              <a:rPr lang="en-US" dirty="0">
                <a:solidFill>
                  <a:srgbClr val="F5E6D3"/>
                </a:solidFill>
                <a:latin typeface="Quattrocento" panose="02020502030000000404" pitchFamily="18" charset="0"/>
              </a:rPr>
              <a:t>implementation</a:t>
            </a:r>
            <a:r>
              <a:rPr dirty="0">
                <a:solidFill>
                  <a:srgbClr val="F5E6D3"/>
                </a:solidFill>
                <a:latin typeface="Quattrocento" panose="02020502030000000404" pitchFamily="18" charset="0"/>
              </a:rPr>
              <a:t> are two different things. Why isn't the</a:t>
            </a:r>
            <a:r>
              <a:rPr lang="en-US" dirty="0">
                <a:solidFill>
                  <a:srgbClr val="F5E6D3"/>
                </a:solidFill>
                <a:latin typeface="Quattrocento" panose="02020502030000000404" pitchFamily="18" charset="0"/>
              </a:rPr>
              <a:t>re better implementation?</a:t>
            </a:r>
            <a:endParaRPr dirty="0">
              <a:solidFill>
                <a:srgbClr val="F5E6D3"/>
              </a:solidFill>
              <a:latin typeface="Quattrocento" panose="02020502030000000404" pitchFamily="18" charset="0"/>
            </a:endParaRPr>
          </a:p>
        </p:txBody>
      </p:sp>
      <p:sp>
        <p:nvSpPr>
          <p:cNvPr id="10" name="Rounded Rectangle 9"/>
          <p:cNvSpPr/>
          <p:nvPr/>
        </p:nvSpPr>
        <p:spPr>
          <a:xfrm>
            <a:off x="8061807" y="2018371"/>
            <a:ext cx="3383280" cy="4616605"/>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8290407" y="2125803"/>
            <a:ext cx="2926080" cy="523220"/>
          </a:xfrm>
          <a:prstGeom prst="rect">
            <a:avLst/>
          </a:prstGeom>
          <a:noFill/>
        </p:spPr>
        <p:txBody>
          <a:bodyPr wrap="square">
            <a:spAutoFit/>
          </a:bodyPr>
          <a:lstStyle/>
          <a:p>
            <a:pPr algn="l"/>
            <a:r>
              <a:rPr sz="2800" b="1" dirty="0">
                <a:solidFill>
                  <a:srgbClr val="4A9B8E"/>
                </a:solidFill>
                <a:latin typeface="Quattrocento" panose="02020502030000000404" pitchFamily="18" charset="0"/>
              </a:rPr>
              <a:t>The Approach</a:t>
            </a:r>
          </a:p>
        </p:txBody>
      </p:sp>
      <p:sp>
        <p:nvSpPr>
          <p:cNvPr id="12" name="TextBox 11"/>
          <p:cNvSpPr txBox="1"/>
          <p:nvPr/>
        </p:nvSpPr>
        <p:spPr>
          <a:xfrm>
            <a:off x="8290407" y="2649023"/>
            <a:ext cx="2926080" cy="2031325"/>
          </a:xfrm>
          <a:prstGeom prst="rect">
            <a:avLst/>
          </a:prstGeom>
          <a:noFill/>
        </p:spPr>
        <p:txBody>
          <a:bodyPr wrap="square">
            <a:spAutoFit/>
          </a:bodyPr>
          <a:lstStyle/>
          <a:p>
            <a:pPr>
              <a:spcAft>
                <a:spcPts val="400"/>
              </a:spcAft>
            </a:pPr>
            <a:r>
              <a:rPr dirty="0">
                <a:solidFill>
                  <a:srgbClr val="F5E6D3"/>
                </a:solidFill>
                <a:latin typeface="Quattrocento" panose="02020502030000000404" pitchFamily="18" charset="0"/>
              </a:rPr>
              <a:t>Policy analysis + stakeholder interviews + spatial data mapping across 18 California Metropolitan Planning Organization (MPO) regions.</a:t>
            </a:r>
          </a:p>
        </p:txBody>
      </p:sp>
      <p:sp>
        <p:nvSpPr>
          <p:cNvPr id="13" name="TextBox 12"/>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2</a:t>
            </a:r>
          </a:p>
        </p:txBody>
      </p:sp>
      <p:pic>
        <p:nvPicPr>
          <p:cNvPr id="2052" name="Picture 4" descr="Zak Accuardi, Director, Mobility Choices, Climate &amp; Energy">
            <a:extLst>
              <a:ext uri="{FF2B5EF4-FFF2-40B4-BE49-F238E27FC236}">
                <a16:creationId xmlns:a16="http://schemas.microsoft.com/office/drawing/2014/main" id="{526527FA-B2F1-12A1-D068-F22FEF1765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40" r="12912"/>
          <a:stretch>
            <a:fillRect/>
          </a:stretch>
        </p:blipFill>
        <p:spPr bwMode="auto">
          <a:xfrm>
            <a:off x="1620053" y="5336938"/>
            <a:ext cx="1636388" cy="1150890"/>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1B368023-DAAE-D25A-45CC-E22724D7E6F8}"/>
              </a:ext>
            </a:extLst>
          </p:cNvPr>
          <p:cNvSpPr txBox="1"/>
          <p:nvPr/>
        </p:nvSpPr>
        <p:spPr>
          <a:xfrm>
            <a:off x="5633901" y="5305870"/>
            <a:ext cx="923892" cy="1323439"/>
          </a:xfrm>
          <a:prstGeom prst="rect">
            <a:avLst/>
          </a:prstGeom>
          <a:noFill/>
        </p:spPr>
        <p:txBody>
          <a:bodyPr wrap="square" rtlCol="0" anchor="ctr">
            <a:spAutoFit/>
          </a:bodyPr>
          <a:lstStyle/>
          <a:p>
            <a:pPr algn="ctr"/>
            <a:r>
              <a:rPr lang="en-US" sz="8000" b="1" dirty="0">
                <a:solidFill>
                  <a:srgbClr val="E8967A"/>
                </a:solidFill>
                <a:latin typeface="Quattrocento" panose="02020502030000000404" pitchFamily="18" charset="0"/>
              </a:rPr>
              <a:t>?</a:t>
            </a:r>
          </a:p>
        </p:txBody>
      </p:sp>
      <p:pic>
        <p:nvPicPr>
          <p:cNvPr id="22" name="Graphic 21" descr="Clipboard Checked outline">
            <a:extLst>
              <a:ext uri="{FF2B5EF4-FFF2-40B4-BE49-F238E27FC236}">
                <a16:creationId xmlns:a16="http://schemas.microsoft.com/office/drawing/2014/main" id="{4092F05C-6CDE-80E8-5975-41A69CD69A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91094" y="5163122"/>
            <a:ext cx="1324706" cy="13247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2052"/>
                                        </p:tgtEl>
                                        <p:attrNameLst>
                                          <p:attrName>style.visibility</p:attrName>
                                        </p:attrNameLst>
                                      </p:cBhvr>
                                      <p:to>
                                        <p:strVal val="visible"/>
                                      </p:to>
                                    </p:set>
                                    <p:animEffect transition="in" filter="fade">
                                      <p:cBhvr>
                                        <p:cTn id="20" dur="500"/>
                                        <p:tgtEl>
                                          <p:spTgt spid="2052"/>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animBg="1"/>
      <p:bldP spid="8" grpId="0"/>
      <p:bldP spid="9" grpId="0"/>
      <p:bldP spid="10" grpId="0" animBg="1"/>
      <p:bldP spid="11" grpId="0"/>
      <p:bldP spid="12"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Opportunity to Fix Issue: SB 1087 (Cabaldon)</a:t>
            </a:r>
            <a:endParaRPr sz="3400" b="1" dirty="0">
              <a:solidFill>
                <a:srgbClr val="E8967A"/>
              </a:solidFill>
              <a:latin typeface="Quattrocento" panose="02020502030000000404" pitchFamily="18" charset="0"/>
            </a:endParaRPr>
          </a:p>
        </p:txBody>
      </p:sp>
      <p:sp>
        <p:nvSpPr>
          <p:cNvPr id="3" name="TextBox 2"/>
          <p:cNvSpPr txBox="1"/>
          <p:nvPr/>
        </p:nvSpPr>
        <p:spPr>
          <a:xfrm>
            <a:off x="731520" y="1006606"/>
            <a:ext cx="9903823" cy="707886"/>
          </a:xfrm>
          <a:prstGeom prst="rect">
            <a:avLst/>
          </a:prstGeom>
          <a:noFill/>
        </p:spPr>
        <p:txBody>
          <a:bodyPr wrap="square">
            <a:spAutoFit/>
          </a:bodyPr>
          <a:lstStyle/>
          <a:p>
            <a:pPr algn="l"/>
            <a:r>
              <a:rPr sz="2000" b="1" dirty="0">
                <a:solidFill>
                  <a:srgbClr val="E3B99E"/>
                </a:solidFill>
                <a:latin typeface="Quattrocento" panose="02020502030000000404" pitchFamily="18" charset="0"/>
              </a:rPr>
              <a:t>A technical bill introduced in February 2026 </a:t>
            </a:r>
            <a:r>
              <a:rPr lang="en-US" sz="2000" b="1" dirty="0">
                <a:solidFill>
                  <a:srgbClr val="E3B99E"/>
                </a:solidFill>
                <a:latin typeface="Quattrocento" panose="02020502030000000404" pitchFamily="18" charset="0"/>
              </a:rPr>
              <a:t>amends </a:t>
            </a:r>
            <a:r>
              <a:rPr sz="2000" b="1" dirty="0">
                <a:solidFill>
                  <a:srgbClr val="E3B99E"/>
                </a:solidFill>
                <a:latin typeface="Quattrocento" panose="02020502030000000404" pitchFamily="18" charset="0"/>
              </a:rPr>
              <a:t>same legal code as SB 375</a:t>
            </a:r>
            <a:r>
              <a:rPr lang="en-US" sz="2000" b="1" dirty="0">
                <a:solidFill>
                  <a:srgbClr val="E3B99E"/>
                </a:solidFill>
                <a:latin typeface="Quattrocento" panose="02020502030000000404" pitchFamily="18" charset="0"/>
              </a:rPr>
              <a:t>.</a:t>
            </a:r>
          </a:p>
          <a:p>
            <a:pPr algn="l"/>
            <a:r>
              <a:rPr lang="en-US" sz="2000" b="1" dirty="0">
                <a:solidFill>
                  <a:srgbClr val="E3B99E"/>
                </a:solidFill>
                <a:latin typeface="Quattrocento" panose="02020502030000000404" pitchFamily="18" charset="0"/>
              </a:rPr>
              <a:t>A</a:t>
            </a:r>
            <a:r>
              <a:rPr sz="2000" b="1" dirty="0">
                <a:solidFill>
                  <a:srgbClr val="E3B99E"/>
                </a:solidFill>
                <a:latin typeface="Quattrocento" panose="02020502030000000404" pitchFamily="18" charset="0"/>
              </a:rPr>
              <a:t> rare window to insert real accountability.</a:t>
            </a:r>
          </a:p>
        </p:txBody>
      </p:sp>
      <p:sp>
        <p:nvSpPr>
          <p:cNvPr id="4" name="Rounded Rectangle 3"/>
          <p:cNvSpPr/>
          <p:nvPr/>
        </p:nvSpPr>
        <p:spPr>
          <a:xfrm>
            <a:off x="7923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1020927" y="2468880"/>
            <a:ext cx="4663440" cy="461665"/>
          </a:xfrm>
          <a:prstGeom prst="rect">
            <a:avLst/>
          </a:prstGeom>
          <a:noFill/>
        </p:spPr>
        <p:txBody>
          <a:bodyPr wrap="square">
            <a:spAutoFit/>
          </a:bodyPr>
          <a:lstStyle/>
          <a:p>
            <a:pPr algn="l"/>
            <a:r>
              <a:rPr sz="2400" b="1" dirty="0">
                <a:solidFill>
                  <a:srgbClr val="4A9B8E"/>
                </a:solidFill>
                <a:latin typeface="Quattrocento" panose="02020502030000000404" pitchFamily="18" charset="0"/>
              </a:rPr>
              <a:t>What SB 1087 Does</a:t>
            </a:r>
          </a:p>
        </p:txBody>
      </p:sp>
      <p:sp>
        <p:nvSpPr>
          <p:cNvPr id="6" name="TextBox 5"/>
          <p:cNvSpPr txBox="1"/>
          <p:nvPr/>
        </p:nvSpPr>
        <p:spPr>
          <a:xfrm>
            <a:off x="906627" y="2904010"/>
            <a:ext cx="4892040" cy="3385542"/>
          </a:xfrm>
          <a:prstGeom prst="rect">
            <a:avLst/>
          </a:prstGeom>
          <a:noFill/>
        </p:spPr>
        <p:txBody>
          <a:bodyPr wrap="square">
            <a:spAutoFit/>
          </a:bodyPr>
          <a:lstStyle/>
          <a:p>
            <a:pPr>
              <a:spcAft>
                <a:spcPts val="400"/>
              </a:spcAft>
            </a:pPr>
            <a:r>
              <a:rPr sz="2000" dirty="0">
                <a:solidFill>
                  <a:srgbClr val="F5E6D3"/>
                </a:solidFill>
                <a:latin typeface="Quattrocento" panose="02020502030000000404" pitchFamily="18" charset="0"/>
              </a:rPr>
              <a:t>Introduced by Senator Cabaldon</a:t>
            </a:r>
            <a:r>
              <a:rPr lang="en-US" sz="2000" dirty="0">
                <a:solidFill>
                  <a:srgbClr val="F5E6D3"/>
                </a:solidFill>
                <a:latin typeface="Quattrocento" panose="02020502030000000404" pitchFamily="18" charset="0"/>
              </a:rPr>
              <a:t>: </a:t>
            </a:r>
            <a:r>
              <a:rPr sz="2000" dirty="0">
                <a:solidFill>
                  <a:srgbClr val="F5E6D3"/>
                </a:solidFill>
                <a:latin typeface="Quattrocento" panose="02020502030000000404" pitchFamily="18" charset="0"/>
              </a:rPr>
              <a:t>makes administrative updates to C</a:t>
            </a:r>
            <a:r>
              <a:rPr lang="en-US" sz="2000" dirty="0">
                <a:solidFill>
                  <a:srgbClr val="F5E6D3"/>
                </a:solidFill>
                <a:latin typeface="Quattrocento" panose="02020502030000000404" pitchFamily="18" charset="0"/>
              </a:rPr>
              <a:t>A</a:t>
            </a:r>
            <a:r>
              <a:rPr sz="2000" dirty="0">
                <a:solidFill>
                  <a:srgbClr val="F5E6D3"/>
                </a:solidFill>
                <a:latin typeface="Quattrocento" panose="02020502030000000404" pitchFamily="18" charset="0"/>
              </a:rPr>
              <a:t>'s transportation planning framework:</a:t>
            </a:r>
            <a:endParaRPr dirty="0">
              <a:solidFill>
                <a:srgbClr val="F5E6D3"/>
              </a:solidFill>
              <a:latin typeface="Quattrocento" panose="02020502030000000404" pitchFamily="18" charset="0"/>
            </a:endParaRPr>
          </a:p>
          <a:p>
            <a:pPr marL="285750" indent="-285750">
              <a:spcAft>
                <a:spcPts val="400"/>
              </a:spcAft>
              <a:buFont typeface="Arial" panose="020B0604020202020204" pitchFamily="34" charset="0"/>
              <a:buChar char="•"/>
            </a:pPr>
            <a:r>
              <a:rPr dirty="0">
                <a:solidFill>
                  <a:srgbClr val="F5E6D3"/>
                </a:solidFill>
                <a:latin typeface="Quattrocento" panose="02020502030000000404" pitchFamily="18" charset="0"/>
              </a:rPr>
              <a:t>Changes how often regions must update their plans (from every 4 years to every 8 years)</a:t>
            </a:r>
          </a:p>
          <a:p>
            <a:pPr marL="285750" indent="-285750">
              <a:spcAft>
                <a:spcPts val="400"/>
              </a:spcAft>
              <a:buFont typeface="Arial" panose="020B0604020202020204" pitchFamily="34" charset="0"/>
              <a:buChar char="•"/>
            </a:pPr>
            <a:r>
              <a:rPr dirty="0">
                <a:solidFill>
                  <a:srgbClr val="F5E6D3"/>
                </a:solidFill>
                <a:latin typeface="Quattrocento" panose="02020502030000000404" pitchFamily="18" charset="0"/>
              </a:rPr>
              <a:t>Changes how $25 million in planning grants are allocated (from discretionary to population-based)</a:t>
            </a:r>
          </a:p>
          <a:p>
            <a:pPr marL="285750" indent="-285750">
              <a:spcAft>
                <a:spcPts val="400"/>
              </a:spcAft>
              <a:buFont typeface="Arial" panose="020B0604020202020204" pitchFamily="34" charset="0"/>
              <a:buChar char="•"/>
            </a:pPr>
            <a:r>
              <a:rPr dirty="0">
                <a:solidFill>
                  <a:srgbClr val="F5E6D3"/>
                </a:solidFill>
                <a:latin typeface="Quattrocento" panose="02020502030000000404" pitchFamily="18" charset="0"/>
              </a:rPr>
              <a:t>Shifts grant administration away from Caltrans</a:t>
            </a:r>
          </a:p>
        </p:txBody>
      </p:sp>
      <p:sp>
        <p:nvSpPr>
          <p:cNvPr id="7" name="Rounded Rectangle 6"/>
          <p:cNvSpPr/>
          <p:nvPr/>
        </p:nvSpPr>
        <p:spPr>
          <a:xfrm>
            <a:off x="6278727" y="2286000"/>
            <a:ext cx="5120640" cy="393192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6507327" y="2468880"/>
            <a:ext cx="4663440" cy="461665"/>
          </a:xfrm>
          <a:prstGeom prst="rect">
            <a:avLst/>
          </a:prstGeom>
          <a:noFill/>
        </p:spPr>
        <p:txBody>
          <a:bodyPr wrap="square">
            <a:spAutoFit/>
          </a:bodyPr>
          <a:lstStyle/>
          <a:p>
            <a:pPr algn="l"/>
            <a:r>
              <a:rPr sz="2400" b="1" dirty="0">
                <a:solidFill>
                  <a:srgbClr val="4A9B8E"/>
                </a:solidFill>
                <a:latin typeface="Quattrocento" panose="02020502030000000404" pitchFamily="18" charset="0"/>
              </a:rPr>
              <a:t>Why This Matters</a:t>
            </a:r>
          </a:p>
        </p:txBody>
      </p:sp>
      <p:sp>
        <p:nvSpPr>
          <p:cNvPr id="9" name="TextBox 8"/>
          <p:cNvSpPr txBox="1"/>
          <p:nvPr/>
        </p:nvSpPr>
        <p:spPr>
          <a:xfrm>
            <a:off x="6507327" y="2904010"/>
            <a:ext cx="4663440" cy="2657138"/>
          </a:xfrm>
          <a:prstGeom prst="rect">
            <a:avLst/>
          </a:prstGeom>
          <a:noFill/>
        </p:spPr>
        <p:txBody>
          <a:bodyPr wrap="square">
            <a:spAutoFit/>
          </a:bodyPr>
          <a:lstStyle/>
          <a:p>
            <a:pPr>
              <a:spcAft>
                <a:spcPts val="400"/>
              </a:spcAft>
            </a:pPr>
            <a:r>
              <a:rPr lang="en-US" sz="2000" dirty="0">
                <a:solidFill>
                  <a:srgbClr val="F5E6D3"/>
                </a:solidFill>
                <a:latin typeface="Quattrocento" panose="02020502030000000404" pitchFamily="18" charset="0"/>
              </a:rPr>
              <a:t>S</a:t>
            </a:r>
            <a:r>
              <a:rPr sz="2000" dirty="0">
                <a:solidFill>
                  <a:srgbClr val="F5E6D3"/>
                </a:solidFill>
                <a:latin typeface="Quattrocento" panose="02020502030000000404" pitchFamily="18" charset="0"/>
              </a:rPr>
              <a:t>B 1087 </a:t>
            </a:r>
            <a:r>
              <a:rPr lang="en-US" sz="2000" dirty="0">
                <a:solidFill>
                  <a:srgbClr val="F5E6D3"/>
                </a:solidFill>
                <a:latin typeface="Quattrocento" panose="02020502030000000404" pitchFamily="18" charset="0"/>
              </a:rPr>
              <a:t>can create </a:t>
            </a:r>
            <a:r>
              <a:rPr sz="2000" dirty="0">
                <a:solidFill>
                  <a:srgbClr val="F5E6D3"/>
                </a:solidFill>
                <a:latin typeface="Quattrocento" panose="02020502030000000404" pitchFamily="18" charset="0"/>
              </a:rPr>
              <a:t>legislative hooks </a:t>
            </a:r>
            <a:r>
              <a:rPr lang="en-US" sz="2000" dirty="0">
                <a:solidFill>
                  <a:srgbClr val="F5E6D3"/>
                </a:solidFill>
                <a:latin typeface="Quattrocento" panose="02020502030000000404" pitchFamily="18" charset="0"/>
              </a:rPr>
              <a:t>to utilize</a:t>
            </a:r>
            <a:r>
              <a:rPr sz="2000" dirty="0">
                <a:solidFill>
                  <a:srgbClr val="F5E6D3"/>
                </a:solidFill>
                <a:latin typeface="Quattrocento" panose="02020502030000000404" pitchFamily="18" charset="0"/>
              </a:rPr>
              <a:t> specific code sections where climate</a:t>
            </a:r>
            <a:r>
              <a:rPr lang="en-US" sz="2000" dirty="0">
                <a:solidFill>
                  <a:srgbClr val="F5E6D3"/>
                </a:solidFill>
                <a:latin typeface="Quattrocento" panose="02020502030000000404" pitchFamily="18" charset="0"/>
              </a:rPr>
              <a:t> </a:t>
            </a:r>
            <a:r>
              <a:rPr sz="2000" dirty="0">
                <a:solidFill>
                  <a:srgbClr val="F5E6D3"/>
                </a:solidFill>
                <a:latin typeface="Quattrocento" panose="02020502030000000404" pitchFamily="18" charset="0"/>
              </a:rPr>
              <a:t>accountability language can be inserted during the amendment process.</a:t>
            </a:r>
          </a:p>
          <a:p>
            <a:pPr>
              <a:spcAft>
                <a:spcPts val="400"/>
              </a:spcAft>
            </a:pPr>
            <a:endParaRPr sz="2000" dirty="0">
              <a:solidFill>
                <a:srgbClr val="F5E6D3"/>
              </a:solidFill>
              <a:latin typeface="Quattrocento" panose="02020502030000000404" pitchFamily="18" charset="0"/>
            </a:endParaRPr>
          </a:p>
          <a:p>
            <a:pPr>
              <a:spcAft>
                <a:spcPts val="400"/>
              </a:spcAft>
            </a:pPr>
            <a:r>
              <a:rPr lang="en-US" sz="2000" dirty="0">
                <a:solidFill>
                  <a:srgbClr val="F5E6D3"/>
                </a:solidFill>
                <a:latin typeface="Quattrocento" panose="02020502030000000404" pitchFamily="18" charset="0"/>
              </a:rPr>
              <a:t>Can become </a:t>
            </a:r>
            <a:r>
              <a:rPr sz="2000" dirty="0">
                <a:solidFill>
                  <a:srgbClr val="F5E6D3"/>
                </a:solidFill>
                <a:latin typeface="Quattrocento" panose="02020502030000000404" pitchFamily="18" charset="0"/>
              </a:rPr>
              <a:t>a potential climate accountability bill.</a:t>
            </a:r>
          </a:p>
        </p:txBody>
      </p:sp>
      <p:sp>
        <p:nvSpPr>
          <p:cNvPr id="10" name="TextBox 9"/>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6</a:t>
            </a:r>
          </a:p>
        </p:txBody>
      </p:sp>
      <p:pic>
        <p:nvPicPr>
          <p:cNvPr id="11" name="Picture 6" descr="50+ Sacramento Capitol Building Stock Illustrations, Royalty-Free Vector  Graphics &amp; Clip Art - iStock | Sacramento capitol building night,  Sacramento capitol building inside">
            <a:extLst>
              <a:ext uri="{FF2B5EF4-FFF2-40B4-BE49-F238E27FC236}">
                <a16:creationId xmlns:a16="http://schemas.microsoft.com/office/drawing/2014/main" id="{D258C711-12CA-E68F-0873-F3E33D64D6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5040" y="137160"/>
            <a:ext cx="1801010" cy="1920240"/>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7"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Other States Already Closed This Gap</a:t>
            </a:r>
          </a:p>
        </p:txBody>
      </p:sp>
      <p:sp>
        <p:nvSpPr>
          <p:cNvPr id="3" name="TextBox 2"/>
          <p:cNvSpPr txBox="1"/>
          <p:nvPr/>
        </p:nvSpPr>
        <p:spPr>
          <a:xfrm>
            <a:off x="731520" y="1143000"/>
            <a:ext cx="10728655" cy="707886"/>
          </a:xfrm>
          <a:prstGeom prst="rect">
            <a:avLst/>
          </a:prstGeom>
          <a:noFill/>
        </p:spPr>
        <p:txBody>
          <a:bodyPr wrap="square">
            <a:spAutoFit/>
          </a:bodyPr>
          <a:lstStyle/>
          <a:p>
            <a:pPr algn="l"/>
            <a:r>
              <a:rPr sz="2000" b="1" dirty="0">
                <a:solidFill>
                  <a:srgbClr val="E3B99E"/>
                </a:solidFill>
                <a:latin typeface="Quattrocento" panose="02020502030000000404" pitchFamily="18" charset="0"/>
              </a:rPr>
              <a:t>Colorado, Minnesota, Virginia, and Massachusetts each passed laws that tie transportation dollars directly to climate performance. California can adapt all four.</a:t>
            </a:r>
          </a:p>
        </p:txBody>
      </p:sp>
      <p:sp>
        <p:nvSpPr>
          <p:cNvPr id="4" name="Rounded Rectangle 3"/>
          <p:cNvSpPr/>
          <p:nvPr/>
        </p:nvSpPr>
        <p:spPr>
          <a:xfrm>
            <a:off x="792327" y="224028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1020927" y="2834640"/>
            <a:ext cx="4663440" cy="1200329"/>
          </a:xfrm>
          <a:prstGeom prst="rect">
            <a:avLst/>
          </a:prstGeom>
          <a:noFill/>
        </p:spPr>
        <p:txBody>
          <a:bodyPr wrap="square">
            <a:spAutoFit/>
          </a:bodyPr>
          <a:lstStyle/>
          <a:p>
            <a:pPr>
              <a:spcAft>
                <a:spcPts val="400"/>
              </a:spcAft>
            </a:pPr>
            <a:r>
              <a:rPr dirty="0">
                <a:solidFill>
                  <a:srgbClr val="F5E6D3"/>
                </a:solidFill>
                <a:latin typeface="Calibri"/>
              </a:rPr>
              <a:t>Any project that increases emissions must be paired with transit, bike lanes, or demand management to offset the impact. No mitigation = no funding.</a:t>
            </a:r>
          </a:p>
        </p:txBody>
      </p:sp>
      <p:sp>
        <p:nvSpPr>
          <p:cNvPr id="7" name="Rounded Rectangle 6"/>
          <p:cNvSpPr/>
          <p:nvPr/>
        </p:nvSpPr>
        <p:spPr>
          <a:xfrm>
            <a:off x="6278727" y="224028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6507327" y="2942892"/>
            <a:ext cx="4663440" cy="923330"/>
          </a:xfrm>
          <a:prstGeom prst="rect">
            <a:avLst/>
          </a:prstGeom>
          <a:noFill/>
        </p:spPr>
        <p:txBody>
          <a:bodyPr wrap="square">
            <a:spAutoFit/>
          </a:bodyPr>
          <a:lstStyle/>
          <a:p>
            <a:pPr>
              <a:spcAft>
                <a:spcPts val="400"/>
              </a:spcAft>
            </a:pPr>
            <a:r>
              <a:rPr dirty="0">
                <a:solidFill>
                  <a:srgbClr val="F5E6D3"/>
                </a:solidFill>
                <a:latin typeface="Calibri"/>
              </a:rPr>
              <a:t>Any highway expansion over 0.5 miles requires a 20-year emissions impact study. If it fails, the project must be redesigned, offset, or canceled.</a:t>
            </a:r>
          </a:p>
        </p:txBody>
      </p:sp>
      <p:sp>
        <p:nvSpPr>
          <p:cNvPr id="10" name="Rounded Rectangle 9"/>
          <p:cNvSpPr/>
          <p:nvPr/>
        </p:nvSpPr>
        <p:spPr>
          <a:xfrm>
            <a:off x="792327" y="4251960"/>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1020927" y="4846320"/>
            <a:ext cx="4663440" cy="1200329"/>
          </a:xfrm>
          <a:prstGeom prst="rect">
            <a:avLst/>
          </a:prstGeom>
          <a:noFill/>
        </p:spPr>
        <p:txBody>
          <a:bodyPr wrap="square">
            <a:spAutoFit/>
          </a:bodyPr>
          <a:lstStyle/>
          <a:p>
            <a:pPr>
              <a:spcAft>
                <a:spcPts val="400"/>
              </a:spcAft>
            </a:pPr>
            <a:r>
              <a:rPr dirty="0">
                <a:solidFill>
                  <a:srgbClr val="F5E6D3"/>
                </a:solidFill>
                <a:latin typeface="Calibri"/>
              </a:rPr>
              <a:t>Projects are scored on GHG reduction, multimodal access, and benefits to disadvantaged communities. Sprawl-inducing projects naturally score lower and lose funding.</a:t>
            </a:r>
          </a:p>
        </p:txBody>
      </p:sp>
      <p:sp>
        <p:nvSpPr>
          <p:cNvPr id="13" name="Rounded Rectangle 12"/>
          <p:cNvSpPr/>
          <p:nvPr/>
        </p:nvSpPr>
        <p:spPr>
          <a:xfrm>
            <a:off x="6309131" y="4258994"/>
            <a:ext cx="5120640" cy="1783080"/>
          </a:xfrm>
          <a:prstGeom prst="roundRect">
            <a:avLst>
              <a:gd name="adj" fmla="val 5000"/>
            </a:avLst>
          </a:prstGeom>
          <a:solidFill>
            <a:srgbClr val="254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Shape 3">
            <a:extLst>
              <a:ext uri="{FF2B5EF4-FFF2-40B4-BE49-F238E27FC236}">
                <a16:creationId xmlns:a16="http://schemas.microsoft.com/office/drawing/2014/main" id="{7D5C4215-1507-F949-50E7-C8BF2BA66A50}"/>
              </a:ext>
            </a:extLst>
          </p:cNvPr>
          <p:cNvSpPr>
            <a:spLocks/>
          </p:cNvSpPr>
          <p:nvPr/>
        </p:nvSpPr>
        <p:spPr>
          <a:xfrm>
            <a:off x="792327" y="2228910"/>
            <a:ext cx="5120640" cy="561668"/>
          </a:xfrm>
          <a:prstGeom prst="roundRect">
            <a:avLst>
              <a:gd name="adj" fmla="val 0"/>
            </a:avLst>
          </a:prstGeom>
          <a:solidFill>
            <a:srgbClr val="E8967A"/>
          </a:solidFill>
          <a:ln/>
        </p:spPr>
        <p:txBody>
          <a:bodyPr/>
          <a:lstStyle/>
          <a:p>
            <a:endParaRPr lang="en-US" dirty="0">
              <a:solidFill>
                <a:srgbClr val="E8967A"/>
              </a:solidFill>
            </a:endParaRPr>
          </a:p>
        </p:txBody>
      </p:sp>
      <p:sp>
        <p:nvSpPr>
          <p:cNvPr id="18" name="Shape 3">
            <a:extLst>
              <a:ext uri="{FF2B5EF4-FFF2-40B4-BE49-F238E27FC236}">
                <a16:creationId xmlns:a16="http://schemas.microsoft.com/office/drawing/2014/main" id="{4A7E94AD-1995-37BF-1EC7-352D0FBCF8B8}"/>
              </a:ext>
            </a:extLst>
          </p:cNvPr>
          <p:cNvSpPr>
            <a:spLocks/>
          </p:cNvSpPr>
          <p:nvPr/>
        </p:nvSpPr>
        <p:spPr>
          <a:xfrm>
            <a:off x="792327" y="4251960"/>
            <a:ext cx="5120640" cy="561668"/>
          </a:xfrm>
          <a:prstGeom prst="roundRect">
            <a:avLst>
              <a:gd name="adj" fmla="val 0"/>
            </a:avLst>
          </a:prstGeom>
          <a:solidFill>
            <a:srgbClr val="E8967A"/>
          </a:solidFill>
          <a:ln/>
        </p:spPr>
        <p:txBody>
          <a:bodyPr/>
          <a:lstStyle/>
          <a:p>
            <a:endParaRPr lang="en-US" dirty="0"/>
          </a:p>
        </p:txBody>
      </p:sp>
      <p:sp>
        <p:nvSpPr>
          <p:cNvPr id="15" name="TextBox 14"/>
          <p:cNvSpPr txBox="1"/>
          <p:nvPr/>
        </p:nvSpPr>
        <p:spPr>
          <a:xfrm>
            <a:off x="6507327" y="4983925"/>
            <a:ext cx="4663440" cy="923330"/>
          </a:xfrm>
          <a:prstGeom prst="rect">
            <a:avLst/>
          </a:prstGeom>
          <a:noFill/>
        </p:spPr>
        <p:txBody>
          <a:bodyPr wrap="square">
            <a:spAutoFit/>
          </a:bodyPr>
          <a:lstStyle/>
          <a:p>
            <a:pPr>
              <a:spcAft>
                <a:spcPts val="400"/>
              </a:spcAft>
            </a:pPr>
            <a:r>
              <a:rPr dirty="0">
                <a:solidFill>
                  <a:srgbClr val="F5E6D3"/>
                </a:solidFill>
                <a:latin typeface="Calibri"/>
              </a:rPr>
              <a:t>Legally binding, annually declining CO₂ limits for the state DOT. Miss the target and supplemental corrective measures are legally required.</a:t>
            </a:r>
          </a:p>
        </p:txBody>
      </p:sp>
      <p:sp>
        <p:nvSpPr>
          <p:cNvPr id="16" name="TextBox 1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7</a:t>
            </a:r>
          </a:p>
        </p:txBody>
      </p:sp>
      <p:sp>
        <p:nvSpPr>
          <p:cNvPr id="5" name="TextBox 4"/>
          <p:cNvSpPr txBox="1"/>
          <p:nvPr/>
        </p:nvSpPr>
        <p:spPr>
          <a:xfrm>
            <a:off x="1020927" y="2309689"/>
            <a:ext cx="4663440" cy="400110"/>
          </a:xfrm>
          <a:prstGeom prst="rect">
            <a:avLst/>
          </a:prstGeom>
          <a:noFill/>
        </p:spPr>
        <p:txBody>
          <a:bodyPr wrap="square">
            <a:spAutoFit/>
          </a:bodyPr>
          <a:lstStyle/>
          <a:p>
            <a:pPr algn="l"/>
            <a:r>
              <a:rPr sz="2000" b="1" dirty="0">
                <a:solidFill>
                  <a:srgbClr val="F5E6D3"/>
                </a:solidFill>
                <a:latin typeface="Calibri"/>
              </a:rPr>
              <a:t>COLORADO — Budget Lock</a:t>
            </a:r>
          </a:p>
        </p:txBody>
      </p:sp>
      <p:sp>
        <p:nvSpPr>
          <p:cNvPr id="11" name="TextBox 10"/>
          <p:cNvSpPr txBox="1"/>
          <p:nvPr/>
        </p:nvSpPr>
        <p:spPr>
          <a:xfrm>
            <a:off x="1020927" y="4331910"/>
            <a:ext cx="4663440" cy="400110"/>
          </a:xfrm>
          <a:prstGeom prst="rect">
            <a:avLst/>
          </a:prstGeom>
          <a:noFill/>
        </p:spPr>
        <p:txBody>
          <a:bodyPr wrap="square">
            <a:spAutoFit/>
          </a:bodyPr>
          <a:lstStyle/>
          <a:p>
            <a:pPr algn="l"/>
            <a:r>
              <a:rPr sz="2000" b="1" dirty="0">
                <a:solidFill>
                  <a:srgbClr val="F5E6D3"/>
                </a:solidFill>
                <a:latin typeface="Calibri"/>
              </a:rPr>
              <a:t>VIRGINIA — Climate &amp; Equity Scoring</a:t>
            </a:r>
          </a:p>
        </p:txBody>
      </p:sp>
      <p:pic>
        <p:nvPicPr>
          <p:cNvPr id="19" name="Image 2" descr="preencoded.png">
            <a:extLst>
              <a:ext uri="{FF2B5EF4-FFF2-40B4-BE49-F238E27FC236}">
                <a16:creationId xmlns:a16="http://schemas.microsoft.com/office/drawing/2014/main" id="{5376CEBD-2D19-4434-4F4B-F03F7E5A9C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0873" y="4254812"/>
            <a:ext cx="517596" cy="563372"/>
          </a:xfrm>
          <a:prstGeom prst="rect">
            <a:avLst/>
          </a:prstGeom>
        </p:spPr>
      </p:pic>
      <p:pic>
        <p:nvPicPr>
          <p:cNvPr id="20" name="Image 0" descr="preencoded.png">
            <a:extLst>
              <a:ext uri="{FF2B5EF4-FFF2-40B4-BE49-F238E27FC236}">
                <a16:creationId xmlns:a16="http://schemas.microsoft.com/office/drawing/2014/main" id="{BFE314E3-1FF3-65B6-3067-B96B6B69D0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4618" y="2284382"/>
            <a:ext cx="474049" cy="446367"/>
          </a:xfrm>
          <a:prstGeom prst="rect">
            <a:avLst/>
          </a:prstGeom>
        </p:spPr>
      </p:pic>
      <p:sp>
        <p:nvSpPr>
          <p:cNvPr id="21" name="Shape 3">
            <a:extLst>
              <a:ext uri="{FF2B5EF4-FFF2-40B4-BE49-F238E27FC236}">
                <a16:creationId xmlns:a16="http://schemas.microsoft.com/office/drawing/2014/main" id="{0B73D635-2DCA-43EE-E47E-19D329B66409}"/>
              </a:ext>
            </a:extLst>
          </p:cNvPr>
          <p:cNvSpPr>
            <a:spLocks/>
          </p:cNvSpPr>
          <p:nvPr/>
        </p:nvSpPr>
        <p:spPr>
          <a:xfrm>
            <a:off x="6278727" y="2221986"/>
            <a:ext cx="5120640" cy="561668"/>
          </a:xfrm>
          <a:prstGeom prst="roundRect">
            <a:avLst>
              <a:gd name="adj" fmla="val 0"/>
            </a:avLst>
          </a:prstGeom>
          <a:solidFill>
            <a:srgbClr val="E8967A"/>
          </a:solidFill>
          <a:ln/>
        </p:spPr>
        <p:txBody>
          <a:bodyPr/>
          <a:lstStyle/>
          <a:p>
            <a:endParaRPr lang="en-US" dirty="0"/>
          </a:p>
        </p:txBody>
      </p:sp>
      <p:sp>
        <p:nvSpPr>
          <p:cNvPr id="8" name="TextBox 7"/>
          <p:cNvSpPr txBox="1"/>
          <p:nvPr/>
        </p:nvSpPr>
        <p:spPr>
          <a:xfrm>
            <a:off x="6507327" y="2297789"/>
            <a:ext cx="4663440" cy="400110"/>
          </a:xfrm>
          <a:prstGeom prst="rect">
            <a:avLst/>
          </a:prstGeom>
          <a:noFill/>
        </p:spPr>
        <p:txBody>
          <a:bodyPr wrap="square">
            <a:spAutoFit/>
          </a:bodyPr>
          <a:lstStyle/>
          <a:p>
            <a:pPr algn="l"/>
            <a:r>
              <a:rPr sz="2000" b="1" dirty="0">
                <a:solidFill>
                  <a:srgbClr val="F5E6D3"/>
                </a:solidFill>
                <a:latin typeface="Calibri"/>
              </a:rPr>
              <a:t>MINNESOTA — Capacity Trigger</a:t>
            </a:r>
          </a:p>
        </p:txBody>
      </p:sp>
      <p:pic>
        <p:nvPicPr>
          <p:cNvPr id="22" name="Image 1" descr="preencoded.png">
            <a:extLst>
              <a:ext uri="{FF2B5EF4-FFF2-40B4-BE49-F238E27FC236}">
                <a16:creationId xmlns:a16="http://schemas.microsoft.com/office/drawing/2014/main" id="{1EFD77E7-71C5-5D81-6CB5-5747C541A3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84599" y="2292587"/>
            <a:ext cx="486168" cy="450613"/>
          </a:xfrm>
          <a:prstGeom prst="rect">
            <a:avLst/>
          </a:prstGeom>
        </p:spPr>
      </p:pic>
      <p:sp>
        <p:nvSpPr>
          <p:cNvPr id="23" name="Shape 3">
            <a:extLst>
              <a:ext uri="{FF2B5EF4-FFF2-40B4-BE49-F238E27FC236}">
                <a16:creationId xmlns:a16="http://schemas.microsoft.com/office/drawing/2014/main" id="{337256C8-D916-9C7D-4BF5-03DB1F33703C}"/>
              </a:ext>
            </a:extLst>
          </p:cNvPr>
          <p:cNvSpPr>
            <a:spLocks/>
          </p:cNvSpPr>
          <p:nvPr/>
        </p:nvSpPr>
        <p:spPr>
          <a:xfrm>
            <a:off x="6309131" y="4251131"/>
            <a:ext cx="5120640" cy="561668"/>
          </a:xfrm>
          <a:prstGeom prst="roundRect">
            <a:avLst>
              <a:gd name="adj" fmla="val 0"/>
            </a:avLst>
          </a:prstGeom>
          <a:solidFill>
            <a:srgbClr val="E8967A"/>
          </a:solidFill>
          <a:ln/>
        </p:spPr>
        <p:txBody>
          <a:bodyPr/>
          <a:lstStyle/>
          <a:p>
            <a:endParaRPr lang="en-US" dirty="0"/>
          </a:p>
        </p:txBody>
      </p:sp>
      <p:sp>
        <p:nvSpPr>
          <p:cNvPr id="14" name="TextBox 13"/>
          <p:cNvSpPr txBox="1"/>
          <p:nvPr/>
        </p:nvSpPr>
        <p:spPr>
          <a:xfrm>
            <a:off x="6278727" y="4331910"/>
            <a:ext cx="5181448" cy="400110"/>
          </a:xfrm>
          <a:prstGeom prst="rect">
            <a:avLst/>
          </a:prstGeom>
          <a:noFill/>
        </p:spPr>
        <p:txBody>
          <a:bodyPr wrap="square">
            <a:spAutoFit/>
          </a:bodyPr>
          <a:lstStyle/>
          <a:p>
            <a:pPr algn="l"/>
            <a:r>
              <a:rPr sz="2000" b="1" dirty="0">
                <a:solidFill>
                  <a:srgbClr val="F5E6D3"/>
                </a:solidFill>
                <a:latin typeface="Calibri"/>
              </a:rPr>
              <a:t>MASSACHUSETTS —</a:t>
            </a:r>
            <a:r>
              <a:rPr lang="en-US" sz="2000" b="1" dirty="0">
                <a:solidFill>
                  <a:srgbClr val="F5E6D3"/>
                </a:solidFill>
                <a:latin typeface="Calibri"/>
              </a:rPr>
              <a:t> </a:t>
            </a:r>
            <a:r>
              <a:rPr sz="2000" b="1" dirty="0">
                <a:solidFill>
                  <a:srgbClr val="F5E6D3"/>
                </a:solidFill>
                <a:latin typeface="Calibri"/>
              </a:rPr>
              <a:t>Emission Caps</a:t>
            </a:r>
          </a:p>
        </p:txBody>
      </p:sp>
      <p:pic>
        <p:nvPicPr>
          <p:cNvPr id="28" name="Image 3" descr="preencoded.png">
            <a:extLst>
              <a:ext uri="{FF2B5EF4-FFF2-40B4-BE49-F238E27FC236}">
                <a16:creationId xmlns:a16="http://schemas.microsoft.com/office/drawing/2014/main" id="{57E0FB31-56DE-6C83-64E1-7C4FF63DCA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90134" y="4283354"/>
            <a:ext cx="475098" cy="507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 fill="hold"/>
                                        <p:tgtEl>
                                          <p:spTgt spid="17"/>
                                        </p:tgtEl>
                                        <p:attrNameLst>
                                          <p:attrName>ppt_x</p:attrName>
                                        </p:attrNameLst>
                                      </p:cBhvr>
                                      <p:tavLst>
                                        <p:tav tm="0">
                                          <p:val>
                                            <p:strVal val="0-#ppt_w/2"/>
                                          </p:val>
                                        </p:tav>
                                        <p:tav tm="100000">
                                          <p:val>
                                            <p:strVal val="#ppt_x"/>
                                          </p:val>
                                        </p:tav>
                                      </p:tavLst>
                                    </p:anim>
                                    <p:anim calcmode="lin" valueType="num">
                                      <p:cBhvr additive="base">
                                        <p:cTn id="12" dur="3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300" fill="hold"/>
                                        <p:tgtEl>
                                          <p:spTgt spid="20"/>
                                        </p:tgtEl>
                                        <p:attrNameLst>
                                          <p:attrName>ppt_x</p:attrName>
                                        </p:attrNameLst>
                                      </p:cBhvr>
                                      <p:tavLst>
                                        <p:tav tm="0">
                                          <p:val>
                                            <p:strVal val="0-#ppt_w/2"/>
                                          </p:val>
                                        </p:tav>
                                        <p:tav tm="100000">
                                          <p:val>
                                            <p:strVal val="#ppt_x"/>
                                          </p:val>
                                        </p:tav>
                                      </p:tavLst>
                                    </p:anim>
                                    <p:anim calcmode="lin" valueType="num">
                                      <p:cBhvr additive="base">
                                        <p:cTn id="16" dur="300" fill="hold"/>
                                        <p:tgtEl>
                                          <p:spTgt spid="2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300" fill="hold"/>
                                        <p:tgtEl>
                                          <p:spTgt spid="5"/>
                                        </p:tgtEl>
                                        <p:attrNameLst>
                                          <p:attrName>ppt_x</p:attrName>
                                        </p:attrNameLst>
                                      </p:cBhvr>
                                      <p:tavLst>
                                        <p:tav tm="0">
                                          <p:val>
                                            <p:strVal val="0-#ppt_w/2"/>
                                          </p:val>
                                        </p:tav>
                                        <p:tav tm="100000">
                                          <p:val>
                                            <p:strVal val="#ppt_x"/>
                                          </p:val>
                                        </p:tav>
                                      </p:tavLst>
                                    </p:anim>
                                    <p:anim calcmode="lin" valueType="num">
                                      <p:cBhvr additive="base">
                                        <p:cTn id="20" dur="3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300" fill="hold"/>
                                        <p:tgtEl>
                                          <p:spTgt spid="6"/>
                                        </p:tgtEl>
                                        <p:attrNameLst>
                                          <p:attrName>ppt_x</p:attrName>
                                        </p:attrNameLst>
                                      </p:cBhvr>
                                      <p:tavLst>
                                        <p:tav tm="0">
                                          <p:val>
                                            <p:strVal val="0-#ppt_w/2"/>
                                          </p:val>
                                        </p:tav>
                                        <p:tav tm="100000">
                                          <p:val>
                                            <p:strVal val="#ppt_x"/>
                                          </p:val>
                                        </p:tav>
                                      </p:tavLst>
                                    </p:anim>
                                    <p:anim calcmode="lin" valueType="num">
                                      <p:cBhvr additive="base">
                                        <p:cTn id="24" dur="3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300" fill="hold"/>
                                        <p:tgtEl>
                                          <p:spTgt spid="4"/>
                                        </p:tgtEl>
                                        <p:attrNameLst>
                                          <p:attrName>ppt_x</p:attrName>
                                        </p:attrNameLst>
                                      </p:cBhvr>
                                      <p:tavLst>
                                        <p:tav tm="0">
                                          <p:val>
                                            <p:strVal val="0-#ppt_w/2"/>
                                          </p:val>
                                        </p:tav>
                                        <p:tav tm="100000">
                                          <p:val>
                                            <p:strVal val="#ppt_x"/>
                                          </p:val>
                                        </p:tav>
                                      </p:tavLst>
                                    </p:anim>
                                    <p:anim calcmode="lin" valueType="num">
                                      <p:cBhvr additive="base">
                                        <p:cTn id="28" dur="3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300" fill="hold"/>
                                        <p:tgtEl>
                                          <p:spTgt spid="22"/>
                                        </p:tgtEl>
                                        <p:attrNameLst>
                                          <p:attrName>ppt_x</p:attrName>
                                        </p:attrNameLst>
                                      </p:cBhvr>
                                      <p:tavLst>
                                        <p:tav tm="0">
                                          <p:val>
                                            <p:strVal val="1+#ppt_w/2"/>
                                          </p:val>
                                        </p:tav>
                                        <p:tav tm="100000">
                                          <p:val>
                                            <p:strVal val="#ppt_x"/>
                                          </p:val>
                                        </p:tav>
                                      </p:tavLst>
                                    </p:anim>
                                    <p:anim calcmode="lin" valueType="num">
                                      <p:cBhvr additive="base">
                                        <p:cTn id="34" dur="300" fill="hold"/>
                                        <p:tgtEl>
                                          <p:spTgt spid="2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300" fill="hold"/>
                                        <p:tgtEl>
                                          <p:spTgt spid="8"/>
                                        </p:tgtEl>
                                        <p:attrNameLst>
                                          <p:attrName>ppt_x</p:attrName>
                                        </p:attrNameLst>
                                      </p:cBhvr>
                                      <p:tavLst>
                                        <p:tav tm="0">
                                          <p:val>
                                            <p:strVal val="1+#ppt_w/2"/>
                                          </p:val>
                                        </p:tav>
                                        <p:tav tm="100000">
                                          <p:val>
                                            <p:strVal val="#ppt_x"/>
                                          </p:val>
                                        </p:tav>
                                      </p:tavLst>
                                    </p:anim>
                                    <p:anim calcmode="lin" valueType="num">
                                      <p:cBhvr additive="base">
                                        <p:cTn id="38" dur="300" fill="hold"/>
                                        <p:tgtEl>
                                          <p:spTgt spid="8"/>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300" fill="hold"/>
                                        <p:tgtEl>
                                          <p:spTgt spid="21"/>
                                        </p:tgtEl>
                                        <p:attrNameLst>
                                          <p:attrName>ppt_x</p:attrName>
                                        </p:attrNameLst>
                                      </p:cBhvr>
                                      <p:tavLst>
                                        <p:tav tm="0">
                                          <p:val>
                                            <p:strVal val="1+#ppt_w/2"/>
                                          </p:val>
                                        </p:tav>
                                        <p:tav tm="100000">
                                          <p:val>
                                            <p:strVal val="#ppt_x"/>
                                          </p:val>
                                        </p:tav>
                                      </p:tavLst>
                                    </p:anim>
                                    <p:anim calcmode="lin" valueType="num">
                                      <p:cBhvr additive="base">
                                        <p:cTn id="42" dur="300" fill="hold"/>
                                        <p:tgtEl>
                                          <p:spTgt spid="2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300" fill="hold"/>
                                        <p:tgtEl>
                                          <p:spTgt spid="9"/>
                                        </p:tgtEl>
                                        <p:attrNameLst>
                                          <p:attrName>ppt_x</p:attrName>
                                        </p:attrNameLst>
                                      </p:cBhvr>
                                      <p:tavLst>
                                        <p:tav tm="0">
                                          <p:val>
                                            <p:strVal val="1+#ppt_w/2"/>
                                          </p:val>
                                        </p:tav>
                                        <p:tav tm="100000">
                                          <p:val>
                                            <p:strVal val="#ppt_x"/>
                                          </p:val>
                                        </p:tav>
                                      </p:tavLst>
                                    </p:anim>
                                    <p:anim calcmode="lin" valueType="num">
                                      <p:cBhvr additive="base">
                                        <p:cTn id="46" dur="300" fill="hold"/>
                                        <p:tgtEl>
                                          <p:spTgt spid="9"/>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300" fill="hold"/>
                                        <p:tgtEl>
                                          <p:spTgt spid="7"/>
                                        </p:tgtEl>
                                        <p:attrNameLst>
                                          <p:attrName>ppt_x</p:attrName>
                                        </p:attrNameLst>
                                      </p:cBhvr>
                                      <p:tavLst>
                                        <p:tav tm="0">
                                          <p:val>
                                            <p:strVal val="1+#ppt_w/2"/>
                                          </p:val>
                                        </p:tav>
                                        <p:tav tm="100000">
                                          <p:val>
                                            <p:strVal val="#ppt_x"/>
                                          </p:val>
                                        </p:tav>
                                      </p:tavLst>
                                    </p:anim>
                                    <p:anim calcmode="lin" valueType="num">
                                      <p:cBhvr additive="base">
                                        <p:cTn id="50" dur="3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300" fill="hold"/>
                                        <p:tgtEl>
                                          <p:spTgt spid="19"/>
                                        </p:tgtEl>
                                        <p:attrNameLst>
                                          <p:attrName>ppt_x</p:attrName>
                                        </p:attrNameLst>
                                      </p:cBhvr>
                                      <p:tavLst>
                                        <p:tav tm="0">
                                          <p:val>
                                            <p:strVal val="0-#ppt_w/2"/>
                                          </p:val>
                                        </p:tav>
                                        <p:tav tm="100000">
                                          <p:val>
                                            <p:strVal val="#ppt_x"/>
                                          </p:val>
                                        </p:tav>
                                      </p:tavLst>
                                    </p:anim>
                                    <p:anim calcmode="lin" valueType="num">
                                      <p:cBhvr additive="base">
                                        <p:cTn id="56" dur="300" fill="hold"/>
                                        <p:tgtEl>
                                          <p:spTgt spid="19"/>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 calcmode="lin" valueType="num">
                                      <p:cBhvr additive="base">
                                        <p:cTn id="59" dur="300" fill="hold"/>
                                        <p:tgtEl>
                                          <p:spTgt spid="11"/>
                                        </p:tgtEl>
                                        <p:attrNameLst>
                                          <p:attrName>ppt_x</p:attrName>
                                        </p:attrNameLst>
                                      </p:cBhvr>
                                      <p:tavLst>
                                        <p:tav tm="0">
                                          <p:val>
                                            <p:strVal val="0-#ppt_w/2"/>
                                          </p:val>
                                        </p:tav>
                                        <p:tav tm="100000">
                                          <p:val>
                                            <p:strVal val="#ppt_x"/>
                                          </p:val>
                                        </p:tav>
                                      </p:tavLst>
                                    </p:anim>
                                    <p:anim calcmode="lin" valueType="num">
                                      <p:cBhvr additive="base">
                                        <p:cTn id="60" dur="300" fill="hold"/>
                                        <p:tgtEl>
                                          <p:spTgt spid="11"/>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300" fill="hold"/>
                                        <p:tgtEl>
                                          <p:spTgt spid="18"/>
                                        </p:tgtEl>
                                        <p:attrNameLst>
                                          <p:attrName>ppt_x</p:attrName>
                                        </p:attrNameLst>
                                      </p:cBhvr>
                                      <p:tavLst>
                                        <p:tav tm="0">
                                          <p:val>
                                            <p:strVal val="0-#ppt_w/2"/>
                                          </p:val>
                                        </p:tav>
                                        <p:tav tm="100000">
                                          <p:val>
                                            <p:strVal val="#ppt_x"/>
                                          </p:val>
                                        </p:tav>
                                      </p:tavLst>
                                    </p:anim>
                                    <p:anim calcmode="lin" valueType="num">
                                      <p:cBhvr additive="base">
                                        <p:cTn id="64" dur="300" fill="hold"/>
                                        <p:tgtEl>
                                          <p:spTgt spid="18"/>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 calcmode="lin" valueType="num">
                                      <p:cBhvr additive="base">
                                        <p:cTn id="67" dur="300" fill="hold"/>
                                        <p:tgtEl>
                                          <p:spTgt spid="10"/>
                                        </p:tgtEl>
                                        <p:attrNameLst>
                                          <p:attrName>ppt_x</p:attrName>
                                        </p:attrNameLst>
                                      </p:cBhvr>
                                      <p:tavLst>
                                        <p:tav tm="0">
                                          <p:val>
                                            <p:strVal val="0-#ppt_w/2"/>
                                          </p:val>
                                        </p:tav>
                                        <p:tav tm="100000">
                                          <p:val>
                                            <p:strVal val="#ppt_x"/>
                                          </p:val>
                                        </p:tav>
                                      </p:tavLst>
                                    </p:anim>
                                    <p:anim calcmode="lin" valueType="num">
                                      <p:cBhvr additive="base">
                                        <p:cTn id="68" dur="300" fill="hold"/>
                                        <p:tgtEl>
                                          <p:spTgt spid="10"/>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300" fill="hold"/>
                                        <p:tgtEl>
                                          <p:spTgt spid="12"/>
                                        </p:tgtEl>
                                        <p:attrNameLst>
                                          <p:attrName>ppt_x</p:attrName>
                                        </p:attrNameLst>
                                      </p:cBhvr>
                                      <p:tavLst>
                                        <p:tav tm="0">
                                          <p:val>
                                            <p:strVal val="0-#ppt_w/2"/>
                                          </p:val>
                                        </p:tav>
                                        <p:tav tm="100000">
                                          <p:val>
                                            <p:strVal val="#ppt_x"/>
                                          </p:val>
                                        </p:tav>
                                      </p:tavLst>
                                    </p:anim>
                                    <p:anim calcmode="lin" valueType="num">
                                      <p:cBhvr additive="base">
                                        <p:cTn id="72" dur="3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additive="base">
                                        <p:cTn id="77" dur="300" fill="hold"/>
                                        <p:tgtEl>
                                          <p:spTgt spid="28"/>
                                        </p:tgtEl>
                                        <p:attrNameLst>
                                          <p:attrName>ppt_x</p:attrName>
                                        </p:attrNameLst>
                                      </p:cBhvr>
                                      <p:tavLst>
                                        <p:tav tm="0">
                                          <p:val>
                                            <p:strVal val="1+#ppt_w/2"/>
                                          </p:val>
                                        </p:tav>
                                        <p:tav tm="100000">
                                          <p:val>
                                            <p:strVal val="#ppt_x"/>
                                          </p:val>
                                        </p:tav>
                                      </p:tavLst>
                                    </p:anim>
                                    <p:anim calcmode="lin" valueType="num">
                                      <p:cBhvr additive="base">
                                        <p:cTn id="78" dur="300" fill="hold"/>
                                        <p:tgtEl>
                                          <p:spTgt spid="28"/>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300" fill="hold"/>
                                        <p:tgtEl>
                                          <p:spTgt spid="23"/>
                                        </p:tgtEl>
                                        <p:attrNameLst>
                                          <p:attrName>ppt_x</p:attrName>
                                        </p:attrNameLst>
                                      </p:cBhvr>
                                      <p:tavLst>
                                        <p:tav tm="0">
                                          <p:val>
                                            <p:strVal val="1+#ppt_w/2"/>
                                          </p:val>
                                        </p:tav>
                                        <p:tav tm="100000">
                                          <p:val>
                                            <p:strVal val="#ppt_x"/>
                                          </p:val>
                                        </p:tav>
                                      </p:tavLst>
                                    </p:anim>
                                    <p:anim calcmode="lin" valueType="num">
                                      <p:cBhvr additive="base">
                                        <p:cTn id="82" dur="300" fill="hold"/>
                                        <p:tgtEl>
                                          <p:spTgt spid="23"/>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14"/>
                                        </p:tgtEl>
                                        <p:attrNameLst>
                                          <p:attrName>style.visibility</p:attrName>
                                        </p:attrNameLst>
                                      </p:cBhvr>
                                      <p:to>
                                        <p:strVal val="visible"/>
                                      </p:to>
                                    </p:set>
                                    <p:anim calcmode="lin" valueType="num">
                                      <p:cBhvr additive="base">
                                        <p:cTn id="85" dur="300" fill="hold"/>
                                        <p:tgtEl>
                                          <p:spTgt spid="14"/>
                                        </p:tgtEl>
                                        <p:attrNameLst>
                                          <p:attrName>ppt_x</p:attrName>
                                        </p:attrNameLst>
                                      </p:cBhvr>
                                      <p:tavLst>
                                        <p:tav tm="0">
                                          <p:val>
                                            <p:strVal val="1+#ppt_w/2"/>
                                          </p:val>
                                        </p:tav>
                                        <p:tav tm="100000">
                                          <p:val>
                                            <p:strVal val="#ppt_x"/>
                                          </p:val>
                                        </p:tav>
                                      </p:tavLst>
                                    </p:anim>
                                    <p:anim calcmode="lin" valueType="num">
                                      <p:cBhvr additive="base">
                                        <p:cTn id="86" dur="300" fill="hold"/>
                                        <p:tgtEl>
                                          <p:spTgt spid="14"/>
                                        </p:tgtEl>
                                        <p:attrNameLst>
                                          <p:attrName>ppt_y</p:attrName>
                                        </p:attrNameLst>
                                      </p:cBhvr>
                                      <p:tavLst>
                                        <p:tav tm="0">
                                          <p:val>
                                            <p:strVal val="#ppt_y"/>
                                          </p:val>
                                        </p:tav>
                                        <p:tav tm="100000">
                                          <p:val>
                                            <p:strVal val="#ppt_y"/>
                                          </p:val>
                                        </p:tav>
                                      </p:tavLst>
                                    </p:anim>
                                  </p:childTnLst>
                                </p:cTn>
                              </p:par>
                              <p:par>
                                <p:cTn id="87" presetID="2" presetClass="entr" presetSubtype="2"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additive="base">
                                        <p:cTn id="89" dur="300" fill="hold"/>
                                        <p:tgtEl>
                                          <p:spTgt spid="15"/>
                                        </p:tgtEl>
                                        <p:attrNameLst>
                                          <p:attrName>ppt_x</p:attrName>
                                        </p:attrNameLst>
                                      </p:cBhvr>
                                      <p:tavLst>
                                        <p:tav tm="0">
                                          <p:val>
                                            <p:strVal val="1+#ppt_w/2"/>
                                          </p:val>
                                        </p:tav>
                                        <p:tav tm="100000">
                                          <p:val>
                                            <p:strVal val="#ppt_x"/>
                                          </p:val>
                                        </p:tav>
                                      </p:tavLst>
                                    </p:anim>
                                    <p:anim calcmode="lin" valueType="num">
                                      <p:cBhvr additive="base">
                                        <p:cTn id="90" dur="300" fill="hold"/>
                                        <p:tgtEl>
                                          <p:spTgt spid="15"/>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 calcmode="lin" valueType="num">
                                      <p:cBhvr additive="base">
                                        <p:cTn id="93" dur="300" fill="hold"/>
                                        <p:tgtEl>
                                          <p:spTgt spid="13"/>
                                        </p:tgtEl>
                                        <p:attrNameLst>
                                          <p:attrName>ppt_x</p:attrName>
                                        </p:attrNameLst>
                                      </p:cBhvr>
                                      <p:tavLst>
                                        <p:tav tm="0">
                                          <p:val>
                                            <p:strVal val="1+#ppt_w/2"/>
                                          </p:val>
                                        </p:tav>
                                        <p:tav tm="100000">
                                          <p:val>
                                            <p:strVal val="#ppt_x"/>
                                          </p:val>
                                        </p:tav>
                                      </p:tavLst>
                                    </p:anim>
                                    <p:anim calcmode="lin" valueType="num">
                                      <p:cBhvr additive="base">
                                        <p:cTn id="94" dur="3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p:bldP spid="7" grpId="0" animBg="1"/>
      <p:bldP spid="9" grpId="0"/>
      <p:bldP spid="10" grpId="0" animBg="1"/>
      <p:bldP spid="12" grpId="0"/>
      <p:bldP spid="13" grpId="0" animBg="1"/>
      <p:bldP spid="17" grpId="0" animBg="1"/>
      <p:bldP spid="18" grpId="0" animBg="1"/>
      <p:bldP spid="15" grpId="0"/>
      <p:bldP spid="5" grpId="0"/>
      <p:bldP spid="11" grpId="0"/>
      <p:bldP spid="21" grpId="0" animBg="1"/>
      <p:bldP spid="8" grpId="0"/>
      <p:bldP spid="23" grpId="0" animBg="1"/>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881360"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Reform Option 1: Corrective Action</a:t>
            </a:r>
            <a:r>
              <a:rPr lang="en-US" sz="3400" b="1" dirty="0">
                <a:solidFill>
                  <a:srgbClr val="E8967A"/>
                </a:solidFill>
                <a:latin typeface="Quattrocento" panose="02020502030000000404" pitchFamily="18" charset="0"/>
              </a:rPr>
              <a:t> </a:t>
            </a:r>
            <a:r>
              <a:rPr sz="3400" b="1" dirty="0">
                <a:solidFill>
                  <a:srgbClr val="E8967A"/>
                </a:solidFill>
                <a:latin typeface="Quattrocento" panose="02020502030000000404" pitchFamily="18" charset="0"/>
              </a:rPr>
              <a:t>Moratorium</a:t>
            </a:r>
          </a:p>
        </p:txBody>
      </p:sp>
      <p:sp>
        <p:nvSpPr>
          <p:cNvPr id="3" name="TextBox 2"/>
          <p:cNvSpPr txBox="1"/>
          <p:nvPr/>
        </p:nvSpPr>
        <p:spPr>
          <a:xfrm>
            <a:off x="731518" y="935593"/>
            <a:ext cx="10786869" cy="954107"/>
          </a:xfrm>
          <a:prstGeom prst="rect">
            <a:avLst/>
          </a:prstGeom>
          <a:noFill/>
        </p:spPr>
        <p:txBody>
          <a:bodyPr wrap="square">
            <a:spAutoFit/>
          </a:bodyPr>
          <a:lstStyle/>
          <a:p>
            <a:pPr algn="l"/>
            <a:r>
              <a:rPr lang="en-US" sz="2000" b="1" dirty="0">
                <a:solidFill>
                  <a:srgbClr val="E3B99E"/>
                </a:solidFill>
                <a:latin typeface="Quattrocento" panose="02020502030000000404" pitchFamily="18" charset="0"/>
              </a:rPr>
              <a:t>Modeled on: Colorado's GHG Budget Lock</a:t>
            </a:r>
          </a:p>
          <a:p>
            <a:pPr algn="l"/>
            <a:r>
              <a:rPr lang="en-US" b="1" dirty="0">
                <a:solidFill>
                  <a:srgbClr val="E3B99E"/>
                </a:solidFill>
                <a:latin typeface="Quattrocento" panose="02020502030000000404" pitchFamily="18" charset="0"/>
              </a:rPr>
              <a:t>Political viability: MODERATE: most feasible near-term option; consequence is VMT pause, not  permanent cut</a:t>
            </a:r>
            <a:endParaRPr b="1" dirty="0">
              <a:solidFill>
                <a:srgbClr val="E3B99E"/>
              </a:solidFill>
              <a:latin typeface="Quattrocento" panose="02020502030000000404" pitchFamily="18" charset="0"/>
            </a:endParaRP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8</a:t>
            </a:r>
          </a:p>
        </p:txBody>
      </p:sp>
      <p:sp>
        <p:nvSpPr>
          <p:cNvPr id="10" name="Shape 2">
            <a:extLst>
              <a:ext uri="{FF2B5EF4-FFF2-40B4-BE49-F238E27FC236}">
                <a16:creationId xmlns:a16="http://schemas.microsoft.com/office/drawing/2014/main" id="{867C17D5-7CAC-F4D8-1B83-49078A4BDCC8}"/>
              </a:ext>
            </a:extLst>
          </p:cNvPr>
          <p:cNvSpPr/>
          <p:nvPr/>
        </p:nvSpPr>
        <p:spPr>
          <a:xfrm>
            <a:off x="472592" y="1959879"/>
            <a:ext cx="3618769" cy="3534473"/>
          </a:xfrm>
          <a:prstGeom prst="roundRect">
            <a:avLst/>
          </a:prstGeom>
          <a:solidFill>
            <a:srgbClr val="315251"/>
          </a:solidFill>
          <a:ln/>
        </p:spPr>
        <p:txBody>
          <a:bodyPr/>
          <a:lstStyle/>
          <a:p>
            <a:endParaRPr lang="en-US" dirty="0"/>
          </a:p>
        </p:txBody>
      </p:sp>
      <p:sp>
        <p:nvSpPr>
          <p:cNvPr id="11" name="Shape 3">
            <a:extLst>
              <a:ext uri="{FF2B5EF4-FFF2-40B4-BE49-F238E27FC236}">
                <a16:creationId xmlns:a16="http://schemas.microsoft.com/office/drawing/2014/main" id="{BF5C8D59-CB0F-F5C0-7DB6-F4A58D61BA06}"/>
              </a:ext>
            </a:extLst>
          </p:cNvPr>
          <p:cNvSpPr/>
          <p:nvPr/>
        </p:nvSpPr>
        <p:spPr>
          <a:xfrm>
            <a:off x="673611" y="2182529"/>
            <a:ext cx="603265" cy="606472"/>
          </a:xfrm>
          <a:prstGeom prst="roundRect">
            <a:avLst>
              <a:gd name="adj" fmla="val 13108968"/>
            </a:avLst>
          </a:prstGeom>
          <a:solidFill>
            <a:srgbClr val="EF9C82"/>
          </a:solidFill>
          <a:ln/>
        </p:spPr>
        <p:txBody>
          <a:bodyPr/>
          <a:lstStyle/>
          <a:p>
            <a:endParaRPr lang="en-US" dirty="0"/>
          </a:p>
        </p:txBody>
      </p:sp>
      <p:pic>
        <p:nvPicPr>
          <p:cNvPr id="12" name="Image 0" descr="preencoded.png">
            <a:extLst>
              <a:ext uri="{FF2B5EF4-FFF2-40B4-BE49-F238E27FC236}">
                <a16:creationId xmlns:a16="http://schemas.microsoft.com/office/drawing/2014/main" id="{D77C0F56-618E-B20C-461C-3C93933375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9515" y="2328648"/>
            <a:ext cx="271459" cy="272902"/>
          </a:xfrm>
          <a:prstGeom prst="rect">
            <a:avLst/>
          </a:prstGeom>
        </p:spPr>
      </p:pic>
      <p:sp>
        <p:nvSpPr>
          <p:cNvPr id="13" name="Text 4">
            <a:extLst>
              <a:ext uri="{FF2B5EF4-FFF2-40B4-BE49-F238E27FC236}">
                <a16:creationId xmlns:a16="http://schemas.microsoft.com/office/drawing/2014/main" id="{E199C51B-268D-9493-4152-0B37C734458D}"/>
              </a:ext>
            </a:extLst>
          </p:cNvPr>
          <p:cNvSpPr/>
          <p:nvPr/>
        </p:nvSpPr>
        <p:spPr>
          <a:xfrm>
            <a:off x="673612" y="2872743"/>
            <a:ext cx="2563313" cy="297231"/>
          </a:xfrm>
          <a:prstGeom prst="rect">
            <a:avLst/>
          </a:prstGeom>
          <a:noFill/>
          <a:ln/>
        </p:spPr>
        <p:txBody>
          <a:bodyPr wrap="none" lIns="0" tIns="0" rIns="0" bIns="0" rtlCol="0" anchor="t"/>
          <a:lstStyle/>
          <a:p>
            <a:pPr marL="0" indent="0" algn="l">
              <a:lnSpc>
                <a:spcPts val="2650"/>
              </a:lnSpc>
              <a:buNone/>
            </a:pPr>
            <a:r>
              <a:rPr lang="en-US" sz="2100" b="1" dirty="0">
                <a:solidFill>
                  <a:srgbClr val="F9EEE7"/>
                </a:solidFill>
                <a:latin typeface="Quattrocento" panose="02020502030000000404" pitchFamily="18" charset="0"/>
                <a:ea typeface="Quattrocento" pitchFamily="34" charset="-122"/>
                <a:cs typeface="Calibri" panose="020F0502020204030204" pitchFamily="34" charset="0"/>
              </a:rPr>
              <a:t>Corrective Action Status</a:t>
            </a:r>
            <a:endParaRPr lang="en-US" sz="2100" b="1" dirty="0">
              <a:latin typeface="Quattrocento" panose="02020502030000000404" pitchFamily="18" charset="0"/>
              <a:cs typeface="Calibri" panose="020F0502020204030204" pitchFamily="34" charset="0"/>
            </a:endParaRPr>
          </a:p>
        </p:txBody>
      </p:sp>
      <p:sp>
        <p:nvSpPr>
          <p:cNvPr id="14" name="Text 5">
            <a:extLst>
              <a:ext uri="{FF2B5EF4-FFF2-40B4-BE49-F238E27FC236}">
                <a16:creationId xmlns:a16="http://schemas.microsoft.com/office/drawing/2014/main" id="{D7FC4DEC-D25A-7DB4-4E3B-2F33D6237668}"/>
              </a:ext>
            </a:extLst>
          </p:cNvPr>
          <p:cNvSpPr/>
          <p:nvPr/>
        </p:nvSpPr>
        <p:spPr>
          <a:xfrm>
            <a:off x="673612" y="3379673"/>
            <a:ext cx="3216730" cy="1275061"/>
          </a:xfrm>
          <a:prstGeom prst="rect">
            <a:avLst/>
          </a:prstGeom>
          <a:noFill/>
          <a:ln/>
        </p:spPr>
        <p:txBody>
          <a:bodyPr wrap="square" lIns="0" tIns="0" rIns="0" bIns="0" rtlCol="0" anchor="t"/>
          <a:lstStyle/>
          <a:p>
            <a:pPr marL="0" indent="0" algn="l">
              <a:lnSpc>
                <a:spcPct val="150000"/>
              </a:lnSpc>
              <a:buNone/>
            </a:pPr>
            <a:r>
              <a:rPr lang="en-US" sz="1600" dirty="0">
                <a:solidFill>
                  <a:srgbClr val="F9EEE7"/>
                </a:solidFill>
                <a:latin typeface="Calibri" panose="020F0502020204030204" pitchFamily="34" charset="0"/>
                <a:ea typeface="Quattrocento" pitchFamily="34" charset="-122"/>
                <a:cs typeface="Calibri" panose="020F0502020204030204" pitchFamily="34" charset="0"/>
              </a:rPr>
              <a:t>If a region fails to meet its GHG targets for two consecutive cycles, it shall enter Corrective Action Status.</a:t>
            </a:r>
            <a:endParaRPr lang="en-US" sz="1600" dirty="0">
              <a:latin typeface="Calibri" panose="020F0502020204030204" pitchFamily="34" charset="0"/>
              <a:cs typeface="Calibri" panose="020F0502020204030204" pitchFamily="34" charset="0"/>
            </a:endParaRPr>
          </a:p>
        </p:txBody>
      </p:sp>
      <p:sp>
        <p:nvSpPr>
          <p:cNvPr id="15" name="Shape 6">
            <a:extLst>
              <a:ext uri="{FF2B5EF4-FFF2-40B4-BE49-F238E27FC236}">
                <a16:creationId xmlns:a16="http://schemas.microsoft.com/office/drawing/2014/main" id="{B3AC952C-59BF-9F83-50D8-AE1F6C1E47EE}"/>
              </a:ext>
            </a:extLst>
          </p:cNvPr>
          <p:cNvSpPr/>
          <p:nvPr/>
        </p:nvSpPr>
        <p:spPr>
          <a:xfrm>
            <a:off x="4257265" y="1959879"/>
            <a:ext cx="3677469" cy="3534473"/>
          </a:xfrm>
          <a:prstGeom prst="roundRect">
            <a:avLst/>
          </a:prstGeom>
          <a:solidFill>
            <a:srgbClr val="315251"/>
          </a:solidFill>
          <a:ln/>
        </p:spPr>
        <p:txBody>
          <a:bodyPr/>
          <a:lstStyle/>
          <a:p>
            <a:endParaRPr lang="en-US" dirty="0"/>
          </a:p>
        </p:txBody>
      </p:sp>
      <p:sp>
        <p:nvSpPr>
          <p:cNvPr id="16" name="Shape 7">
            <a:extLst>
              <a:ext uri="{FF2B5EF4-FFF2-40B4-BE49-F238E27FC236}">
                <a16:creationId xmlns:a16="http://schemas.microsoft.com/office/drawing/2014/main" id="{4DD08C6F-7A3E-F51A-D876-D0301B6A9976}"/>
              </a:ext>
            </a:extLst>
          </p:cNvPr>
          <p:cNvSpPr/>
          <p:nvPr/>
        </p:nvSpPr>
        <p:spPr>
          <a:xfrm>
            <a:off x="4487635" y="2158233"/>
            <a:ext cx="603265" cy="606472"/>
          </a:xfrm>
          <a:prstGeom prst="roundRect">
            <a:avLst>
              <a:gd name="adj" fmla="val 13108968"/>
            </a:avLst>
          </a:prstGeom>
          <a:solidFill>
            <a:srgbClr val="EF9C82"/>
          </a:solidFill>
          <a:ln/>
        </p:spPr>
        <p:txBody>
          <a:bodyPr/>
          <a:lstStyle/>
          <a:p>
            <a:endParaRPr lang="en-US" dirty="0"/>
          </a:p>
        </p:txBody>
      </p:sp>
      <p:pic>
        <p:nvPicPr>
          <p:cNvPr id="17" name="Image 1" descr="preencoded.png">
            <a:extLst>
              <a:ext uri="{FF2B5EF4-FFF2-40B4-BE49-F238E27FC236}">
                <a16:creationId xmlns:a16="http://schemas.microsoft.com/office/drawing/2014/main" id="{575BE96E-C516-D1D3-1EB2-7777A42516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3538" y="2328648"/>
            <a:ext cx="271459" cy="272902"/>
          </a:xfrm>
          <a:prstGeom prst="rect">
            <a:avLst/>
          </a:prstGeom>
        </p:spPr>
      </p:pic>
      <p:sp>
        <p:nvSpPr>
          <p:cNvPr id="18" name="Text 8">
            <a:extLst>
              <a:ext uri="{FF2B5EF4-FFF2-40B4-BE49-F238E27FC236}">
                <a16:creationId xmlns:a16="http://schemas.microsoft.com/office/drawing/2014/main" id="{3A5B0229-B991-C798-B348-53747DF10232}"/>
              </a:ext>
            </a:extLst>
          </p:cNvPr>
          <p:cNvSpPr/>
          <p:nvPr/>
        </p:nvSpPr>
        <p:spPr>
          <a:xfrm>
            <a:off x="4487635" y="2834884"/>
            <a:ext cx="2365691" cy="297231"/>
          </a:xfrm>
          <a:prstGeom prst="rect">
            <a:avLst/>
          </a:prstGeom>
          <a:noFill/>
          <a:ln/>
        </p:spPr>
        <p:txBody>
          <a:bodyPr wrap="none" lIns="0" tIns="0" rIns="0" bIns="0" rtlCol="0" anchor="t"/>
          <a:lstStyle/>
          <a:p>
            <a:pPr marL="0" indent="0" algn="l">
              <a:lnSpc>
                <a:spcPts val="2650"/>
              </a:lnSpc>
              <a:buNone/>
            </a:pPr>
            <a:r>
              <a:rPr lang="en-US" sz="2100" b="1" dirty="0">
                <a:solidFill>
                  <a:srgbClr val="F9EEE7"/>
                </a:solidFill>
                <a:latin typeface="Quattrocento" panose="02020502030000000404" pitchFamily="18" charset="0"/>
                <a:ea typeface="Quattrocento" pitchFamily="34" charset="-122"/>
                <a:cs typeface="Calibri" panose="020F0502020204030204" pitchFamily="34" charset="0"/>
              </a:rPr>
              <a:t>Explicit Prohibition</a:t>
            </a:r>
            <a:endParaRPr lang="en-US" sz="2100" b="1" dirty="0">
              <a:latin typeface="Quattrocento" panose="02020502030000000404" pitchFamily="18" charset="0"/>
              <a:cs typeface="Calibri" panose="020F0502020204030204" pitchFamily="34" charset="0"/>
            </a:endParaRPr>
          </a:p>
        </p:txBody>
      </p:sp>
      <p:sp>
        <p:nvSpPr>
          <p:cNvPr id="19" name="Text 9">
            <a:extLst>
              <a:ext uri="{FF2B5EF4-FFF2-40B4-BE49-F238E27FC236}">
                <a16:creationId xmlns:a16="http://schemas.microsoft.com/office/drawing/2014/main" id="{FB8057BD-8E5F-4434-733C-AB1B9C0F7FFE}"/>
              </a:ext>
            </a:extLst>
          </p:cNvPr>
          <p:cNvSpPr/>
          <p:nvPr/>
        </p:nvSpPr>
        <p:spPr>
          <a:xfrm>
            <a:off x="4487635" y="3198560"/>
            <a:ext cx="3314355" cy="2284906"/>
          </a:xfrm>
          <a:prstGeom prst="rect">
            <a:avLst/>
          </a:prstGeom>
          <a:noFill/>
          <a:ln/>
        </p:spPr>
        <p:txBody>
          <a:bodyPr wrap="square" lIns="0" tIns="0" rIns="0" bIns="0" rtlCol="0" anchor="t"/>
          <a:lstStyle/>
          <a:p>
            <a:pPr marL="0" indent="0" algn="l">
              <a:lnSpc>
                <a:spcPct val="150000"/>
              </a:lnSpc>
              <a:buNone/>
            </a:pPr>
            <a:r>
              <a:rPr lang="en-US" sz="1600" dirty="0">
                <a:solidFill>
                  <a:srgbClr val="F9EEE7"/>
                </a:solidFill>
                <a:latin typeface="Quattrocento" panose="02020502030000000404" pitchFamily="18" charset="0"/>
                <a:ea typeface="Quattrocento" pitchFamily="34" charset="-122"/>
                <a:cs typeface="Calibri" panose="020F0502020204030204" pitchFamily="34" charset="0"/>
              </a:rPr>
              <a:t>During Corrective Action Status, no state or federal funds shall be programmed, allocated, or expended for any project that adds a new through lane to the state highway system or a local arterial.</a:t>
            </a:r>
            <a:endParaRPr lang="en-US" sz="1600" dirty="0">
              <a:latin typeface="Quattrocento" panose="02020502030000000404" pitchFamily="18" charset="0"/>
              <a:cs typeface="Calibri" panose="020F0502020204030204" pitchFamily="34" charset="0"/>
            </a:endParaRPr>
          </a:p>
        </p:txBody>
      </p:sp>
      <p:sp>
        <p:nvSpPr>
          <p:cNvPr id="20" name="Shape 10">
            <a:extLst>
              <a:ext uri="{FF2B5EF4-FFF2-40B4-BE49-F238E27FC236}">
                <a16:creationId xmlns:a16="http://schemas.microsoft.com/office/drawing/2014/main" id="{04F80F8B-C193-14AE-87B5-4CDC4A46E6DC}"/>
              </a:ext>
            </a:extLst>
          </p:cNvPr>
          <p:cNvSpPr/>
          <p:nvPr/>
        </p:nvSpPr>
        <p:spPr>
          <a:xfrm>
            <a:off x="8100638" y="1959879"/>
            <a:ext cx="3618769" cy="3534473"/>
          </a:xfrm>
          <a:prstGeom prst="roundRect">
            <a:avLst/>
          </a:prstGeom>
          <a:solidFill>
            <a:srgbClr val="315251"/>
          </a:solidFill>
          <a:ln/>
        </p:spPr>
        <p:txBody>
          <a:bodyPr/>
          <a:lstStyle/>
          <a:p>
            <a:endParaRPr lang="en-US" dirty="0"/>
          </a:p>
        </p:txBody>
      </p:sp>
      <p:sp>
        <p:nvSpPr>
          <p:cNvPr id="21" name="Shape 11">
            <a:extLst>
              <a:ext uri="{FF2B5EF4-FFF2-40B4-BE49-F238E27FC236}">
                <a16:creationId xmlns:a16="http://schemas.microsoft.com/office/drawing/2014/main" id="{E5968184-B65A-3C39-7373-59588EEFE438}"/>
              </a:ext>
            </a:extLst>
          </p:cNvPr>
          <p:cNvSpPr/>
          <p:nvPr/>
        </p:nvSpPr>
        <p:spPr>
          <a:xfrm>
            <a:off x="8301656" y="2161967"/>
            <a:ext cx="603265" cy="606472"/>
          </a:xfrm>
          <a:prstGeom prst="roundRect">
            <a:avLst>
              <a:gd name="adj" fmla="val 13108968"/>
            </a:avLst>
          </a:prstGeom>
          <a:solidFill>
            <a:srgbClr val="EF9C82"/>
          </a:solidFill>
          <a:ln/>
        </p:spPr>
        <p:txBody>
          <a:bodyPr/>
          <a:lstStyle/>
          <a:p>
            <a:endParaRPr lang="en-US" dirty="0"/>
          </a:p>
        </p:txBody>
      </p:sp>
      <p:pic>
        <p:nvPicPr>
          <p:cNvPr id="22" name="Image 2" descr="preencoded.png">
            <a:extLst>
              <a:ext uri="{FF2B5EF4-FFF2-40B4-BE49-F238E27FC236}">
                <a16:creationId xmlns:a16="http://schemas.microsoft.com/office/drawing/2014/main" id="{320D448E-5321-CFE3-4605-260F706D82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67558" y="2328648"/>
            <a:ext cx="271459" cy="272902"/>
          </a:xfrm>
          <a:prstGeom prst="rect">
            <a:avLst/>
          </a:prstGeom>
        </p:spPr>
      </p:pic>
      <p:sp>
        <p:nvSpPr>
          <p:cNvPr id="23" name="Text 12">
            <a:extLst>
              <a:ext uri="{FF2B5EF4-FFF2-40B4-BE49-F238E27FC236}">
                <a16:creationId xmlns:a16="http://schemas.microsoft.com/office/drawing/2014/main" id="{8FF1928B-07D7-EA30-5C2E-55282971507B}"/>
              </a:ext>
            </a:extLst>
          </p:cNvPr>
          <p:cNvSpPr/>
          <p:nvPr/>
        </p:nvSpPr>
        <p:spPr>
          <a:xfrm>
            <a:off x="8301657" y="2842035"/>
            <a:ext cx="2365691" cy="297231"/>
          </a:xfrm>
          <a:prstGeom prst="rect">
            <a:avLst/>
          </a:prstGeom>
          <a:noFill/>
          <a:ln/>
        </p:spPr>
        <p:txBody>
          <a:bodyPr wrap="none" lIns="0" tIns="0" rIns="0" bIns="0" rtlCol="0" anchor="t"/>
          <a:lstStyle/>
          <a:p>
            <a:pPr marL="0" indent="0" algn="l">
              <a:lnSpc>
                <a:spcPts val="2650"/>
              </a:lnSpc>
              <a:buNone/>
            </a:pPr>
            <a:r>
              <a:rPr lang="en-US" sz="2100" b="1" dirty="0">
                <a:solidFill>
                  <a:srgbClr val="F9EEE7"/>
                </a:solidFill>
                <a:latin typeface="Quattrocento" panose="02020502030000000404" pitchFamily="18" charset="0"/>
                <a:ea typeface="Quattrocento" pitchFamily="34" charset="-122"/>
                <a:cs typeface="Calibri" panose="020F0502020204030204" pitchFamily="34" charset="0"/>
              </a:rPr>
              <a:t>Restoration Trigger</a:t>
            </a:r>
            <a:endParaRPr lang="en-US" sz="2100" b="1" dirty="0">
              <a:latin typeface="Quattrocento" panose="02020502030000000404" pitchFamily="18" charset="0"/>
              <a:cs typeface="Calibri" panose="020F0502020204030204" pitchFamily="34" charset="0"/>
            </a:endParaRPr>
          </a:p>
        </p:txBody>
      </p:sp>
      <p:sp>
        <p:nvSpPr>
          <p:cNvPr id="24" name="Text 13">
            <a:extLst>
              <a:ext uri="{FF2B5EF4-FFF2-40B4-BE49-F238E27FC236}">
                <a16:creationId xmlns:a16="http://schemas.microsoft.com/office/drawing/2014/main" id="{84407D00-68C2-B485-79F1-87DAC2E17AFB}"/>
              </a:ext>
            </a:extLst>
          </p:cNvPr>
          <p:cNvSpPr/>
          <p:nvPr/>
        </p:nvSpPr>
        <p:spPr>
          <a:xfrm>
            <a:off x="8301657" y="3187673"/>
            <a:ext cx="3216730" cy="1912591"/>
          </a:xfrm>
          <a:prstGeom prst="rect">
            <a:avLst/>
          </a:prstGeom>
          <a:noFill/>
          <a:ln/>
        </p:spPr>
        <p:txBody>
          <a:bodyPr wrap="square" lIns="0" tIns="0" rIns="0" bIns="0" rtlCol="0" anchor="t"/>
          <a:lstStyle/>
          <a:p>
            <a:pPr marL="0" indent="0" algn="l">
              <a:lnSpc>
                <a:spcPct val="150000"/>
              </a:lnSpc>
              <a:buNone/>
            </a:pPr>
            <a:r>
              <a:rPr lang="en-US" sz="1600" dirty="0">
                <a:solidFill>
                  <a:srgbClr val="F9EEE7"/>
                </a:solidFill>
                <a:latin typeface="Quattrocento" panose="02020502030000000404" pitchFamily="18" charset="0"/>
                <a:ea typeface="Quattrocento" pitchFamily="34" charset="-122"/>
                <a:cs typeface="Calibri" panose="020F0502020204030204" pitchFamily="34" charset="0"/>
              </a:rPr>
              <a:t>Prohibition remains in effect until CARB certifies the MPO's Corrective Action Plan includes sufficient, binding commitments to restore the region's path to its 2035 and 2045 GHG targets.</a:t>
            </a:r>
            <a:endParaRPr lang="en-US" sz="1600" dirty="0">
              <a:latin typeface="Quattrocento" panose="02020502030000000404" pitchFamily="18" charset="0"/>
              <a:cs typeface="Calibri" panose="020F0502020204030204" pitchFamily="34" charset="0"/>
            </a:endParaRPr>
          </a:p>
        </p:txBody>
      </p:sp>
      <p:sp>
        <p:nvSpPr>
          <p:cNvPr id="25" name="Text 14">
            <a:extLst>
              <a:ext uri="{FF2B5EF4-FFF2-40B4-BE49-F238E27FC236}">
                <a16:creationId xmlns:a16="http://schemas.microsoft.com/office/drawing/2014/main" id="{CD34AAA2-8682-061A-030C-88BB868AFBC2}"/>
              </a:ext>
            </a:extLst>
          </p:cNvPr>
          <p:cNvSpPr/>
          <p:nvPr/>
        </p:nvSpPr>
        <p:spPr>
          <a:xfrm>
            <a:off x="472592" y="5816305"/>
            <a:ext cx="11528548" cy="733187"/>
          </a:xfrm>
          <a:prstGeom prst="rect">
            <a:avLst/>
          </a:prstGeom>
          <a:noFill/>
          <a:ln/>
        </p:spPr>
        <p:txBody>
          <a:bodyPr wrap="square" lIns="0" tIns="0" rIns="0" bIns="0" rtlCol="0" anchor="t"/>
          <a:lstStyle/>
          <a:p>
            <a:pPr marL="0" indent="0" algn="l">
              <a:lnSpc>
                <a:spcPts val="2850"/>
              </a:lnSpc>
              <a:buNone/>
            </a:pPr>
            <a:r>
              <a:rPr lang="en-US" sz="1800" b="1" dirty="0">
                <a:solidFill>
                  <a:srgbClr val="EF9C82"/>
                </a:solidFill>
                <a:latin typeface="Quattrocento" pitchFamily="34" charset="0"/>
                <a:ea typeface="Quattrocento" pitchFamily="34" charset="-122"/>
                <a:cs typeface="Quattrocento" pitchFamily="34" charset="-120"/>
              </a:rPr>
              <a:t>Relationship to California:</a:t>
            </a:r>
            <a:r>
              <a:rPr lang="en-US" sz="1800" dirty="0">
                <a:solidFill>
                  <a:srgbClr val="F9EEE7"/>
                </a:solidFill>
                <a:latin typeface="Quattrocento" pitchFamily="34" charset="0"/>
                <a:ea typeface="Quattrocento" pitchFamily="34" charset="-122"/>
                <a:cs typeface="Quattrocento" pitchFamily="34" charset="-120"/>
              </a:rPr>
              <a:t> Adds enforcement power to the 8-year cycle by explicitly prohibiting capacity-increasing projects when regions miss targets, turning planning requirements into funding guardrails.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pic>
        <p:nvPicPr>
          <p:cNvPr id="7" name="Image 1" descr="preencoded.png">
            <a:extLst>
              <a:ext uri="{FF2B5EF4-FFF2-40B4-BE49-F238E27FC236}">
                <a16:creationId xmlns:a16="http://schemas.microsoft.com/office/drawing/2014/main" id="{86CE8536-67DD-C65F-DBF7-847936A6597D}"/>
              </a:ext>
            </a:extLst>
          </p:cNvPr>
          <p:cNvPicPr>
            <a:picLocks noChangeAspect="1"/>
          </p:cNvPicPr>
          <p:nvPr/>
        </p:nvPicPr>
        <p:blipFill>
          <a:blip r:embed="rId3"/>
          <a:stretch>
            <a:fillRect/>
          </a:stretch>
        </p:blipFill>
        <p:spPr>
          <a:xfrm>
            <a:off x="278944" y="1643121"/>
            <a:ext cx="974537" cy="1481665"/>
          </a:xfrm>
          <a:prstGeom prst="rect">
            <a:avLst/>
          </a:prstGeom>
        </p:spPr>
      </p:pic>
      <p:pic>
        <p:nvPicPr>
          <p:cNvPr id="6" name="Image 0" descr="preencoded.png">
            <a:extLst>
              <a:ext uri="{FF2B5EF4-FFF2-40B4-BE49-F238E27FC236}">
                <a16:creationId xmlns:a16="http://schemas.microsoft.com/office/drawing/2014/main" id="{32B1FADE-8D5C-86E6-9270-F71314DFFF09}"/>
              </a:ext>
            </a:extLst>
          </p:cNvPr>
          <p:cNvPicPr>
            <a:picLocks noChangeAspect="1"/>
          </p:cNvPicPr>
          <p:nvPr/>
        </p:nvPicPr>
        <p:blipFill>
          <a:blip r:embed="rId4"/>
          <a:stretch>
            <a:fillRect/>
          </a:stretch>
        </p:blipFill>
        <p:spPr>
          <a:xfrm>
            <a:off x="8591313" y="-48275"/>
            <a:ext cx="4604182" cy="6906275"/>
          </a:xfrm>
          <a:prstGeom prst="rect">
            <a:avLst/>
          </a:prstGeom>
        </p:spPr>
      </p:pic>
      <p:sp>
        <p:nvSpPr>
          <p:cNvPr id="3" name="TextBox 2"/>
          <p:cNvSpPr txBox="1"/>
          <p:nvPr/>
        </p:nvSpPr>
        <p:spPr>
          <a:xfrm>
            <a:off x="731520" y="1023354"/>
            <a:ext cx="7751297" cy="646331"/>
          </a:xfrm>
          <a:prstGeom prst="rect">
            <a:avLst/>
          </a:prstGeom>
          <a:noFill/>
        </p:spPr>
        <p:txBody>
          <a:bodyPr wrap="square">
            <a:spAutoFit/>
          </a:bodyPr>
          <a:lstStyle/>
          <a:p>
            <a:pPr algn="l"/>
            <a:r>
              <a:rPr lang="en-US" b="1" dirty="0">
                <a:solidFill>
                  <a:srgbClr val="E3B99E"/>
                </a:solidFill>
                <a:latin typeface="Quattrocento" panose="02020502030000000404" pitchFamily="18" charset="0"/>
              </a:rPr>
              <a:t>Modeled on: Minnesota's Capacity Trigger</a:t>
            </a:r>
          </a:p>
          <a:p>
            <a:pPr algn="l"/>
            <a:r>
              <a:rPr lang="en-US" b="1" dirty="0">
                <a:solidFill>
                  <a:srgbClr val="E3B99E"/>
                </a:solidFill>
                <a:latin typeface="Quattrocento" panose="02020502030000000404" pitchFamily="18" charset="0"/>
              </a:rPr>
              <a:t>Political viability: STRONG, but contested: highway agencies push back</a:t>
            </a:r>
          </a:p>
        </p:txBody>
      </p:sp>
      <p:sp>
        <p:nvSpPr>
          <p:cNvPr id="5" name="TextBox 4"/>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9</a:t>
            </a:r>
          </a:p>
        </p:txBody>
      </p:sp>
      <p:sp>
        <p:nvSpPr>
          <p:cNvPr id="2" name="TextBox 1"/>
          <p:cNvSpPr txBox="1"/>
          <p:nvPr/>
        </p:nvSpPr>
        <p:spPr>
          <a:xfrm>
            <a:off x="731520" y="19324"/>
            <a:ext cx="7751298" cy="1138773"/>
          </a:xfrm>
          <a:prstGeom prst="rect">
            <a:avLst/>
          </a:prstGeom>
          <a:noFill/>
        </p:spPr>
        <p:txBody>
          <a:bodyPr wrap="square">
            <a:spAutoFit/>
          </a:bodyPr>
          <a:lstStyle/>
          <a:p>
            <a:pPr algn="l"/>
            <a:r>
              <a:rPr sz="3400" b="1" dirty="0">
                <a:solidFill>
                  <a:srgbClr val="E8967A"/>
                </a:solidFill>
                <a:latin typeface="Quattrocento" panose="02020502030000000404" pitchFamily="18" charset="0"/>
              </a:rPr>
              <a:t>Reform Option 2: VMT</a:t>
            </a:r>
            <a:r>
              <a:rPr lang="en-US" sz="3400" b="1" dirty="0">
                <a:solidFill>
                  <a:srgbClr val="E8967A"/>
                </a:solidFill>
                <a:latin typeface="Quattrocento" panose="02020502030000000404" pitchFamily="18" charset="0"/>
              </a:rPr>
              <a:t>-</a:t>
            </a:r>
            <a:r>
              <a:rPr sz="3400" b="1" dirty="0">
                <a:solidFill>
                  <a:srgbClr val="E8967A"/>
                </a:solidFill>
                <a:latin typeface="Quattrocento" panose="02020502030000000404" pitchFamily="18" charset="0"/>
              </a:rPr>
              <a:t>Neutral Investment Rule</a:t>
            </a:r>
          </a:p>
        </p:txBody>
      </p:sp>
      <p:pic>
        <p:nvPicPr>
          <p:cNvPr id="8" name="Image 2" descr="preencoded.png">
            <a:extLst>
              <a:ext uri="{FF2B5EF4-FFF2-40B4-BE49-F238E27FC236}">
                <a16:creationId xmlns:a16="http://schemas.microsoft.com/office/drawing/2014/main" id="{DDD69DBB-706D-6E78-1BE7-B790FF047BC6}"/>
              </a:ext>
            </a:extLst>
          </p:cNvPr>
          <p:cNvPicPr>
            <a:picLocks noChangeAspect="1"/>
          </p:cNvPicPr>
          <p:nvPr/>
        </p:nvPicPr>
        <p:blipFill>
          <a:blip r:embed="rId5"/>
          <a:stretch>
            <a:fillRect/>
          </a:stretch>
        </p:blipFill>
        <p:spPr>
          <a:xfrm>
            <a:off x="267041" y="3025342"/>
            <a:ext cx="998342" cy="1481665"/>
          </a:xfrm>
          <a:prstGeom prst="rect">
            <a:avLst/>
          </a:prstGeom>
        </p:spPr>
      </p:pic>
      <p:pic>
        <p:nvPicPr>
          <p:cNvPr id="9" name="Image 3" descr="preencoded.png">
            <a:extLst>
              <a:ext uri="{FF2B5EF4-FFF2-40B4-BE49-F238E27FC236}">
                <a16:creationId xmlns:a16="http://schemas.microsoft.com/office/drawing/2014/main" id="{BED8C23A-DEF7-9E0C-00DF-DD783FF46091}"/>
              </a:ext>
            </a:extLst>
          </p:cNvPr>
          <p:cNvPicPr>
            <a:picLocks noChangeAspect="1"/>
          </p:cNvPicPr>
          <p:nvPr/>
        </p:nvPicPr>
        <p:blipFill>
          <a:blip r:embed="rId6"/>
          <a:stretch>
            <a:fillRect/>
          </a:stretch>
        </p:blipFill>
        <p:spPr>
          <a:xfrm>
            <a:off x="278944" y="4409750"/>
            <a:ext cx="998342" cy="1481665"/>
          </a:xfrm>
          <a:prstGeom prst="rect">
            <a:avLst/>
          </a:prstGeom>
        </p:spPr>
      </p:pic>
      <p:sp>
        <p:nvSpPr>
          <p:cNvPr id="10" name="Text 2">
            <a:extLst>
              <a:ext uri="{FF2B5EF4-FFF2-40B4-BE49-F238E27FC236}">
                <a16:creationId xmlns:a16="http://schemas.microsoft.com/office/drawing/2014/main" id="{CA6A13E1-18D8-F6C9-C47F-EB49630ED06C}"/>
              </a:ext>
            </a:extLst>
          </p:cNvPr>
          <p:cNvSpPr/>
          <p:nvPr/>
        </p:nvSpPr>
        <p:spPr>
          <a:xfrm>
            <a:off x="1351453" y="1780137"/>
            <a:ext cx="2738103" cy="212765"/>
          </a:xfrm>
          <a:prstGeom prst="rect">
            <a:avLst/>
          </a:prstGeom>
          <a:noFill/>
          <a:ln/>
        </p:spPr>
        <p:txBody>
          <a:bodyPr wrap="none" lIns="0" tIns="0" rIns="0" bIns="0" rtlCol="0" anchor="t"/>
          <a:lstStyle/>
          <a:p>
            <a:pPr marL="0" indent="0" algn="l">
              <a:lnSpc>
                <a:spcPts val="1650"/>
              </a:lnSpc>
              <a:buNone/>
            </a:pPr>
            <a:r>
              <a:rPr lang="en-US" sz="2100" b="1" dirty="0">
                <a:solidFill>
                  <a:srgbClr val="E3B99E"/>
                </a:solidFill>
                <a:latin typeface="Quattrocento" panose="02020502030000000404" pitchFamily="18" charset="0"/>
                <a:ea typeface="Quattrocento" pitchFamily="34" charset="-122"/>
                <a:cs typeface="Calibri" panose="020F0502020204030204" pitchFamily="34" charset="0"/>
              </a:rPr>
              <a:t>GHG Impact Assessment</a:t>
            </a:r>
            <a:endParaRPr lang="en-US" sz="2100" b="1" dirty="0">
              <a:solidFill>
                <a:srgbClr val="E3B99E"/>
              </a:solidFill>
              <a:latin typeface="Quattrocento" panose="02020502030000000404" pitchFamily="18" charset="0"/>
              <a:cs typeface="Calibri" panose="020F0502020204030204" pitchFamily="34" charset="0"/>
            </a:endParaRPr>
          </a:p>
        </p:txBody>
      </p:sp>
      <p:sp>
        <p:nvSpPr>
          <p:cNvPr id="11" name="Text 2">
            <a:extLst>
              <a:ext uri="{FF2B5EF4-FFF2-40B4-BE49-F238E27FC236}">
                <a16:creationId xmlns:a16="http://schemas.microsoft.com/office/drawing/2014/main" id="{8ECEA09C-922F-D116-C04B-45EEDDD8FBFA}"/>
              </a:ext>
            </a:extLst>
          </p:cNvPr>
          <p:cNvSpPr/>
          <p:nvPr/>
        </p:nvSpPr>
        <p:spPr>
          <a:xfrm>
            <a:off x="1351453" y="1996649"/>
            <a:ext cx="6745659" cy="1068368"/>
          </a:xfrm>
          <a:prstGeom prst="rect">
            <a:avLst/>
          </a:prstGeom>
          <a:noFill/>
          <a:ln/>
        </p:spPr>
        <p:txBody>
          <a:bodyPr wrap="square" lIns="0" tIns="0" rIns="0" bIns="0" rtlCol="0" anchor="t">
            <a:noAutofit/>
          </a:bodyPr>
          <a:lstStyle/>
          <a:p>
            <a:pPr marL="0" indent="0" algn="l">
              <a:buNone/>
            </a:pPr>
            <a:r>
              <a:rPr lang="en-US" dirty="0">
                <a:solidFill>
                  <a:srgbClr val="F5E6D3"/>
                </a:solidFill>
                <a:latin typeface="Quattrocento" panose="02020502030000000404" pitchFamily="18" charset="0"/>
                <a:ea typeface="Quattrocento" pitchFamily="34" charset="-122"/>
                <a:cs typeface="Calibri" panose="020F0502020204030204" pitchFamily="34" charset="0"/>
              </a:rPr>
              <a:t>Any project adding vehicle capacity must complete a 20-year GHG and VMT impact assessment before inclusion in regional funding program.</a:t>
            </a:r>
          </a:p>
        </p:txBody>
      </p:sp>
      <p:sp>
        <p:nvSpPr>
          <p:cNvPr id="12" name="Text 4">
            <a:extLst>
              <a:ext uri="{FF2B5EF4-FFF2-40B4-BE49-F238E27FC236}">
                <a16:creationId xmlns:a16="http://schemas.microsoft.com/office/drawing/2014/main" id="{1B1E0F23-540D-3398-F137-7EEDD1B88D61}"/>
              </a:ext>
            </a:extLst>
          </p:cNvPr>
          <p:cNvSpPr/>
          <p:nvPr/>
        </p:nvSpPr>
        <p:spPr>
          <a:xfrm>
            <a:off x="1351452" y="3056519"/>
            <a:ext cx="2629608" cy="329177"/>
          </a:xfrm>
          <a:prstGeom prst="rect">
            <a:avLst/>
          </a:prstGeom>
          <a:noFill/>
          <a:ln/>
        </p:spPr>
        <p:txBody>
          <a:bodyPr wrap="none" lIns="0" tIns="0" rIns="0" bIns="0" rtlCol="0" anchor="t"/>
          <a:lstStyle/>
          <a:p>
            <a:pPr marL="0" indent="0" algn="l">
              <a:buNone/>
            </a:pPr>
            <a:r>
              <a:rPr lang="en-US" sz="2100" b="1" dirty="0">
                <a:solidFill>
                  <a:srgbClr val="E3B99E"/>
                </a:solidFill>
                <a:latin typeface="Quattrocento" panose="02020502030000000404" pitchFamily="18" charset="0"/>
                <a:ea typeface="Quattrocento" pitchFamily="34" charset="-122"/>
                <a:cs typeface="Calibri" panose="020F0502020204030204" pitchFamily="34" charset="0"/>
              </a:rPr>
              <a:t>VMT Mitigation Plan</a:t>
            </a:r>
            <a:endParaRPr lang="en-US" sz="2100" b="1" dirty="0">
              <a:solidFill>
                <a:srgbClr val="E3B99E"/>
              </a:solidFill>
              <a:latin typeface="Quattrocento" panose="02020502030000000404" pitchFamily="18" charset="0"/>
              <a:cs typeface="Calibri" panose="020F0502020204030204" pitchFamily="34" charset="0"/>
            </a:endParaRPr>
          </a:p>
        </p:txBody>
      </p:sp>
      <p:sp>
        <p:nvSpPr>
          <p:cNvPr id="13" name="Text 2">
            <a:extLst>
              <a:ext uri="{FF2B5EF4-FFF2-40B4-BE49-F238E27FC236}">
                <a16:creationId xmlns:a16="http://schemas.microsoft.com/office/drawing/2014/main" id="{F7B57F9B-B277-9F0A-FF92-9940862BD765}"/>
              </a:ext>
            </a:extLst>
          </p:cNvPr>
          <p:cNvSpPr/>
          <p:nvPr/>
        </p:nvSpPr>
        <p:spPr>
          <a:xfrm>
            <a:off x="1351452" y="3385696"/>
            <a:ext cx="7131366" cy="1068368"/>
          </a:xfrm>
          <a:prstGeom prst="rect">
            <a:avLst/>
          </a:prstGeom>
          <a:noFill/>
          <a:ln/>
        </p:spPr>
        <p:txBody>
          <a:bodyPr wrap="square" lIns="0" tIns="0" rIns="0" bIns="0" rtlCol="0" anchor="t">
            <a:noAutofit/>
          </a:bodyPr>
          <a:lstStyle/>
          <a:p>
            <a:pPr marL="0" indent="0" algn="l">
              <a:buNone/>
            </a:pPr>
            <a:r>
              <a:rPr lang="en-US" dirty="0">
                <a:solidFill>
                  <a:srgbClr val="F5E6D3"/>
                </a:solidFill>
                <a:latin typeface="Quattrocento" panose="02020502030000000404" pitchFamily="18" charset="0"/>
                <a:ea typeface="Quattrocento" pitchFamily="34" charset="-122"/>
                <a:cs typeface="Calibri" panose="020F0502020204030204" pitchFamily="34" charset="0"/>
              </a:rPr>
              <a:t>If assessment shows net-increase in driving, project sponsor must fund VMT Mitigation Plan (transit improvements, bike infrastructure, or infill housing) that fully offsets projected 20-year impact</a:t>
            </a:r>
          </a:p>
        </p:txBody>
      </p:sp>
      <p:sp>
        <p:nvSpPr>
          <p:cNvPr id="17" name="Text 6">
            <a:extLst>
              <a:ext uri="{FF2B5EF4-FFF2-40B4-BE49-F238E27FC236}">
                <a16:creationId xmlns:a16="http://schemas.microsoft.com/office/drawing/2014/main" id="{83D3107C-E133-2A49-DA2B-36267B77632E}"/>
              </a:ext>
            </a:extLst>
          </p:cNvPr>
          <p:cNvSpPr/>
          <p:nvPr/>
        </p:nvSpPr>
        <p:spPr>
          <a:xfrm>
            <a:off x="1351452" y="4401409"/>
            <a:ext cx="3857981" cy="311390"/>
          </a:xfrm>
          <a:prstGeom prst="rect">
            <a:avLst/>
          </a:prstGeom>
          <a:noFill/>
          <a:ln/>
        </p:spPr>
        <p:txBody>
          <a:bodyPr wrap="none" lIns="0" tIns="0" rIns="0" bIns="0" rtlCol="0" anchor="t"/>
          <a:lstStyle/>
          <a:p>
            <a:pPr marL="0" indent="0" algn="l">
              <a:buNone/>
            </a:pPr>
            <a:r>
              <a:rPr lang="en-US" sz="2100" b="1" dirty="0">
                <a:solidFill>
                  <a:srgbClr val="E3B99E"/>
                </a:solidFill>
                <a:latin typeface="Quattrocento" panose="02020502030000000404" pitchFamily="18" charset="0"/>
                <a:ea typeface="Quattrocento" pitchFamily="34" charset="-122"/>
                <a:cs typeface="Calibri" panose="020F0502020204030204" pitchFamily="34" charset="0"/>
              </a:rPr>
              <a:t>Mitigation Bank Integration</a:t>
            </a:r>
            <a:endParaRPr lang="en-US" sz="2100" b="1" dirty="0">
              <a:solidFill>
                <a:srgbClr val="E3B99E"/>
              </a:solidFill>
              <a:latin typeface="Quattrocento" panose="02020502030000000404" pitchFamily="18" charset="0"/>
              <a:cs typeface="Calibri" panose="020F0502020204030204" pitchFamily="34" charset="0"/>
            </a:endParaRPr>
          </a:p>
        </p:txBody>
      </p:sp>
      <p:sp>
        <p:nvSpPr>
          <p:cNvPr id="18" name="Text 7">
            <a:extLst>
              <a:ext uri="{FF2B5EF4-FFF2-40B4-BE49-F238E27FC236}">
                <a16:creationId xmlns:a16="http://schemas.microsoft.com/office/drawing/2014/main" id="{63355654-4068-A967-4DE9-D4515B631169}"/>
              </a:ext>
            </a:extLst>
          </p:cNvPr>
          <p:cNvSpPr/>
          <p:nvPr/>
        </p:nvSpPr>
        <p:spPr>
          <a:xfrm>
            <a:off x="1351452" y="4712799"/>
            <a:ext cx="7131366" cy="1227633"/>
          </a:xfrm>
          <a:prstGeom prst="rect">
            <a:avLst/>
          </a:prstGeom>
          <a:noFill/>
          <a:ln/>
        </p:spPr>
        <p:txBody>
          <a:bodyPr wrap="square" lIns="0" tIns="0" rIns="0" bIns="0" rtlCol="0" anchor="t"/>
          <a:lstStyle/>
          <a:p>
            <a:pPr marL="0" indent="0" algn="l">
              <a:buNone/>
            </a:pPr>
            <a:r>
              <a:rPr lang="en-US" dirty="0">
                <a:solidFill>
                  <a:srgbClr val="F5E6D3"/>
                </a:solidFill>
                <a:latin typeface="Quattrocento" panose="02020502030000000404" pitchFamily="18" charset="0"/>
                <a:ea typeface="Quattrocento" pitchFamily="34" charset="-122"/>
                <a:cs typeface="Calibri" panose="020F0502020204030204" pitchFamily="34" charset="0"/>
              </a:rPr>
              <a:t>For any MPO in "Corrective Action Status," mitigation obligations must be fulfilled through the Statewide VMT Mitigation Bank (AB 130) or a regional VMT exchange program certified by the Office of Land Use and Climate Innovation.</a:t>
            </a:r>
            <a:endParaRPr lang="en-US" dirty="0">
              <a:solidFill>
                <a:srgbClr val="F5E6D3"/>
              </a:solidFill>
              <a:latin typeface="Quattrocento" panose="02020502030000000404" pitchFamily="18" charset="0"/>
              <a:cs typeface="Calibri" panose="020F0502020204030204" pitchFamily="34" charset="0"/>
            </a:endParaRPr>
          </a:p>
        </p:txBody>
      </p:sp>
      <p:sp>
        <p:nvSpPr>
          <p:cNvPr id="19" name="Text 8">
            <a:extLst>
              <a:ext uri="{FF2B5EF4-FFF2-40B4-BE49-F238E27FC236}">
                <a16:creationId xmlns:a16="http://schemas.microsoft.com/office/drawing/2014/main" id="{5AC7A096-FD14-5B2D-40DF-996486C8B14C}"/>
              </a:ext>
            </a:extLst>
          </p:cNvPr>
          <p:cNvSpPr/>
          <p:nvPr/>
        </p:nvSpPr>
        <p:spPr>
          <a:xfrm>
            <a:off x="134405" y="5999950"/>
            <a:ext cx="8456908" cy="959281"/>
          </a:xfrm>
          <a:prstGeom prst="rect">
            <a:avLst/>
          </a:prstGeom>
          <a:noFill/>
          <a:ln/>
        </p:spPr>
        <p:txBody>
          <a:bodyPr wrap="square" lIns="0" tIns="0" rIns="0" bIns="0" rtlCol="0" anchor="t"/>
          <a:lstStyle/>
          <a:p>
            <a:pPr marL="0" indent="0" algn="l">
              <a:buNone/>
            </a:pPr>
            <a:r>
              <a:rPr lang="en-US" b="1" dirty="0">
                <a:solidFill>
                  <a:srgbClr val="EF9C82"/>
                </a:solidFill>
                <a:latin typeface="Quattrocento" pitchFamily="34" charset="0"/>
                <a:ea typeface="Quattrocento" pitchFamily="34" charset="-122"/>
                <a:cs typeface="Quattrocento" pitchFamily="34" charset="-120"/>
              </a:rPr>
              <a:t>Relationship to California:</a:t>
            </a:r>
            <a:r>
              <a:rPr lang="en-US" dirty="0">
                <a:solidFill>
                  <a:srgbClr val="F9EEE7"/>
                </a:solidFill>
                <a:latin typeface="Quattrocento" pitchFamily="34" charset="0"/>
                <a:ea typeface="Quattrocento" pitchFamily="34" charset="-122"/>
                <a:cs typeface="Quattrocento" pitchFamily="34" charset="-120"/>
              </a:rPr>
              <a:t> </a:t>
            </a:r>
            <a:r>
              <a:rPr lang="en-US" dirty="0">
                <a:solidFill>
                  <a:srgbClr val="F5E6D3"/>
                </a:solidFill>
                <a:latin typeface="Quattrocento" pitchFamily="34" charset="0"/>
                <a:ea typeface="Quattrocento" pitchFamily="34" charset="-122"/>
                <a:cs typeface="Quattrocento" pitchFamily="34" charset="-120"/>
              </a:rPr>
              <a:t>Requiring highway projects to fund their own alternatives through the VMT Mitigation Bank, forcing highway projects to pay for transit, biking, and infill housing.</a:t>
            </a:r>
            <a:endParaRPr lang="en-US" dirty="0">
              <a:solidFill>
                <a:srgbClr val="F5E6D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1" grpId="0" animBg="1"/>
      <p:bldP spid="12" grpId="0" animBg="1"/>
      <p:bldP spid="13" grpId="0" animBg="1"/>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1" name="Shape 2">
            <a:extLst>
              <a:ext uri="{FF2B5EF4-FFF2-40B4-BE49-F238E27FC236}">
                <a16:creationId xmlns:a16="http://schemas.microsoft.com/office/drawing/2014/main" id="{4B2E7F46-0253-F0ED-36A0-8AFFEBF10C8B}"/>
              </a:ext>
            </a:extLst>
          </p:cNvPr>
          <p:cNvSpPr/>
          <p:nvPr/>
        </p:nvSpPr>
        <p:spPr>
          <a:xfrm>
            <a:off x="8155809" y="1801948"/>
            <a:ext cx="3873672" cy="4332710"/>
          </a:xfrm>
          <a:prstGeom prst="roundRect">
            <a:avLst/>
          </a:prstGeom>
          <a:solidFill>
            <a:srgbClr val="315251"/>
          </a:solidFill>
          <a:ln/>
        </p:spPr>
        <p:txBody>
          <a:bodyPr/>
          <a:lstStyle/>
          <a:p>
            <a:endParaRPr lang="en-US" dirty="0"/>
          </a:p>
        </p:txBody>
      </p:sp>
      <p:sp>
        <p:nvSpPr>
          <p:cNvPr id="20" name="Shape 2">
            <a:extLst>
              <a:ext uri="{FF2B5EF4-FFF2-40B4-BE49-F238E27FC236}">
                <a16:creationId xmlns:a16="http://schemas.microsoft.com/office/drawing/2014/main" id="{DD117E78-2048-41C5-C01B-2AE5CE3565F1}"/>
              </a:ext>
            </a:extLst>
          </p:cNvPr>
          <p:cNvSpPr/>
          <p:nvPr/>
        </p:nvSpPr>
        <p:spPr>
          <a:xfrm>
            <a:off x="4140705" y="1784733"/>
            <a:ext cx="3873672" cy="4332710"/>
          </a:xfrm>
          <a:prstGeom prst="roundRect">
            <a:avLst/>
          </a:prstGeom>
          <a:solidFill>
            <a:srgbClr val="315251"/>
          </a:solidFill>
          <a:ln/>
        </p:spPr>
        <p:txBody>
          <a:bodyPr/>
          <a:lstStyle/>
          <a:p>
            <a:endParaRPr lang="en-US" dirty="0"/>
          </a:p>
        </p:txBody>
      </p:sp>
      <p:sp>
        <p:nvSpPr>
          <p:cNvPr id="2" name="TextBox 1"/>
          <p:cNvSpPr txBox="1"/>
          <p:nvPr/>
        </p:nvSpPr>
        <p:spPr>
          <a:xfrm>
            <a:off x="731520" y="320040"/>
            <a:ext cx="10728655" cy="615553"/>
          </a:xfrm>
          <a:prstGeom prst="rect">
            <a:avLst/>
          </a:prstGeom>
          <a:noFill/>
        </p:spPr>
        <p:txBody>
          <a:bodyPr wrap="square">
            <a:spAutoFit/>
          </a:bodyPr>
          <a:lstStyle/>
          <a:p>
            <a:pPr algn="l"/>
            <a:r>
              <a:rPr sz="3400" b="1" dirty="0">
                <a:solidFill>
                  <a:srgbClr val="E8967A"/>
                </a:solidFill>
                <a:latin typeface="Quattrocento" panose="02020502030000000404" pitchFamily="18" charset="0"/>
              </a:rPr>
              <a:t>Reform Option 3: Climate Floor Scoring Test</a:t>
            </a:r>
          </a:p>
        </p:txBody>
      </p:sp>
      <p:sp>
        <p:nvSpPr>
          <p:cNvPr id="3" name="TextBox 2"/>
          <p:cNvSpPr txBox="1"/>
          <p:nvPr/>
        </p:nvSpPr>
        <p:spPr>
          <a:xfrm>
            <a:off x="731520" y="1006220"/>
            <a:ext cx="10728655" cy="707886"/>
          </a:xfrm>
          <a:prstGeom prst="rect">
            <a:avLst/>
          </a:prstGeom>
          <a:noFill/>
        </p:spPr>
        <p:txBody>
          <a:bodyPr wrap="square">
            <a:spAutoFit/>
          </a:bodyPr>
          <a:lstStyle/>
          <a:p>
            <a:pPr algn="l"/>
            <a:r>
              <a:rPr lang="en-US" sz="2000" b="1" dirty="0">
                <a:solidFill>
                  <a:srgbClr val="E3B99E"/>
                </a:solidFill>
                <a:latin typeface="Quattrocento" panose="02020502030000000404" pitchFamily="18" charset="0"/>
              </a:rPr>
              <a:t>Modeled on: Virginia's SMART SCALE Scoring + Massachusetts' Enforceable Emission Caps</a:t>
            </a:r>
          </a:p>
          <a:p>
            <a:r>
              <a:rPr lang="en-US" sz="2000" b="1" dirty="0">
                <a:solidFill>
                  <a:srgbClr val="E3B99E"/>
                </a:solidFill>
                <a:latin typeface="Quattrocento" panose="02020502030000000404" pitchFamily="18" charset="0"/>
              </a:rPr>
              <a:t>Political viability: TRANSFORMATIVE</a:t>
            </a:r>
            <a:endParaRPr sz="2000" b="1" dirty="0">
              <a:solidFill>
                <a:srgbClr val="E3B99E"/>
              </a:solidFill>
              <a:latin typeface="Quattrocento" panose="02020502030000000404" pitchFamily="18" charset="0"/>
            </a:endParaRPr>
          </a:p>
        </p:txBody>
      </p:sp>
      <p:sp>
        <p:nvSpPr>
          <p:cNvPr id="5" name="TextBox 4"/>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10</a:t>
            </a:r>
          </a:p>
        </p:txBody>
      </p:sp>
      <p:sp>
        <p:nvSpPr>
          <p:cNvPr id="6" name="Shape 2">
            <a:extLst>
              <a:ext uri="{FF2B5EF4-FFF2-40B4-BE49-F238E27FC236}">
                <a16:creationId xmlns:a16="http://schemas.microsoft.com/office/drawing/2014/main" id="{78CB4FAF-D1E1-34D7-179B-61904558C258}"/>
              </a:ext>
            </a:extLst>
          </p:cNvPr>
          <p:cNvSpPr/>
          <p:nvPr/>
        </p:nvSpPr>
        <p:spPr>
          <a:xfrm>
            <a:off x="141005" y="1784733"/>
            <a:ext cx="3873672" cy="4332710"/>
          </a:xfrm>
          <a:prstGeom prst="roundRect">
            <a:avLst/>
          </a:prstGeom>
          <a:solidFill>
            <a:srgbClr val="315251"/>
          </a:solidFill>
          <a:ln/>
        </p:spPr>
        <p:txBody>
          <a:bodyPr/>
          <a:lstStyle/>
          <a:p>
            <a:endParaRPr lang="en-US" dirty="0"/>
          </a:p>
        </p:txBody>
      </p:sp>
      <p:sp>
        <p:nvSpPr>
          <p:cNvPr id="7" name="Shape 3">
            <a:extLst>
              <a:ext uri="{FF2B5EF4-FFF2-40B4-BE49-F238E27FC236}">
                <a16:creationId xmlns:a16="http://schemas.microsoft.com/office/drawing/2014/main" id="{99957353-1244-B2C7-B21D-DB411D34B76E}"/>
              </a:ext>
            </a:extLst>
          </p:cNvPr>
          <p:cNvSpPr/>
          <p:nvPr/>
        </p:nvSpPr>
        <p:spPr>
          <a:xfrm>
            <a:off x="285492" y="2002566"/>
            <a:ext cx="863091" cy="733664"/>
          </a:xfrm>
          <a:prstGeom prst="roundRect">
            <a:avLst>
              <a:gd name="adj" fmla="val 16575061"/>
            </a:avLst>
          </a:prstGeom>
          <a:solidFill>
            <a:srgbClr val="EF9C82"/>
          </a:solidFill>
          <a:ln/>
        </p:spPr>
        <p:txBody>
          <a:bodyPr/>
          <a:lstStyle/>
          <a:p>
            <a:endParaRPr lang="en-US" dirty="0"/>
          </a:p>
        </p:txBody>
      </p:sp>
      <p:sp>
        <p:nvSpPr>
          <p:cNvPr id="8" name="Text 4">
            <a:extLst>
              <a:ext uri="{FF2B5EF4-FFF2-40B4-BE49-F238E27FC236}">
                <a16:creationId xmlns:a16="http://schemas.microsoft.com/office/drawing/2014/main" id="{13232D17-F4D4-243C-1673-46B1C920D7BA}"/>
              </a:ext>
            </a:extLst>
          </p:cNvPr>
          <p:cNvSpPr/>
          <p:nvPr/>
        </p:nvSpPr>
        <p:spPr>
          <a:xfrm>
            <a:off x="285492" y="2892892"/>
            <a:ext cx="2889292" cy="353726"/>
          </a:xfrm>
          <a:prstGeom prst="rect">
            <a:avLst/>
          </a:prstGeom>
          <a:noFill/>
          <a:ln/>
        </p:spPr>
        <p:txBody>
          <a:bodyPr wrap="none" lIns="0" tIns="0" rIns="0" bIns="0" rtlCol="0" anchor="t"/>
          <a:lstStyle/>
          <a:p>
            <a:pPr marL="0" indent="0" algn="l">
              <a:lnSpc>
                <a:spcPts val="2100"/>
              </a:lnSpc>
              <a:buNone/>
            </a:pPr>
            <a:r>
              <a:rPr lang="en-US" sz="2000" b="1" dirty="0">
                <a:solidFill>
                  <a:srgbClr val="F9EEE7"/>
                </a:solidFill>
                <a:latin typeface="Quattrocento" pitchFamily="34" charset="0"/>
                <a:ea typeface="Quattrocento" pitchFamily="34" charset="-122"/>
                <a:cs typeface="Quattrocento" pitchFamily="34" charset="-120"/>
              </a:rPr>
              <a:t>Objective Need Standard</a:t>
            </a:r>
            <a:endParaRPr lang="en-US" sz="2000" b="1" dirty="0"/>
          </a:p>
        </p:txBody>
      </p:sp>
      <p:sp>
        <p:nvSpPr>
          <p:cNvPr id="9" name="Text 5">
            <a:extLst>
              <a:ext uri="{FF2B5EF4-FFF2-40B4-BE49-F238E27FC236}">
                <a16:creationId xmlns:a16="http://schemas.microsoft.com/office/drawing/2014/main" id="{53D4E5DB-74E6-5B29-6AF5-868E02E0670D}"/>
              </a:ext>
            </a:extLst>
          </p:cNvPr>
          <p:cNvSpPr/>
          <p:nvPr/>
        </p:nvSpPr>
        <p:spPr>
          <a:xfrm>
            <a:off x="4306009" y="3282603"/>
            <a:ext cx="3726826" cy="2721396"/>
          </a:xfrm>
          <a:prstGeom prst="rect">
            <a:avLst/>
          </a:prstGeom>
          <a:noFill/>
          <a:ln/>
        </p:spPr>
        <p:txBody>
          <a:bodyPr wrap="square" lIns="0" tIns="0" rIns="0" bIns="0" rtlCol="0" anchor="t"/>
          <a:lstStyle/>
          <a:p>
            <a:pPr marL="0" indent="0" algn="l">
              <a:lnSpc>
                <a:spcPts val="2000"/>
              </a:lnSpc>
              <a:buNone/>
            </a:pPr>
            <a:r>
              <a:rPr lang="en-US" dirty="0">
                <a:solidFill>
                  <a:srgbClr val="F9EEE7"/>
                </a:solidFill>
                <a:latin typeface="Quattrocento" pitchFamily="34" charset="0"/>
                <a:ea typeface="Quattrocento" pitchFamily="34" charset="-122"/>
                <a:cs typeface="Quattrocento" pitchFamily="34" charset="-120"/>
              </a:rPr>
              <a:t>The California Transportation Commission, in consultation with CARB, shall establish Statewide Accessibility and Safety Targets. A project shall only be eligible for scoring if it addresses an objective need identified in the Statewide Needs Assessment, rather than a locally defined throughput metric.</a:t>
            </a:r>
            <a:endParaRPr lang="en-US" dirty="0"/>
          </a:p>
        </p:txBody>
      </p:sp>
      <p:sp>
        <p:nvSpPr>
          <p:cNvPr id="12" name="Text 8">
            <a:extLst>
              <a:ext uri="{FF2B5EF4-FFF2-40B4-BE49-F238E27FC236}">
                <a16:creationId xmlns:a16="http://schemas.microsoft.com/office/drawing/2014/main" id="{1D1A8E1F-380D-451D-E48A-F68EEAAF7572}"/>
              </a:ext>
            </a:extLst>
          </p:cNvPr>
          <p:cNvSpPr/>
          <p:nvPr/>
        </p:nvSpPr>
        <p:spPr>
          <a:xfrm>
            <a:off x="4305335" y="2904298"/>
            <a:ext cx="1684314" cy="265814"/>
          </a:xfrm>
          <a:prstGeom prst="rect">
            <a:avLst/>
          </a:prstGeom>
          <a:noFill/>
          <a:ln/>
        </p:spPr>
        <p:txBody>
          <a:bodyPr wrap="none" lIns="0" tIns="0" rIns="0" bIns="0" rtlCol="0" anchor="t"/>
          <a:lstStyle/>
          <a:p>
            <a:pPr marL="0" indent="0" algn="l">
              <a:lnSpc>
                <a:spcPts val="2100"/>
              </a:lnSpc>
              <a:buNone/>
            </a:pPr>
            <a:r>
              <a:rPr lang="en-US" sz="2000" b="1" dirty="0">
                <a:solidFill>
                  <a:srgbClr val="F9EEE7"/>
                </a:solidFill>
                <a:latin typeface="Quattrocento" pitchFamily="34" charset="0"/>
                <a:ea typeface="Quattrocento" pitchFamily="34" charset="-122"/>
                <a:cs typeface="Quattrocento" pitchFamily="34" charset="-120"/>
              </a:rPr>
              <a:t>Climate Floor</a:t>
            </a:r>
            <a:endParaRPr lang="en-US" sz="2000" b="1" dirty="0"/>
          </a:p>
        </p:txBody>
      </p:sp>
      <p:sp>
        <p:nvSpPr>
          <p:cNvPr id="13" name="Text 9">
            <a:extLst>
              <a:ext uri="{FF2B5EF4-FFF2-40B4-BE49-F238E27FC236}">
                <a16:creationId xmlns:a16="http://schemas.microsoft.com/office/drawing/2014/main" id="{24962998-C574-14C6-62CD-36DC75F6D0F9}"/>
              </a:ext>
            </a:extLst>
          </p:cNvPr>
          <p:cNvSpPr/>
          <p:nvPr/>
        </p:nvSpPr>
        <p:spPr>
          <a:xfrm>
            <a:off x="285492" y="3300141"/>
            <a:ext cx="3549118" cy="1700873"/>
          </a:xfrm>
          <a:prstGeom prst="rect">
            <a:avLst/>
          </a:prstGeom>
          <a:noFill/>
          <a:ln/>
        </p:spPr>
        <p:txBody>
          <a:bodyPr wrap="square" lIns="0" tIns="0" rIns="0" bIns="0" rtlCol="0" anchor="t"/>
          <a:lstStyle/>
          <a:p>
            <a:pPr marL="0" indent="0" algn="l">
              <a:lnSpc>
                <a:spcPts val="2000"/>
              </a:lnSpc>
              <a:buNone/>
            </a:pPr>
            <a:r>
              <a:rPr lang="en-US" dirty="0">
                <a:solidFill>
                  <a:srgbClr val="F9EEE7"/>
                </a:solidFill>
                <a:latin typeface="Quattrocento" pitchFamily="34" charset="0"/>
                <a:ea typeface="Quattrocento" pitchFamily="34" charset="-122"/>
                <a:cs typeface="Quattrocento" pitchFamily="34" charset="-120"/>
              </a:rPr>
              <a:t>No project seeking state funding shall be eligible for programmed funds if it receives a negative net-score for VMT reduction, regardless of its performance in other scoring categories.</a:t>
            </a:r>
            <a:endParaRPr lang="en-US" dirty="0"/>
          </a:p>
        </p:txBody>
      </p:sp>
      <p:sp>
        <p:nvSpPr>
          <p:cNvPr id="16" name="Text 12">
            <a:extLst>
              <a:ext uri="{FF2B5EF4-FFF2-40B4-BE49-F238E27FC236}">
                <a16:creationId xmlns:a16="http://schemas.microsoft.com/office/drawing/2014/main" id="{A732A43C-2653-7E79-3119-09FAAF04D763}"/>
              </a:ext>
            </a:extLst>
          </p:cNvPr>
          <p:cNvSpPr/>
          <p:nvPr/>
        </p:nvSpPr>
        <p:spPr>
          <a:xfrm>
            <a:off x="8278782" y="2899221"/>
            <a:ext cx="3309558" cy="353726"/>
          </a:xfrm>
          <a:prstGeom prst="rect">
            <a:avLst/>
          </a:prstGeom>
          <a:noFill/>
          <a:ln/>
        </p:spPr>
        <p:txBody>
          <a:bodyPr wrap="none" lIns="0" tIns="0" rIns="0" bIns="0" rtlCol="0" anchor="t"/>
          <a:lstStyle/>
          <a:p>
            <a:pPr marL="0" indent="0" algn="l">
              <a:lnSpc>
                <a:spcPts val="2100"/>
              </a:lnSpc>
              <a:buNone/>
            </a:pPr>
            <a:r>
              <a:rPr lang="en-US" sz="2000" b="1" dirty="0">
                <a:solidFill>
                  <a:srgbClr val="F9EEE7"/>
                </a:solidFill>
                <a:latin typeface="Quattrocento" pitchFamily="34" charset="0"/>
                <a:ea typeface="Quattrocento" pitchFamily="34" charset="-122"/>
                <a:cs typeface="Quattrocento" pitchFamily="34" charset="-120"/>
              </a:rPr>
              <a:t>Multimodal Alternatives Test</a:t>
            </a:r>
            <a:endParaRPr lang="en-US" sz="2000" b="1" dirty="0"/>
          </a:p>
        </p:txBody>
      </p:sp>
      <p:sp>
        <p:nvSpPr>
          <p:cNvPr id="17" name="Text 13">
            <a:extLst>
              <a:ext uri="{FF2B5EF4-FFF2-40B4-BE49-F238E27FC236}">
                <a16:creationId xmlns:a16="http://schemas.microsoft.com/office/drawing/2014/main" id="{3FFB0233-9088-741B-9894-63ABAA2E19CC}"/>
              </a:ext>
            </a:extLst>
          </p:cNvPr>
          <p:cNvSpPr/>
          <p:nvPr/>
        </p:nvSpPr>
        <p:spPr>
          <a:xfrm>
            <a:off x="8278782" y="3249946"/>
            <a:ext cx="3627725" cy="2684794"/>
          </a:xfrm>
          <a:prstGeom prst="rect">
            <a:avLst/>
          </a:prstGeom>
          <a:noFill/>
          <a:ln/>
        </p:spPr>
        <p:txBody>
          <a:bodyPr wrap="square" lIns="0" tIns="0" rIns="0" bIns="0" rtlCol="0" anchor="t"/>
          <a:lstStyle/>
          <a:p>
            <a:pPr marL="0" indent="0" algn="l">
              <a:lnSpc>
                <a:spcPts val="2000"/>
              </a:lnSpc>
              <a:buNone/>
            </a:pPr>
            <a:r>
              <a:rPr lang="en-US" dirty="0">
                <a:solidFill>
                  <a:srgbClr val="F9EEE7"/>
                </a:solidFill>
                <a:latin typeface="Quattrocento" pitchFamily="34" charset="0"/>
                <a:ea typeface="Quattrocento" pitchFamily="34" charset="-122"/>
                <a:cs typeface="Quattrocento" pitchFamily="34" charset="-120"/>
              </a:rPr>
              <a:t>Any project identifying mobility need: Scoring process must evaluate at least two Multimodal Alternatives with same analytical rigor as the proposed capacity project. If multimodal alternative achieves objective with higher net-climate score, capacity project (i.e., highway expansion) is statutorily ineligible for state funding.</a:t>
            </a:r>
            <a:endParaRPr lang="en-US" dirty="0"/>
          </a:p>
        </p:txBody>
      </p:sp>
      <p:sp>
        <p:nvSpPr>
          <p:cNvPr id="19" name="Shape 3">
            <a:extLst>
              <a:ext uri="{FF2B5EF4-FFF2-40B4-BE49-F238E27FC236}">
                <a16:creationId xmlns:a16="http://schemas.microsoft.com/office/drawing/2014/main" id="{344D65DD-0B73-FADE-5964-3C322ED819AF}"/>
              </a:ext>
            </a:extLst>
          </p:cNvPr>
          <p:cNvSpPr/>
          <p:nvPr/>
        </p:nvSpPr>
        <p:spPr>
          <a:xfrm>
            <a:off x="4284401" y="2002566"/>
            <a:ext cx="863091" cy="733664"/>
          </a:xfrm>
          <a:prstGeom prst="roundRect">
            <a:avLst>
              <a:gd name="adj" fmla="val 16575061"/>
            </a:avLst>
          </a:prstGeom>
          <a:solidFill>
            <a:srgbClr val="EF9C82"/>
          </a:solidFill>
          <a:ln/>
        </p:spPr>
        <p:txBody>
          <a:bodyPr/>
          <a:lstStyle/>
          <a:p>
            <a:endParaRPr lang="en-US" dirty="0"/>
          </a:p>
        </p:txBody>
      </p:sp>
      <p:sp>
        <p:nvSpPr>
          <p:cNvPr id="22" name="Shape 3">
            <a:extLst>
              <a:ext uri="{FF2B5EF4-FFF2-40B4-BE49-F238E27FC236}">
                <a16:creationId xmlns:a16="http://schemas.microsoft.com/office/drawing/2014/main" id="{C16A1573-B328-EB45-20E1-36C1B83D6AD6}"/>
              </a:ext>
            </a:extLst>
          </p:cNvPr>
          <p:cNvSpPr/>
          <p:nvPr/>
        </p:nvSpPr>
        <p:spPr>
          <a:xfrm>
            <a:off x="8278782" y="1992201"/>
            <a:ext cx="863091" cy="733664"/>
          </a:xfrm>
          <a:prstGeom prst="roundRect">
            <a:avLst>
              <a:gd name="adj" fmla="val 16575061"/>
            </a:avLst>
          </a:prstGeom>
          <a:solidFill>
            <a:srgbClr val="EF9C82"/>
          </a:solidFill>
          <a:ln/>
        </p:spPr>
        <p:txBody>
          <a:bodyPr/>
          <a:lstStyle/>
          <a:p>
            <a:endParaRPr lang="en-US" dirty="0"/>
          </a:p>
        </p:txBody>
      </p:sp>
      <p:pic>
        <p:nvPicPr>
          <p:cNvPr id="23" name="Image 2" descr="preencoded.png">
            <a:extLst>
              <a:ext uri="{FF2B5EF4-FFF2-40B4-BE49-F238E27FC236}">
                <a16:creationId xmlns:a16="http://schemas.microsoft.com/office/drawing/2014/main" id="{9698DFBA-E811-8481-B9EF-CC2F707F2F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836" y="2077347"/>
            <a:ext cx="517596" cy="563372"/>
          </a:xfrm>
          <a:prstGeom prst="rect">
            <a:avLst/>
          </a:prstGeom>
        </p:spPr>
      </p:pic>
      <p:pic>
        <p:nvPicPr>
          <p:cNvPr id="25" name="Graphic 24" descr="Train outline">
            <a:extLst>
              <a:ext uri="{FF2B5EF4-FFF2-40B4-BE49-F238E27FC236}">
                <a16:creationId xmlns:a16="http://schemas.microsoft.com/office/drawing/2014/main" id="{085234CD-098D-642B-8030-77DED2F778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1132" y="2040203"/>
            <a:ext cx="658390" cy="658390"/>
          </a:xfrm>
          <a:prstGeom prst="rect">
            <a:avLst/>
          </a:prstGeom>
        </p:spPr>
      </p:pic>
      <p:pic>
        <p:nvPicPr>
          <p:cNvPr id="27" name="Graphic 26" descr="Leaf outline">
            <a:extLst>
              <a:ext uri="{FF2B5EF4-FFF2-40B4-BE49-F238E27FC236}">
                <a16:creationId xmlns:a16="http://schemas.microsoft.com/office/drawing/2014/main" id="{ED095412-3683-EF08-0261-C881599E75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45915" y="2022130"/>
            <a:ext cx="733664" cy="733664"/>
          </a:xfrm>
          <a:prstGeom prst="rect">
            <a:avLst/>
          </a:prstGeom>
        </p:spPr>
      </p:pic>
      <p:sp>
        <p:nvSpPr>
          <p:cNvPr id="29" name="Text 14">
            <a:extLst>
              <a:ext uri="{FF2B5EF4-FFF2-40B4-BE49-F238E27FC236}">
                <a16:creationId xmlns:a16="http://schemas.microsoft.com/office/drawing/2014/main" id="{446ED783-9A6D-292E-76C3-01C9E988298B}"/>
              </a:ext>
            </a:extLst>
          </p:cNvPr>
          <p:cNvSpPr/>
          <p:nvPr/>
        </p:nvSpPr>
        <p:spPr>
          <a:xfrm>
            <a:off x="109929" y="6265947"/>
            <a:ext cx="11243872" cy="592053"/>
          </a:xfrm>
          <a:prstGeom prst="rect">
            <a:avLst/>
          </a:prstGeom>
          <a:noFill/>
          <a:ln/>
        </p:spPr>
        <p:txBody>
          <a:bodyPr wrap="square" lIns="0" tIns="0" rIns="0" bIns="0" rtlCol="0" anchor="t"/>
          <a:lstStyle/>
          <a:p>
            <a:pPr marL="0" indent="0" algn="l">
              <a:lnSpc>
                <a:spcPts val="2000"/>
              </a:lnSpc>
              <a:buNone/>
            </a:pPr>
            <a:r>
              <a:rPr lang="en-US" b="1" dirty="0">
                <a:solidFill>
                  <a:srgbClr val="EF9C82"/>
                </a:solidFill>
                <a:latin typeface="Quattrocento" pitchFamily="34" charset="0"/>
                <a:ea typeface="Quattrocento" pitchFamily="34" charset="-122"/>
                <a:cs typeface="Quattrocento" pitchFamily="34" charset="-120"/>
              </a:rPr>
              <a:t>Relationship to California:</a:t>
            </a:r>
            <a:r>
              <a:rPr lang="en-US" dirty="0">
                <a:solidFill>
                  <a:srgbClr val="F9EEE7"/>
                </a:solidFill>
                <a:latin typeface="Quattrocento" pitchFamily="34" charset="0"/>
                <a:ea typeface="Quattrocento" pitchFamily="34" charset="-122"/>
                <a:cs typeface="Quattrocento" pitchFamily="34" charset="-120"/>
              </a:rPr>
              <a:t> Transforms planning administrative update into a funding gatekeeper. Ensures Local Planning Grants are only used to study projects that can actually pass this Climate Floor test.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3" grpId="0"/>
      <p:bldP spid="6" grpId="0" animBg="1"/>
      <p:bldP spid="7" grpId="0" animBg="1"/>
      <p:bldP spid="8" grpId="0" animBg="1"/>
      <p:bldP spid="9" grpId="0" animBg="1"/>
      <p:bldP spid="12" grpId="0" animBg="1"/>
      <p:bldP spid="13" grpId="0" animBg="1"/>
      <p:bldP spid="16" grpId="0" animBg="1"/>
      <p:bldP spid="17" grpId="0" animBg="1"/>
      <p:bldP spid="19" grpId="0" animBg="1"/>
      <p:bldP spid="22"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D1540-1D09-9DB1-CC6E-D06E084044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95432D-D413-3E3F-F78D-EA8A19EA3F00}"/>
              </a:ext>
            </a:extLst>
          </p:cNvPr>
          <p:cNvSpPr/>
          <p:nvPr/>
        </p:nvSpPr>
        <p:spPr>
          <a:xfrm>
            <a:off x="292991" y="245170"/>
            <a:ext cx="11557331" cy="1026120"/>
          </a:xfrm>
          <a:prstGeom prst="rect">
            <a:avLst/>
          </a:prstGeom>
          <a:noFill/>
          <a:ln/>
        </p:spPr>
        <p:txBody>
          <a:bodyPr wrap="square" lIns="0" tIns="0" rIns="0" bIns="0" rtlCol="0" anchor="t"/>
          <a:lstStyle/>
          <a:p>
            <a:pPr>
              <a:lnSpc>
                <a:spcPts val="4000"/>
              </a:lnSpc>
            </a:pPr>
            <a:r>
              <a:rPr lang="en-US" sz="3400" b="1" dirty="0">
                <a:solidFill>
                  <a:srgbClr val="E8967A"/>
                </a:solidFill>
                <a:latin typeface="Quattrocento" panose="02020502030000000404" pitchFamily="18" charset="0"/>
                <a:ea typeface="Quattrocento" pitchFamily="34" charset="-122"/>
                <a:cs typeface="Calibri" panose="020F0502020204030204" pitchFamily="34" charset="0"/>
              </a:rPr>
              <a:t>Data Dashboard: Policy Scenarios Visualized</a:t>
            </a:r>
            <a:endParaRPr lang="en-US" sz="3400" b="1" dirty="0">
              <a:solidFill>
                <a:srgbClr val="E8967A"/>
              </a:solidFill>
              <a:latin typeface="Quattrocento" panose="02020502030000000404" pitchFamily="18" charset="0"/>
              <a:cs typeface="Calibri" panose="020F0502020204030204" pitchFamily="34" charset="0"/>
            </a:endParaRPr>
          </a:p>
        </p:txBody>
      </p:sp>
      <p:sp>
        <p:nvSpPr>
          <p:cNvPr id="3" name="Text 1">
            <a:extLst>
              <a:ext uri="{FF2B5EF4-FFF2-40B4-BE49-F238E27FC236}">
                <a16:creationId xmlns:a16="http://schemas.microsoft.com/office/drawing/2014/main" id="{D0D13491-6645-FB27-EC85-DB1D4DF71D98}"/>
              </a:ext>
            </a:extLst>
          </p:cNvPr>
          <p:cNvSpPr/>
          <p:nvPr/>
        </p:nvSpPr>
        <p:spPr>
          <a:xfrm>
            <a:off x="292991" y="857257"/>
            <a:ext cx="10971014" cy="523082"/>
          </a:xfrm>
          <a:prstGeom prst="rect">
            <a:avLst/>
          </a:prstGeom>
          <a:noFill/>
          <a:ln/>
        </p:spPr>
        <p:txBody>
          <a:bodyPr wrap="square" lIns="0" tIns="0" rIns="0" bIns="0" rtlCol="0" anchor="t"/>
          <a:lstStyle/>
          <a:p>
            <a:pPr>
              <a:lnSpc>
                <a:spcPts val="2042"/>
              </a:lnSpc>
            </a:pPr>
            <a:r>
              <a:rPr lang="en-US" sz="2000" dirty="0">
                <a:solidFill>
                  <a:srgbClr val="E3B99E"/>
                </a:solidFill>
                <a:latin typeface="Quattrocento" panose="02020502030000000404" pitchFamily="18" charset="0"/>
                <a:cs typeface="Calibri" panose="020F0502020204030204" pitchFamily="34" charset="0"/>
              </a:rPr>
              <a:t>A live translation layer between raw California tract-level data and actionable policy argument: built for advocates, planners, and decision-makers.</a:t>
            </a:r>
          </a:p>
          <a:p>
            <a:pPr>
              <a:lnSpc>
                <a:spcPts val="2042"/>
              </a:lnSpc>
            </a:pPr>
            <a:endParaRPr lang="en-US" sz="1750" dirty="0">
              <a:solidFill>
                <a:srgbClr val="F3CABC"/>
              </a:solidFill>
            </a:endParaRPr>
          </a:p>
        </p:txBody>
      </p:sp>
      <p:sp>
        <p:nvSpPr>
          <p:cNvPr id="8" name="Shape 2">
            <a:extLst>
              <a:ext uri="{FF2B5EF4-FFF2-40B4-BE49-F238E27FC236}">
                <a16:creationId xmlns:a16="http://schemas.microsoft.com/office/drawing/2014/main" id="{BD1A7B44-A107-283F-A6D1-CBF493421415}"/>
              </a:ext>
            </a:extLst>
          </p:cNvPr>
          <p:cNvSpPr/>
          <p:nvPr/>
        </p:nvSpPr>
        <p:spPr>
          <a:xfrm>
            <a:off x="158750" y="1600081"/>
            <a:ext cx="3864513" cy="5152086"/>
          </a:xfrm>
          <a:prstGeom prst="roundRect">
            <a:avLst>
              <a:gd name="adj" fmla="val 734"/>
            </a:avLst>
          </a:prstGeom>
          <a:solidFill>
            <a:srgbClr val="315251"/>
          </a:solidFill>
          <a:ln/>
        </p:spPr>
        <p:txBody>
          <a:bodyPr/>
          <a:lstStyle/>
          <a:p>
            <a:endParaRPr lang="en-US" sz="1500" dirty="0"/>
          </a:p>
        </p:txBody>
      </p:sp>
      <p:sp>
        <p:nvSpPr>
          <p:cNvPr id="9" name="Shape 6">
            <a:extLst>
              <a:ext uri="{FF2B5EF4-FFF2-40B4-BE49-F238E27FC236}">
                <a16:creationId xmlns:a16="http://schemas.microsoft.com/office/drawing/2014/main" id="{67027D21-12D7-4448-E0AA-F5C3207097B8}"/>
              </a:ext>
            </a:extLst>
          </p:cNvPr>
          <p:cNvSpPr/>
          <p:nvPr/>
        </p:nvSpPr>
        <p:spPr>
          <a:xfrm>
            <a:off x="4163684" y="1600081"/>
            <a:ext cx="3864513" cy="5152086"/>
          </a:xfrm>
          <a:prstGeom prst="roundRect">
            <a:avLst>
              <a:gd name="adj" fmla="val 734"/>
            </a:avLst>
          </a:prstGeom>
          <a:solidFill>
            <a:srgbClr val="315251"/>
          </a:solidFill>
          <a:ln/>
        </p:spPr>
        <p:txBody>
          <a:bodyPr/>
          <a:lstStyle/>
          <a:p>
            <a:endParaRPr lang="en-US" sz="1500" dirty="0"/>
          </a:p>
        </p:txBody>
      </p:sp>
      <p:sp>
        <p:nvSpPr>
          <p:cNvPr id="13" name="Shape 10">
            <a:extLst>
              <a:ext uri="{FF2B5EF4-FFF2-40B4-BE49-F238E27FC236}">
                <a16:creationId xmlns:a16="http://schemas.microsoft.com/office/drawing/2014/main" id="{4AB50B86-E200-725D-A074-8559DBAAB093}"/>
              </a:ext>
            </a:extLst>
          </p:cNvPr>
          <p:cNvSpPr/>
          <p:nvPr/>
        </p:nvSpPr>
        <p:spPr>
          <a:xfrm>
            <a:off x="8168618" y="1600081"/>
            <a:ext cx="3864513" cy="5152086"/>
          </a:xfrm>
          <a:prstGeom prst="roundRect">
            <a:avLst>
              <a:gd name="adj" fmla="val 734"/>
            </a:avLst>
          </a:prstGeom>
          <a:solidFill>
            <a:srgbClr val="315251"/>
          </a:solidFill>
          <a:ln/>
        </p:spPr>
        <p:txBody>
          <a:bodyPr/>
          <a:lstStyle/>
          <a:p>
            <a:endParaRPr lang="en-US" sz="1500" dirty="0"/>
          </a:p>
        </p:txBody>
      </p:sp>
      <p:sp>
        <p:nvSpPr>
          <p:cNvPr id="14" name="Text 4">
            <a:extLst>
              <a:ext uri="{FF2B5EF4-FFF2-40B4-BE49-F238E27FC236}">
                <a16:creationId xmlns:a16="http://schemas.microsoft.com/office/drawing/2014/main" id="{A1100FAC-1980-4BB7-3DA6-009AB74216CE}"/>
              </a:ext>
            </a:extLst>
          </p:cNvPr>
          <p:cNvSpPr/>
          <p:nvPr/>
        </p:nvSpPr>
        <p:spPr>
          <a:xfrm>
            <a:off x="838569" y="1837883"/>
            <a:ext cx="2407743" cy="294772"/>
          </a:xfrm>
          <a:prstGeom prst="rect">
            <a:avLst/>
          </a:prstGeom>
          <a:noFill/>
          <a:ln/>
        </p:spPr>
        <p:txBody>
          <a:bodyPr wrap="none" lIns="0" tIns="0" rIns="0" bIns="0" rtlCol="0" anchor="ctr"/>
          <a:lstStyle/>
          <a:p>
            <a:pPr algn="ctr">
              <a:lnSpc>
                <a:spcPts val="1750"/>
              </a:lnSpc>
            </a:pPr>
            <a:r>
              <a:rPr lang="en-US" sz="3000" b="1" dirty="0">
                <a:solidFill>
                  <a:srgbClr val="F9EEE7"/>
                </a:solidFill>
                <a:latin typeface="Quattrocento" panose="02020502030000000404" pitchFamily="18" charset="0"/>
                <a:ea typeface="Quattrocento" pitchFamily="34" charset="-122"/>
                <a:cs typeface="Calibri" panose="020F0502020204030204" pitchFamily="34" charset="0"/>
              </a:rPr>
              <a:t>Leaflet</a:t>
            </a:r>
            <a:r>
              <a:rPr lang="en-US" sz="3333" b="1" dirty="0">
                <a:solidFill>
                  <a:srgbClr val="F9EEE7"/>
                </a:solidFill>
                <a:latin typeface="Quattrocento" panose="02020502030000000404" pitchFamily="18" charset="0"/>
                <a:ea typeface="Quattrocento" pitchFamily="34" charset="-122"/>
                <a:cs typeface="Calibri" panose="020F0502020204030204" pitchFamily="34" charset="0"/>
              </a:rPr>
              <a:t> Map</a:t>
            </a:r>
            <a:endParaRPr lang="en-US" sz="3333" b="1" dirty="0">
              <a:latin typeface="Quattrocento" panose="02020502030000000404" pitchFamily="18" charset="0"/>
              <a:cs typeface="Calibri" panose="020F0502020204030204" pitchFamily="34" charset="0"/>
            </a:endParaRPr>
          </a:p>
        </p:txBody>
      </p:sp>
      <p:sp>
        <p:nvSpPr>
          <p:cNvPr id="15" name="Text 4">
            <a:extLst>
              <a:ext uri="{FF2B5EF4-FFF2-40B4-BE49-F238E27FC236}">
                <a16:creationId xmlns:a16="http://schemas.microsoft.com/office/drawing/2014/main" id="{CDD518C6-E9CF-D79F-704D-619A7081B8B1}"/>
              </a:ext>
            </a:extLst>
          </p:cNvPr>
          <p:cNvSpPr/>
          <p:nvPr/>
        </p:nvSpPr>
        <p:spPr>
          <a:xfrm>
            <a:off x="4871473" y="1847138"/>
            <a:ext cx="2407743" cy="294772"/>
          </a:xfrm>
          <a:prstGeom prst="rect">
            <a:avLst/>
          </a:prstGeom>
          <a:noFill/>
          <a:ln/>
        </p:spPr>
        <p:txBody>
          <a:bodyPr wrap="none" lIns="0" tIns="0" rIns="0" bIns="0" rtlCol="0" anchor="ctr"/>
          <a:lstStyle/>
          <a:p>
            <a:pPr algn="ctr">
              <a:lnSpc>
                <a:spcPts val="1750"/>
              </a:lnSpc>
            </a:pPr>
            <a:r>
              <a:rPr lang="en-US" sz="3000" b="1" dirty="0">
                <a:solidFill>
                  <a:srgbClr val="F9EEE7"/>
                </a:solidFill>
                <a:latin typeface="Quattrocento" panose="02020502030000000404" pitchFamily="18" charset="0"/>
                <a:ea typeface="Quattrocento" pitchFamily="34" charset="-122"/>
                <a:cs typeface="Calibri" panose="020F0502020204030204" pitchFamily="34" charset="0"/>
              </a:rPr>
              <a:t>Chart Visualizations</a:t>
            </a:r>
            <a:endParaRPr lang="en-US" sz="3000" b="1" dirty="0">
              <a:latin typeface="Quattrocento" panose="02020502030000000404" pitchFamily="18" charset="0"/>
              <a:cs typeface="Calibri" panose="020F0502020204030204" pitchFamily="34" charset="0"/>
            </a:endParaRPr>
          </a:p>
        </p:txBody>
      </p:sp>
      <p:sp>
        <p:nvSpPr>
          <p:cNvPr id="16" name="Text 4">
            <a:extLst>
              <a:ext uri="{FF2B5EF4-FFF2-40B4-BE49-F238E27FC236}">
                <a16:creationId xmlns:a16="http://schemas.microsoft.com/office/drawing/2014/main" id="{C33B3974-29D3-B652-0EC8-40614243B0E2}"/>
              </a:ext>
            </a:extLst>
          </p:cNvPr>
          <p:cNvSpPr/>
          <p:nvPr/>
        </p:nvSpPr>
        <p:spPr>
          <a:xfrm>
            <a:off x="8897002" y="1875060"/>
            <a:ext cx="2407743" cy="294772"/>
          </a:xfrm>
          <a:prstGeom prst="rect">
            <a:avLst/>
          </a:prstGeom>
          <a:noFill/>
          <a:ln/>
        </p:spPr>
        <p:txBody>
          <a:bodyPr wrap="none" lIns="0" tIns="0" rIns="0" bIns="0" rtlCol="0" anchor="ctr"/>
          <a:lstStyle/>
          <a:p>
            <a:pPr algn="ctr">
              <a:lnSpc>
                <a:spcPts val="1750"/>
              </a:lnSpc>
            </a:pPr>
            <a:r>
              <a:rPr lang="en-US" sz="3000" b="1" dirty="0">
                <a:solidFill>
                  <a:srgbClr val="F9EEE7"/>
                </a:solidFill>
                <a:latin typeface="Quattrocento" panose="02020502030000000404" pitchFamily="18" charset="0"/>
                <a:cs typeface="Calibri" panose="020F0502020204030204" pitchFamily="34" charset="0"/>
              </a:rPr>
              <a:t>Policy Scenarios</a:t>
            </a:r>
            <a:endParaRPr lang="en-US" sz="3000" b="1" dirty="0">
              <a:latin typeface="Quattrocento" panose="02020502030000000404" pitchFamily="18" charset="0"/>
              <a:cs typeface="Calibri" panose="020F0502020204030204" pitchFamily="34" charset="0"/>
            </a:endParaRPr>
          </a:p>
        </p:txBody>
      </p:sp>
      <p:sp>
        <p:nvSpPr>
          <p:cNvPr id="17" name="Text 5">
            <a:extLst>
              <a:ext uri="{FF2B5EF4-FFF2-40B4-BE49-F238E27FC236}">
                <a16:creationId xmlns:a16="http://schemas.microsoft.com/office/drawing/2014/main" id="{0F040608-7163-2E38-6223-2AEA4C0C6EDA}"/>
              </a:ext>
            </a:extLst>
          </p:cNvPr>
          <p:cNvSpPr/>
          <p:nvPr/>
        </p:nvSpPr>
        <p:spPr>
          <a:xfrm>
            <a:off x="292991" y="2388967"/>
            <a:ext cx="3498900" cy="1548567"/>
          </a:xfrm>
          <a:prstGeom prst="rect">
            <a:avLst/>
          </a:prstGeom>
          <a:noFill/>
          <a:ln/>
        </p:spPr>
        <p:txBody>
          <a:bodyPr wrap="square" lIns="0" tIns="0" rIns="0" bIns="0" rtlCol="0" anchor="t"/>
          <a:lstStyle/>
          <a:p>
            <a:r>
              <a:rPr lang="en-US" sz="2100" dirty="0">
                <a:solidFill>
                  <a:srgbClr val="F3CABC"/>
                </a:solidFill>
                <a:latin typeface="Quattrocento" panose="02020502030000000404" pitchFamily="18" charset="0"/>
                <a:cs typeface="Calibri" panose="020F0502020204030204" pitchFamily="34" charset="0"/>
              </a:rPr>
              <a:t>8,000+ tracts colored by VMT index with DAC overlay, hotspot highlighting, and toggleable intensity view</a:t>
            </a:r>
          </a:p>
        </p:txBody>
      </p:sp>
      <p:pic>
        <p:nvPicPr>
          <p:cNvPr id="1026" name="Picture 2">
            <a:extLst>
              <a:ext uri="{FF2B5EF4-FFF2-40B4-BE49-F238E27FC236}">
                <a16:creationId xmlns:a16="http://schemas.microsoft.com/office/drawing/2014/main" id="{E65F9406-A38E-0123-972E-933A6A772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8617" y="4324435"/>
            <a:ext cx="3864514" cy="242773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5">
            <a:extLst>
              <a:ext uri="{FF2B5EF4-FFF2-40B4-BE49-F238E27FC236}">
                <a16:creationId xmlns:a16="http://schemas.microsoft.com/office/drawing/2014/main" id="{B7940BF4-7C02-C4E0-42D5-6E92F9695C92}"/>
              </a:ext>
            </a:extLst>
          </p:cNvPr>
          <p:cNvSpPr/>
          <p:nvPr/>
        </p:nvSpPr>
        <p:spPr>
          <a:xfrm>
            <a:off x="4325894" y="2388967"/>
            <a:ext cx="3498900" cy="1877358"/>
          </a:xfrm>
          <a:prstGeom prst="rect">
            <a:avLst/>
          </a:prstGeom>
          <a:noFill/>
          <a:ln/>
        </p:spPr>
        <p:txBody>
          <a:bodyPr wrap="square" lIns="0" tIns="0" rIns="0" bIns="0" rtlCol="0" anchor="t"/>
          <a:lstStyle/>
          <a:p>
            <a:r>
              <a:rPr lang="en-US" sz="2100" dirty="0">
                <a:solidFill>
                  <a:srgbClr val="F3CABC"/>
                </a:solidFill>
                <a:latin typeface="Quattrocento" panose="02020502030000000404" pitchFamily="18" charset="0"/>
                <a:cs typeface="Calibri" panose="020F0502020204030204" pitchFamily="34" charset="0"/>
              </a:rPr>
              <a:t>VMT-reduction scenarios by policy approach, GHG trajectory projections, and equity bar charts with literature-informed ranges</a:t>
            </a:r>
          </a:p>
        </p:txBody>
      </p:sp>
      <p:sp>
        <p:nvSpPr>
          <p:cNvPr id="19" name="Text 5">
            <a:extLst>
              <a:ext uri="{FF2B5EF4-FFF2-40B4-BE49-F238E27FC236}">
                <a16:creationId xmlns:a16="http://schemas.microsoft.com/office/drawing/2014/main" id="{A93C699B-745F-E006-E5B6-721B0D97564C}"/>
              </a:ext>
            </a:extLst>
          </p:cNvPr>
          <p:cNvSpPr/>
          <p:nvPr/>
        </p:nvSpPr>
        <p:spPr>
          <a:xfrm>
            <a:off x="8351423" y="2388967"/>
            <a:ext cx="3498900" cy="1457691"/>
          </a:xfrm>
          <a:prstGeom prst="rect">
            <a:avLst/>
          </a:prstGeom>
          <a:noFill/>
          <a:ln/>
        </p:spPr>
        <p:txBody>
          <a:bodyPr wrap="square" lIns="0" tIns="0" rIns="0" bIns="0" rtlCol="0" anchor="t"/>
          <a:lstStyle/>
          <a:p>
            <a:r>
              <a:rPr lang="en-US" sz="2100" dirty="0">
                <a:solidFill>
                  <a:srgbClr val="F3CABC"/>
                </a:solidFill>
                <a:latin typeface="Quattrocento" panose="02020502030000000404" pitchFamily="18" charset="0"/>
                <a:cs typeface="Calibri" panose="020F0502020204030204" pitchFamily="34" charset="0"/>
              </a:rPr>
              <a:t>Policy transfer calculator, climate-floor scoring, corridor diagnostics, and downloadable executive briefs</a:t>
            </a:r>
          </a:p>
        </p:txBody>
      </p:sp>
      <p:pic>
        <p:nvPicPr>
          <p:cNvPr id="20" name="Picture 19">
            <a:extLst>
              <a:ext uri="{FF2B5EF4-FFF2-40B4-BE49-F238E27FC236}">
                <a16:creationId xmlns:a16="http://schemas.microsoft.com/office/drawing/2014/main" id="{36831032-F592-51FA-CC9B-32375AD05D79}"/>
              </a:ext>
            </a:extLst>
          </p:cNvPr>
          <p:cNvPicPr>
            <a:picLocks noChangeAspect="1"/>
          </p:cNvPicPr>
          <p:nvPr/>
        </p:nvPicPr>
        <p:blipFill>
          <a:blip r:embed="rId4"/>
          <a:stretch>
            <a:fillRect/>
          </a:stretch>
        </p:blipFill>
        <p:spPr>
          <a:xfrm>
            <a:off x="565876" y="4075744"/>
            <a:ext cx="2953130" cy="2676423"/>
          </a:xfrm>
          <a:prstGeom prst="rect">
            <a:avLst/>
          </a:prstGeom>
        </p:spPr>
      </p:pic>
      <p:pic>
        <p:nvPicPr>
          <p:cNvPr id="22" name="Picture 21">
            <a:extLst>
              <a:ext uri="{FF2B5EF4-FFF2-40B4-BE49-F238E27FC236}">
                <a16:creationId xmlns:a16="http://schemas.microsoft.com/office/drawing/2014/main" id="{57E5B66D-D5DA-C545-BE13-223A5962C7F6}"/>
              </a:ext>
            </a:extLst>
          </p:cNvPr>
          <p:cNvPicPr>
            <a:picLocks noChangeAspect="1"/>
          </p:cNvPicPr>
          <p:nvPr/>
        </p:nvPicPr>
        <p:blipFill>
          <a:blip r:embed="rId5"/>
          <a:stretch>
            <a:fillRect/>
          </a:stretch>
        </p:blipFill>
        <p:spPr>
          <a:xfrm>
            <a:off x="4199017" y="4466216"/>
            <a:ext cx="3794168" cy="2196946"/>
          </a:xfrm>
          <a:prstGeom prst="rect">
            <a:avLst/>
          </a:prstGeom>
        </p:spPr>
      </p:pic>
    </p:spTree>
    <p:extLst>
      <p:ext uri="{BB962C8B-B14F-4D97-AF65-F5344CB8AC3E}">
        <p14:creationId xmlns:p14="http://schemas.microsoft.com/office/powerpoint/2010/main" val="7920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026"/>
                                        </p:tgtEl>
                                        <p:attrNameLst>
                                          <p:attrName>style.visibility</p:attrName>
                                        </p:attrNameLst>
                                      </p:cBhvr>
                                      <p:to>
                                        <p:strVal val="visible"/>
                                      </p:to>
                                    </p:set>
                                    <p:animEffect transition="in" filter="fade">
                                      <p:cBhvr>
                                        <p:cTn id="45" dur="500"/>
                                        <p:tgtEl>
                                          <p:spTgt spid="10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3" grpId="0" animBg="1"/>
      <p:bldP spid="14" grpId="0" animBg="1"/>
      <p:bldP spid="15" grpId="0" animBg="1"/>
      <p:bldP spid="16"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2">
            <a:extLst>
              <a:ext uri="{FF2B5EF4-FFF2-40B4-BE49-F238E27FC236}">
                <a16:creationId xmlns:a16="http://schemas.microsoft.com/office/drawing/2014/main" id="{D45927C3-4B20-347E-C27B-8D3C39EF4F43}"/>
              </a:ext>
            </a:extLst>
          </p:cNvPr>
          <p:cNvSpPr/>
          <p:nvPr/>
        </p:nvSpPr>
        <p:spPr>
          <a:xfrm>
            <a:off x="4197214" y="3852333"/>
            <a:ext cx="3864513" cy="2910417"/>
          </a:xfrm>
          <a:prstGeom prst="roundRect">
            <a:avLst/>
          </a:prstGeom>
          <a:solidFill>
            <a:srgbClr val="315251"/>
          </a:solidFill>
          <a:ln/>
        </p:spPr>
        <p:txBody>
          <a:bodyPr/>
          <a:lstStyle/>
          <a:p>
            <a:endParaRPr lang="en-US" sz="1500" dirty="0"/>
          </a:p>
        </p:txBody>
      </p:sp>
      <p:sp>
        <p:nvSpPr>
          <p:cNvPr id="9" name="Shape 2">
            <a:extLst>
              <a:ext uri="{FF2B5EF4-FFF2-40B4-BE49-F238E27FC236}">
                <a16:creationId xmlns:a16="http://schemas.microsoft.com/office/drawing/2014/main" id="{455D5C7C-AF6C-A1EA-AC21-E33A5E2315B5}"/>
              </a:ext>
            </a:extLst>
          </p:cNvPr>
          <p:cNvSpPr/>
          <p:nvPr/>
        </p:nvSpPr>
        <p:spPr>
          <a:xfrm>
            <a:off x="88479" y="3852333"/>
            <a:ext cx="3864513" cy="2910417"/>
          </a:xfrm>
          <a:prstGeom prst="roundRect">
            <a:avLst/>
          </a:prstGeom>
          <a:solidFill>
            <a:srgbClr val="315251"/>
          </a:solidFill>
          <a:ln/>
        </p:spPr>
        <p:txBody>
          <a:bodyPr/>
          <a:lstStyle/>
          <a:p>
            <a:endParaRPr lang="en-US" sz="1500" dirty="0"/>
          </a:p>
        </p:txBody>
      </p:sp>
      <p:sp>
        <p:nvSpPr>
          <p:cNvPr id="4" name="TextBox 3">
            <a:extLst>
              <a:ext uri="{FF2B5EF4-FFF2-40B4-BE49-F238E27FC236}">
                <a16:creationId xmlns:a16="http://schemas.microsoft.com/office/drawing/2014/main" id="{424D0D4B-0F47-875C-6CBA-7883118E743D}"/>
              </a:ext>
            </a:extLst>
          </p:cNvPr>
          <p:cNvSpPr txBox="1"/>
          <p:nvPr/>
        </p:nvSpPr>
        <p:spPr>
          <a:xfrm>
            <a:off x="213632" y="3873500"/>
            <a:ext cx="3614208" cy="861774"/>
          </a:xfrm>
          <a:prstGeom prst="rect">
            <a:avLst/>
          </a:prstGeom>
          <a:noFill/>
        </p:spPr>
        <p:txBody>
          <a:bodyPr wrap="square" rtlCol="0">
            <a:spAutoFit/>
          </a:bodyPr>
          <a:lstStyle/>
          <a:p>
            <a:pPr algn="ctr"/>
            <a:r>
              <a:rPr lang="en-US" sz="5000" b="1" dirty="0">
                <a:solidFill>
                  <a:srgbClr val="E3B99E"/>
                </a:solidFill>
                <a:latin typeface="Quattrocento" panose="02020502030000000404" pitchFamily="18" charset="0"/>
                <a:cs typeface="Calibri" panose="020F0502020204030204" pitchFamily="34" charset="0"/>
              </a:rPr>
              <a:t>309</a:t>
            </a:r>
            <a:endParaRPr lang="en-US" sz="5000" dirty="0">
              <a:solidFill>
                <a:srgbClr val="E3B99E"/>
              </a:solidFill>
              <a:latin typeface="Quattrocento" panose="02020502030000000404" pitchFamily="18" charset="0"/>
              <a:cs typeface="Calibri" panose="020F0502020204030204" pitchFamily="34" charset="0"/>
            </a:endParaRPr>
          </a:p>
        </p:txBody>
      </p:sp>
      <p:sp>
        <p:nvSpPr>
          <p:cNvPr id="5" name="TextBox 4">
            <a:extLst>
              <a:ext uri="{FF2B5EF4-FFF2-40B4-BE49-F238E27FC236}">
                <a16:creationId xmlns:a16="http://schemas.microsoft.com/office/drawing/2014/main" id="{8EF19FD3-92DC-6E99-F58E-722D04167D43}"/>
              </a:ext>
            </a:extLst>
          </p:cNvPr>
          <p:cNvSpPr txBox="1"/>
          <p:nvPr/>
        </p:nvSpPr>
        <p:spPr>
          <a:xfrm>
            <a:off x="4943620" y="3873500"/>
            <a:ext cx="2380766" cy="861774"/>
          </a:xfrm>
          <a:prstGeom prst="rect">
            <a:avLst/>
          </a:prstGeom>
          <a:noFill/>
        </p:spPr>
        <p:txBody>
          <a:bodyPr wrap="square" rtlCol="0">
            <a:spAutoFit/>
          </a:bodyPr>
          <a:lstStyle/>
          <a:p>
            <a:pPr algn="ctr"/>
            <a:r>
              <a:rPr lang="en-US" sz="5000" b="1" dirty="0">
                <a:solidFill>
                  <a:srgbClr val="E3B99E"/>
                </a:solidFill>
                <a:latin typeface="Quattrocento" panose="02020502030000000404" pitchFamily="18" charset="0"/>
                <a:cs typeface="Calibri" panose="020F0502020204030204" pitchFamily="34" charset="0"/>
              </a:rPr>
              <a:t>23.4</a:t>
            </a:r>
            <a:endParaRPr lang="en-US" sz="5000" dirty="0">
              <a:solidFill>
                <a:srgbClr val="E3B99E"/>
              </a:solidFill>
              <a:latin typeface="Quattrocento" panose="02020502030000000404" pitchFamily="18" charset="0"/>
              <a:cs typeface="Calibri" panose="020F0502020204030204" pitchFamily="34" charset="0"/>
            </a:endParaRPr>
          </a:p>
        </p:txBody>
      </p:sp>
      <p:sp>
        <p:nvSpPr>
          <p:cNvPr id="6" name="TextBox 5">
            <a:extLst>
              <a:ext uri="{FF2B5EF4-FFF2-40B4-BE49-F238E27FC236}">
                <a16:creationId xmlns:a16="http://schemas.microsoft.com/office/drawing/2014/main" id="{8C9A008B-3F80-DD1A-CC58-71B3347611AA}"/>
              </a:ext>
            </a:extLst>
          </p:cNvPr>
          <p:cNvSpPr txBox="1"/>
          <p:nvPr/>
        </p:nvSpPr>
        <p:spPr>
          <a:xfrm>
            <a:off x="4293909" y="5439310"/>
            <a:ext cx="3604180" cy="1323439"/>
          </a:xfrm>
          <a:prstGeom prst="rect">
            <a:avLst/>
          </a:prstGeom>
          <a:noFill/>
        </p:spPr>
        <p:txBody>
          <a:bodyPr wrap="square" rtlCol="0">
            <a:spAutoFit/>
          </a:bodyPr>
          <a:lstStyle/>
          <a:p>
            <a:r>
              <a:rPr lang="en-US" sz="2000" dirty="0">
                <a:solidFill>
                  <a:srgbClr val="F3CABC"/>
                </a:solidFill>
                <a:latin typeface="Quattrocento" panose="02020502030000000404" pitchFamily="18" charset="0"/>
                <a:cs typeface="Calibri" panose="020F0502020204030204" pitchFamily="34" charset="0"/>
              </a:rPr>
              <a:t>vs. 22.5 for non-DAC tracts:</a:t>
            </a:r>
          </a:p>
          <a:p>
            <a:r>
              <a:rPr lang="en-US" sz="2000" dirty="0">
                <a:solidFill>
                  <a:srgbClr val="F3CABC"/>
                </a:solidFill>
                <a:latin typeface="Quattrocento" panose="02020502030000000404" pitchFamily="18" charset="0"/>
                <a:cs typeface="Calibri" panose="020F0502020204030204" pitchFamily="34" charset="0"/>
              </a:rPr>
              <a:t>modest mean difference masking extreme corridor-level burdens</a:t>
            </a:r>
          </a:p>
        </p:txBody>
      </p:sp>
      <p:sp>
        <p:nvSpPr>
          <p:cNvPr id="8" name="TextBox 7">
            <a:extLst>
              <a:ext uri="{FF2B5EF4-FFF2-40B4-BE49-F238E27FC236}">
                <a16:creationId xmlns:a16="http://schemas.microsoft.com/office/drawing/2014/main" id="{7B6C8412-BD4A-A6D4-0C75-14D24CF93F96}"/>
              </a:ext>
            </a:extLst>
          </p:cNvPr>
          <p:cNvSpPr txBox="1"/>
          <p:nvPr/>
        </p:nvSpPr>
        <p:spPr>
          <a:xfrm>
            <a:off x="88479" y="5560203"/>
            <a:ext cx="3844272" cy="1015663"/>
          </a:xfrm>
          <a:prstGeom prst="rect">
            <a:avLst/>
          </a:prstGeom>
          <a:noFill/>
        </p:spPr>
        <p:txBody>
          <a:bodyPr wrap="square">
            <a:spAutoFit/>
          </a:bodyPr>
          <a:lstStyle/>
          <a:p>
            <a:pPr>
              <a:buNone/>
            </a:pPr>
            <a:r>
              <a:rPr lang="en-US" sz="2000" dirty="0">
                <a:solidFill>
                  <a:srgbClr val="F3CABC"/>
                </a:solidFill>
                <a:latin typeface="Quattrocento" panose="02020502030000000404" pitchFamily="18" charset="0"/>
                <a:cs typeface="Calibri" panose="020F0502020204030204" pitchFamily="34" charset="0"/>
              </a:rPr>
              <a:t>High-VMT </a:t>
            </a:r>
            <a:r>
              <a:rPr lang="en-US" sz="2000" i="1" dirty="0">
                <a:solidFill>
                  <a:srgbClr val="F3CABC"/>
                </a:solidFill>
                <a:latin typeface="Quattrocento" panose="02020502030000000404" pitchFamily="18" charset="0"/>
                <a:cs typeface="Calibri" panose="020F0502020204030204" pitchFamily="34" charset="0"/>
              </a:rPr>
              <a:t>and</a:t>
            </a:r>
            <a:r>
              <a:rPr lang="en-US" sz="2000" dirty="0">
                <a:solidFill>
                  <a:srgbClr val="F3CABC"/>
                </a:solidFill>
                <a:latin typeface="Quattrocento" panose="02020502030000000404" pitchFamily="18" charset="0"/>
                <a:cs typeface="Calibri" panose="020F0502020204030204" pitchFamily="34" charset="0"/>
              </a:rPr>
              <a:t>  high-pollution  concentrated along I-710, I-105, SR-99, and I-80</a:t>
            </a:r>
          </a:p>
        </p:txBody>
      </p:sp>
      <p:pic>
        <p:nvPicPr>
          <p:cNvPr id="11" name="Picture 10">
            <a:extLst>
              <a:ext uri="{FF2B5EF4-FFF2-40B4-BE49-F238E27FC236}">
                <a16:creationId xmlns:a16="http://schemas.microsoft.com/office/drawing/2014/main" id="{A162794B-B09C-CC2E-236B-7674378D7026}"/>
              </a:ext>
            </a:extLst>
          </p:cNvPr>
          <p:cNvPicPr>
            <a:picLocks noChangeAspect="1"/>
          </p:cNvPicPr>
          <p:nvPr/>
        </p:nvPicPr>
        <p:blipFill>
          <a:blip r:embed="rId2"/>
          <a:stretch>
            <a:fillRect/>
          </a:stretch>
        </p:blipFill>
        <p:spPr>
          <a:xfrm>
            <a:off x="4943620" y="105833"/>
            <a:ext cx="6327806" cy="3554810"/>
          </a:xfrm>
          <a:prstGeom prst="roundRect">
            <a:avLst/>
          </a:prstGeom>
        </p:spPr>
      </p:pic>
      <p:sp>
        <p:nvSpPr>
          <p:cNvPr id="14" name="Shape 2">
            <a:extLst>
              <a:ext uri="{FF2B5EF4-FFF2-40B4-BE49-F238E27FC236}">
                <a16:creationId xmlns:a16="http://schemas.microsoft.com/office/drawing/2014/main" id="{F8BD8FD5-0E58-1C7F-8032-C0472AC8ED30}"/>
              </a:ext>
            </a:extLst>
          </p:cNvPr>
          <p:cNvSpPr/>
          <p:nvPr/>
        </p:nvSpPr>
        <p:spPr>
          <a:xfrm>
            <a:off x="8210317" y="3852332"/>
            <a:ext cx="3864513" cy="2910417"/>
          </a:xfrm>
          <a:prstGeom prst="roundRect">
            <a:avLst/>
          </a:prstGeom>
          <a:solidFill>
            <a:srgbClr val="315251"/>
          </a:solidFill>
          <a:ln/>
        </p:spPr>
        <p:txBody>
          <a:bodyPr/>
          <a:lstStyle/>
          <a:p>
            <a:endParaRPr lang="en-US" sz="1500" dirty="0"/>
          </a:p>
        </p:txBody>
      </p:sp>
      <p:sp>
        <p:nvSpPr>
          <p:cNvPr id="15" name="TextBox 14">
            <a:extLst>
              <a:ext uri="{FF2B5EF4-FFF2-40B4-BE49-F238E27FC236}">
                <a16:creationId xmlns:a16="http://schemas.microsoft.com/office/drawing/2014/main" id="{9531073B-7D25-C17D-EC6F-09A77B95C717}"/>
              </a:ext>
            </a:extLst>
          </p:cNvPr>
          <p:cNvSpPr txBox="1"/>
          <p:nvPr/>
        </p:nvSpPr>
        <p:spPr>
          <a:xfrm>
            <a:off x="108721" y="4692650"/>
            <a:ext cx="3844272" cy="451342"/>
          </a:xfrm>
          <a:prstGeom prst="rect">
            <a:avLst/>
          </a:prstGeom>
          <a:noFill/>
        </p:spPr>
        <p:txBody>
          <a:bodyPr wrap="square">
            <a:spAutoFit/>
          </a:bodyPr>
          <a:lstStyle/>
          <a:p>
            <a:pPr algn="ctr">
              <a:buNone/>
            </a:pPr>
            <a:r>
              <a:rPr lang="en-US" sz="2333" dirty="0">
                <a:solidFill>
                  <a:srgbClr val="E3B99E"/>
                </a:solidFill>
                <a:latin typeface="Quattrocento" panose="02020502030000000404" pitchFamily="18" charset="0"/>
                <a:cs typeface="Calibri" panose="020F0502020204030204" pitchFamily="34" charset="0"/>
              </a:rPr>
              <a:t>Hotspot Tracts</a:t>
            </a:r>
          </a:p>
        </p:txBody>
      </p:sp>
      <p:sp>
        <p:nvSpPr>
          <p:cNvPr id="16" name="TextBox 15">
            <a:extLst>
              <a:ext uri="{FF2B5EF4-FFF2-40B4-BE49-F238E27FC236}">
                <a16:creationId xmlns:a16="http://schemas.microsoft.com/office/drawing/2014/main" id="{C0A488FC-4F99-2245-065A-54DDF75B4173}"/>
              </a:ext>
            </a:extLst>
          </p:cNvPr>
          <p:cNvSpPr txBox="1"/>
          <p:nvPr/>
        </p:nvSpPr>
        <p:spPr>
          <a:xfrm>
            <a:off x="4173863" y="4719886"/>
            <a:ext cx="3844272" cy="451342"/>
          </a:xfrm>
          <a:prstGeom prst="rect">
            <a:avLst/>
          </a:prstGeom>
          <a:noFill/>
        </p:spPr>
        <p:txBody>
          <a:bodyPr wrap="square">
            <a:spAutoFit/>
          </a:bodyPr>
          <a:lstStyle/>
          <a:p>
            <a:pPr algn="ctr">
              <a:buNone/>
            </a:pPr>
            <a:r>
              <a:rPr lang="en-US" sz="2333" dirty="0">
                <a:solidFill>
                  <a:srgbClr val="E3B99E"/>
                </a:solidFill>
                <a:latin typeface="Quattrocento" panose="02020502030000000404" pitchFamily="18" charset="0"/>
                <a:cs typeface="Calibri" panose="020F0502020204030204" pitchFamily="34" charset="0"/>
              </a:rPr>
              <a:t>DAC mile/day VMT</a:t>
            </a:r>
          </a:p>
        </p:txBody>
      </p:sp>
      <p:sp>
        <p:nvSpPr>
          <p:cNvPr id="17" name="TextBox 16">
            <a:extLst>
              <a:ext uri="{FF2B5EF4-FFF2-40B4-BE49-F238E27FC236}">
                <a16:creationId xmlns:a16="http://schemas.microsoft.com/office/drawing/2014/main" id="{0D802E42-3B84-A4E5-BE44-B79D2E757AFD}"/>
              </a:ext>
            </a:extLst>
          </p:cNvPr>
          <p:cNvSpPr txBox="1"/>
          <p:nvPr/>
        </p:nvSpPr>
        <p:spPr>
          <a:xfrm>
            <a:off x="8952190" y="3873500"/>
            <a:ext cx="2380766" cy="861774"/>
          </a:xfrm>
          <a:prstGeom prst="rect">
            <a:avLst/>
          </a:prstGeom>
          <a:noFill/>
        </p:spPr>
        <p:txBody>
          <a:bodyPr wrap="square" rtlCol="0">
            <a:spAutoFit/>
          </a:bodyPr>
          <a:lstStyle/>
          <a:p>
            <a:pPr algn="ctr"/>
            <a:r>
              <a:rPr lang="en-US" sz="5000" b="1" dirty="0">
                <a:solidFill>
                  <a:srgbClr val="E3B99E"/>
                </a:solidFill>
                <a:latin typeface="Quattrocento" panose="02020502030000000404" pitchFamily="18" charset="0"/>
                <a:cs typeface="Calibri" panose="020F0502020204030204" pitchFamily="34" charset="0"/>
              </a:rPr>
              <a:t>3.35</a:t>
            </a:r>
            <a:endParaRPr lang="en-US" sz="5000" dirty="0">
              <a:solidFill>
                <a:srgbClr val="E3B99E"/>
              </a:solidFill>
              <a:latin typeface="Quattrocento" panose="02020502030000000404" pitchFamily="18" charset="0"/>
              <a:cs typeface="Calibri" panose="020F0502020204030204" pitchFamily="34" charset="0"/>
            </a:endParaRPr>
          </a:p>
        </p:txBody>
      </p:sp>
      <p:sp>
        <p:nvSpPr>
          <p:cNvPr id="18" name="TextBox 17">
            <a:extLst>
              <a:ext uri="{FF2B5EF4-FFF2-40B4-BE49-F238E27FC236}">
                <a16:creationId xmlns:a16="http://schemas.microsoft.com/office/drawing/2014/main" id="{88C76186-8F58-CA3F-8CAD-E8937D9B6A08}"/>
              </a:ext>
            </a:extLst>
          </p:cNvPr>
          <p:cNvSpPr txBox="1"/>
          <p:nvPr/>
        </p:nvSpPr>
        <p:spPr>
          <a:xfrm>
            <a:off x="8262357" y="4692650"/>
            <a:ext cx="3844272" cy="451342"/>
          </a:xfrm>
          <a:prstGeom prst="rect">
            <a:avLst/>
          </a:prstGeom>
          <a:noFill/>
        </p:spPr>
        <p:txBody>
          <a:bodyPr wrap="square">
            <a:spAutoFit/>
          </a:bodyPr>
          <a:lstStyle/>
          <a:p>
            <a:pPr algn="ctr">
              <a:buNone/>
            </a:pPr>
            <a:r>
              <a:rPr lang="en-US" sz="2333" dirty="0">
                <a:solidFill>
                  <a:srgbClr val="E3B99E"/>
                </a:solidFill>
                <a:latin typeface="Quattrocento" panose="02020502030000000404" pitchFamily="18" charset="0"/>
                <a:cs typeface="Calibri" panose="020F0502020204030204" pitchFamily="34" charset="0"/>
              </a:rPr>
              <a:t>tCO</a:t>
            </a:r>
            <a:r>
              <a:rPr lang="en-US" sz="2333" baseline="-25000" dirty="0">
                <a:solidFill>
                  <a:srgbClr val="E3B99E"/>
                </a:solidFill>
                <a:latin typeface="Quattrocento" panose="02020502030000000404" pitchFamily="18" charset="0"/>
                <a:cs typeface="Calibri" panose="020F0502020204030204" pitchFamily="34" charset="0"/>
              </a:rPr>
              <a:t>2</a:t>
            </a:r>
            <a:r>
              <a:rPr lang="en-US" sz="2333" dirty="0">
                <a:solidFill>
                  <a:srgbClr val="E3B99E"/>
                </a:solidFill>
                <a:latin typeface="Quattrocento" panose="02020502030000000404" pitchFamily="18" charset="0"/>
                <a:cs typeface="Calibri" panose="020F0502020204030204" pitchFamily="34" charset="0"/>
              </a:rPr>
              <a:t> per tract</a:t>
            </a:r>
          </a:p>
        </p:txBody>
      </p:sp>
      <p:sp>
        <p:nvSpPr>
          <p:cNvPr id="19" name="TextBox 18">
            <a:extLst>
              <a:ext uri="{FF2B5EF4-FFF2-40B4-BE49-F238E27FC236}">
                <a16:creationId xmlns:a16="http://schemas.microsoft.com/office/drawing/2014/main" id="{DA8500E9-73EE-3773-24B0-42BCBD191525}"/>
              </a:ext>
            </a:extLst>
          </p:cNvPr>
          <p:cNvSpPr txBox="1"/>
          <p:nvPr/>
        </p:nvSpPr>
        <p:spPr>
          <a:xfrm>
            <a:off x="8271468" y="5622735"/>
            <a:ext cx="3911468" cy="707886"/>
          </a:xfrm>
          <a:prstGeom prst="rect">
            <a:avLst/>
          </a:prstGeom>
          <a:noFill/>
        </p:spPr>
        <p:txBody>
          <a:bodyPr wrap="square" rtlCol="0">
            <a:spAutoFit/>
          </a:bodyPr>
          <a:lstStyle/>
          <a:p>
            <a:r>
              <a:rPr lang="en-US" sz="2000" dirty="0">
                <a:solidFill>
                  <a:srgbClr val="F3CABC"/>
                </a:solidFill>
                <a:latin typeface="Quattrocento" panose="02020502030000000404" pitchFamily="18" charset="0"/>
                <a:cs typeface="Calibri" panose="020F0502020204030204" pitchFamily="34" charset="0"/>
              </a:rPr>
              <a:t>Estimated annual GHG burden at hotspot corridors</a:t>
            </a:r>
          </a:p>
        </p:txBody>
      </p:sp>
      <p:sp>
        <p:nvSpPr>
          <p:cNvPr id="20" name="TextBox 19">
            <a:extLst>
              <a:ext uri="{FF2B5EF4-FFF2-40B4-BE49-F238E27FC236}">
                <a16:creationId xmlns:a16="http://schemas.microsoft.com/office/drawing/2014/main" id="{F7B5F423-C4F1-2B4A-451A-7939F0EC1347}"/>
              </a:ext>
            </a:extLst>
          </p:cNvPr>
          <p:cNvSpPr txBox="1"/>
          <p:nvPr/>
        </p:nvSpPr>
        <p:spPr>
          <a:xfrm>
            <a:off x="-66168" y="234220"/>
            <a:ext cx="5009788" cy="2554545"/>
          </a:xfrm>
          <a:prstGeom prst="rect">
            <a:avLst/>
          </a:prstGeom>
          <a:noFill/>
        </p:spPr>
        <p:txBody>
          <a:bodyPr wrap="square" rtlCol="0">
            <a:spAutoFit/>
          </a:bodyPr>
          <a:lstStyle/>
          <a:p>
            <a:pPr algn="ctr"/>
            <a:r>
              <a:rPr lang="en-US" sz="4000" b="1" dirty="0">
                <a:solidFill>
                  <a:srgbClr val="E8967A"/>
                </a:solidFill>
                <a:latin typeface="Quattrocento" panose="02020502030000000404" pitchFamily="18" charset="0"/>
                <a:cs typeface="Calibri" panose="020F0502020204030204" pitchFamily="34" charset="0"/>
              </a:rPr>
              <a:t>Data Stories: Hotspot Corridors Face Highest Burdens</a:t>
            </a:r>
            <a:endParaRPr lang="en-US" sz="4000" dirty="0">
              <a:solidFill>
                <a:srgbClr val="E8967A"/>
              </a:solidFill>
              <a:latin typeface="Quattrocento" panose="02020502030000000404" pitchFamily="18" charset="0"/>
              <a:cs typeface="Calibri" panose="020F0502020204030204" pitchFamily="34" charset="0"/>
            </a:endParaRPr>
          </a:p>
        </p:txBody>
      </p:sp>
    </p:spTree>
    <p:extLst>
      <p:ext uri="{BB962C8B-B14F-4D97-AF65-F5344CB8AC3E}">
        <p14:creationId xmlns:p14="http://schemas.microsoft.com/office/powerpoint/2010/main" val="321208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0-#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1+#ppt_w/2"/>
                                          </p:val>
                                        </p:tav>
                                        <p:tav tm="100000">
                                          <p:val>
                                            <p:strVal val="#ppt_x"/>
                                          </p:val>
                                        </p:tav>
                                      </p:tavLst>
                                    </p:anim>
                                    <p:anim calcmode="lin" valueType="num">
                                      <p:cBhvr additive="base">
                                        <p:cTn id="54" dur="500" fill="hold"/>
                                        <p:tgtEl>
                                          <p:spTgt spid="18"/>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1+#ppt_w/2"/>
                                          </p:val>
                                        </p:tav>
                                        <p:tav tm="100000">
                                          <p:val>
                                            <p:strVal val="#ppt_x"/>
                                          </p:val>
                                        </p:tav>
                                      </p:tavLst>
                                    </p:anim>
                                    <p:anim calcmode="lin" valueType="num">
                                      <p:cBhvr additive="base">
                                        <p:cTn id="58" dur="500" fill="hold"/>
                                        <p:tgtEl>
                                          <p:spTgt spid="19"/>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1+#ppt_w/2"/>
                                          </p:val>
                                        </p:tav>
                                        <p:tav tm="100000">
                                          <p:val>
                                            <p:strVal val="#ppt_x"/>
                                          </p:val>
                                        </p:tav>
                                      </p:tavLst>
                                    </p:anim>
                                    <p:anim calcmode="lin" valueType="num">
                                      <p:cBhvr additive="base">
                                        <p:cTn id="62"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4" grpId="0"/>
      <p:bldP spid="5" grpId="0"/>
      <p:bldP spid="6" grpId="0"/>
      <p:bldP spid="8" grpId="0"/>
      <p:bldP spid="14" grpId="0" animBg="1"/>
      <p:bldP spid="15" grpId="0"/>
      <p:bldP spid="16" grpId="0"/>
      <p:bldP spid="17" grpId="0"/>
      <p:bldP spid="18"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3A2F"/>
        </a:solidFill>
        <a:effectLst/>
      </p:bgPr>
    </p:bg>
    <p:spTree>
      <p:nvGrpSpPr>
        <p:cNvPr id="1" name=""/>
        <p:cNvGrpSpPr/>
        <p:nvPr/>
      </p:nvGrpSpPr>
      <p:grpSpPr>
        <a:xfrm>
          <a:off x="0" y="0"/>
          <a:ext cx="0" cy="0"/>
          <a:chOff x="0" y="0"/>
          <a:chExt cx="0" cy="0"/>
        </a:xfrm>
      </p:grpSpPr>
      <p:sp>
        <p:nvSpPr>
          <p:cNvPr id="2" name="TextBox 1"/>
          <p:cNvSpPr txBox="1"/>
          <p:nvPr/>
        </p:nvSpPr>
        <p:spPr>
          <a:xfrm>
            <a:off x="365455" y="254990"/>
            <a:ext cx="11460480" cy="615553"/>
          </a:xfrm>
          <a:prstGeom prst="rect">
            <a:avLst/>
          </a:prstGeom>
          <a:noFill/>
        </p:spPr>
        <p:txBody>
          <a:bodyPr wrap="square">
            <a:spAutoFit/>
          </a:bodyPr>
          <a:lstStyle/>
          <a:p>
            <a:pPr algn="l"/>
            <a:r>
              <a:rPr lang="en-US" sz="3400" b="1" dirty="0">
                <a:solidFill>
                  <a:srgbClr val="E8967A"/>
                </a:solidFill>
                <a:latin typeface="Quattrocento" panose="02020502030000000404" pitchFamily="18" charset="0"/>
              </a:rPr>
              <a:t>Health &amp; Equity Impacts in Overburdened Communities</a:t>
            </a:r>
          </a:p>
        </p:txBody>
      </p:sp>
      <p:sp>
        <p:nvSpPr>
          <p:cNvPr id="3" name="TextBox 2"/>
          <p:cNvSpPr txBox="1"/>
          <p:nvPr/>
        </p:nvSpPr>
        <p:spPr>
          <a:xfrm>
            <a:off x="365455" y="781544"/>
            <a:ext cx="10728655" cy="707886"/>
          </a:xfrm>
          <a:prstGeom prst="rect">
            <a:avLst/>
          </a:prstGeom>
          <a:noFill/>
        </p:spPr>
        <p:txBody>
          <a:bodyPr wrap="square">
            <a:spAutoFit/>
          </a:bodyPr>
          <a:lstStyle/>
          <a:p>
            <a:pPr algn="l"/>
            <a:r>
              <a:rPr sz="2000" b="1" dirty="0">
                <a:solidFill>
                  <a:srgbClr val="F5E6D3"/>
                </a:solidFill>
                <a:latin typeface="Quattrocento" panose="02020502030000000404" pitchFamily="18" charset="0"/>
              </a:rPr>
              <a:t>The communities closest to California's busiest freeways face </a:t>
            </a:r>
            <a:r>
              <a:rPr lang="en-US" sz="2000" b="1" dirty="0">
                <a:solidFill>
                  <a:srgbClr val="F5E6D3"/>
                </a:solidFill>
                <a:latin typeface="Quattrocento" panose="02020502030000000404" pitchFamily="18" charset="0"/>
              </a:rPr>
              <a:t>some of </a:t>
            </a:r>
            <a:r>
              <a:rPr sz="2000" b="1" dirty="0">
                <a:solidFill>
                  <a:srgbClr val="F5E6D3"/>
                </a:solidFill>
                <a:latin typeface="Quattrocento" panose="02020502030000000404" pitchFamily="18" charset="0"/>
              </a:rPr>
              <a:t>the worst air quality, the highest emissions exposure, and the fewest transportation alternatives.</a:t>
            </a:r>
          </a:p>
        </p:txBody>
      </p:sp>
      <p:sp>
        <p:nvSpPr>
          <p:cNvPr id="6" name="TextBox 5"/>
          <p:cNvSpPr txBox="1"/>
          <p:nvPr/>
        </p:nvSpPr>
        <p:spPr>
          <a:xfrm>
            <a:off x="11277295" y="6446520"/>
            <a:ext cx="548640" cy="274320"/>
          </a:xfrm>
          <a:prstGeom prst="rect">
            <a:avLst/>
          </a:prstGeom>
          <a:noFill/>
        </p:spPr>
        <p:txBody>
          <a:bodyPr wrap="square">
            <a:spAutoFit/>
          </a:bodyPr>
          <a:lstStyle/>
          <a:p>
            <a:pPr algn="r"/>
            <a:r>
              <a:rPr sz="1100" b="0" dirty="0">
                <a:solidFill>
                  <a:srgbClr val="4A9B8E"/>
                </a:solidFill>
                <a:latin typeface="Calibri"/>
              </a:rPr>
              <a:t>11</a:t>
            </a:r>
          </a:p>
        </p:txBody>
      </p:sp>
      <p:pic>
        <p:nvPicPr>
          <p:cNvPr id="7" name="Picture 6">
            <a:extLst>
              <a:ext uri="{FF2B5EF4-FFF2-40B4-BE49-F238E27FC236}">
                <a16:creationId xmlns:a16="http://schemas.microsoft.com/office/drawing/2014/main" id="{7F8A7E5D-2B5E-3036-8952-4F39B0271CE5}"/>
              </a:ext>
            </a:extLst>
          </p:cNvPr>
          <p:cNvPicPr>
            <a:picLocks noChangeAspect="1"/>
          </p:cNvPicPr>
          <p:nvPr/>
        </p:nvPicPr>
        <p:blipFill>
          <a:blip r:embed="rId3"/>
          <a:stretch>
            <a:fillRect/>
          </a:stretch>
        </p:blipFill>
        <p:spPr>
          <a:xfrm>
            <a:off x="7800857" y="1951888"/>
            <a:ext cx="4286145" cy="4768952"/>
          </a:xfrm>
          <a:prstGeom prst="rect">
            <a:avLst/>
          </a:prstGeom>
        </p:spPr>
      </p:pic>
      <p:sp>
        <p:nvSpPr>
          <p:cNvPr id="16" name="Shape 2">
            <a:extLst>
              <a:ext uri="{FF2B5EF4-FFF2-40B4-BE49-F238E27FC236}">
                <a16:creationId xmlns:a16="http://schemas.microsoft.com/office/drawing/2014/main" id="{DB7C98F1-BC19-7122-365A-1D4E80DA291B}"/>
              </a:ext>
            </a:extLst>
          </p:cNvPr>
          <p:cNvSpPr/>
          <p:nvPr/>
        </p:nvSpPr>
        <p:spPr>
          <a:xfrm>
            <a:off x="268844" y="2191426"/>
            <a:ext cx="3618769" cy="4529414"/>
          </a:xfrm>
          <a:prstGeom prst="snip1Rect">
            <a:avLst/>
          </a:prstGeom>
          <a:solidFill>
            <a:srgbClr val="315251"/>
          </a:solidFill>
          <a:ln/>
        </p:spPr>
        <p:txBody>
          <a:bodyPr/>
          <a:lstStyle/>
          <a:p>
            <a:endParaRPr lang="en-US" dirty="0"/>
          </a:p>
        </p:txBody>
      </p:sp>
      <p:sp>
        <p:nvSpPr>
          <p:cNvPr id="18" name="Shape 2">
            <a:extLst>
              <a:ext uri="{FF2B5EF4-FFF2-40B4-BE49-F238E27FC236}">
                <a16:creationId xmlns:a16="http://schemas.microsoft.com/office/drawing/2014/main" id="{F37C3E97-2A7A-1110-E10B-A97B87B2D46E}"/>
              </a:ext>
            </a:extLst>
          </p:cNvPr>
          <p:cNvSpPr/>
          <p:nvPr/>
        </p:nvSpPr>
        <p:spPr>
          <a:xfrm>
            <a:off x="268844" y="1540192"/>
            <a:ext cx="3618769" cy="607688"/>
          </a:xfrm>
          <a:prstGeom prst="snip2SameRect">
            <a:avLst/>
          </a:prstGeom>
          <a:solidFill>
            <a:srgbClr val="315251"/>
          </a:solidFill>
          <a:ln/>
        </p:spPr>
        <p:txBody>
          <a:bodyPr anchor="ctr"/>
          <a:lstStyle/>
          <a:p>
            <a:pPr algn="ctr"/>
            <a:r>
              <a:rPr lang="en-US" b="1" dirty="0">
                <a:solidFill>
                  <a:srgbClr val="E3B99E"/>
                </a:solidFill>
                <a:latin typeface="Quattrocento" pitchFamily="34" charset="0"/>
                <a:ea typeface="Quattrocento" pitchFamily="34" charset="-122"/>
                <a:cs typeface="Quattrocento" pitchFamily="34" charset="-120"/>
              </a:rPr>
              <a:t>Current Issues</a:t>
            </a:r>
            <a:endParaRPr lang="en-US" b="1" dirty="0">
              <a:solidFill>
                <a:srgbClr val="E3B99E"/>
              </a:solidFill>
            </a:endParaRPr>
          </a:p>
        </p:txBody>
      </p:sp>
      <p:sp>
        <p:nvSpPr>
          <p:cNvPr id="19" name="Shape 2">
            <a:extLst>
              <a:ext uri="{FF2B5EF4-FFF2-40B4-BE49-F238E27FC236}">
                <a16:creationId xmlns:a16="http://schemas.microsoft.com/office/drawing/2014/main" id="{78766D39-53E3-67B6-3B6E-CBD27A3F5D51}"/>
              </a:ext>
            </a:extLst>
          </p:cNvPr>
          <p:cNvSpPr/>
          <p:nvPr/>
        </p:nvSpPr>
        <p:spPr>
          <a:xfrm>
            <a:off x="4034850" y="1540192"/>
            <a:ext cx="3618769" cy="607688"/>
          </a:xfrm>
          <a:prstGeom prst="snip2SameRect">
            <a:avLst/>
          </a:prstGeom>
          <a:solidFill>
            <a:srgbClr val="315251"/>
          </a:solidFill>
          <a:ln/>
        </p:spPr>
        <p:txBody>
          <a:bodyPr anchor="ctr"/>
          <a:lstStyle/>
          <a:p>
            <a:pPr algn="ctr"/>
            <a:r>
              <a:rPr lang="en-US" b="1" dirty="0">
                <a:solidFill>
                  <a:srgbClr val="E3B99E"/>
                </a:solidFill>
                <a:latin typeface="Quattrocento" pitchFamily="34" charset="0"/>
                <a:ea typeface="Quattrocento" pitchFamily="34" charset="-122"/>
                <a:cs typeface="Quattrocento" pitchFamily="34" charset="-120"/>
              </a:rPr>
              <a:t>Reformed Investment Potential</a:t>
            </a:r>
          </a:p>
        </p:txBody>
      </p:sp>
      <p:sp>
        <p:nvSpPr>
          <p:cNvPr id="20" name="TextBox 19">
            <a:extLst>
              <a:ext uri="{FF2B5EF4-FFF2-40B4-BE49-F238E27FC236}">
                <a16:creationId xmlns:a16="http://schemas.microsoft.com/office/drawing/2014/main" id="{B3DF8C4D-3BEA-4D30-7037-B6CE463A9975}"/>
              </a:ext>
            </a:extLst>
          </p:cNvPr>
          <p:cNvSpPr txBox="1"/>
          <p:nvPr/>
        </p:nvSpPr>
        <p:spPr>
          <a:xfrm>
            <a:off x="268843" y="4920261"/>
            <a:ext cx="3789872" cy="1679242"/>
          </a:xfrm>
          <a:prstGeom prst="rect">
            <a:avLst/>
          </a:prstGeom>
          <a:noFill/>
        </p:spPr>
        <p:txBody>
          <a:bodyPr wrap="square" rtlCol="0">
            <a:spAutoFit/>
          </a:bodyPr>
          <a:lstStyle/>
          <a:p>
            <a:pPr>
              <a:lnSpc>
                <a:spcPts val="2450"/>
              </a:lnSpc>
              <a:buSzPct val="100000"/>
            </a:pPr>
            <a:r>
              <a:rPr lang="en-US" b="1" dirty="0">
                <a:solidFill>
                  <a:srgbClr val="F9EEE7"/>
                </a:solidFill>
                <a:latin typeface="Quattrocento" panose="02020502030000000404" pitchFamily="18" charset="0"/>
                <a:ea typeface="Quattrocento" pitchFamily="34" charset="-122"/>
                <a:cs typeface="Quattrocento" pitchFamily="34" charset="-120"/>
              </a:rPr>
              <a:t>3. </a:t>
            </a:r>
            <a:r>
              <a:rPr lang="en-US" dirty="0">
                <a:solidFill>
                  <a:srgbClr val="F9EEE7"/>
                </a:solidFill>
                <a:latin typeface="Quattrocento" panose="02020502030000000404" pitchFamily="18" charset="0"/>
                <a:ea typeface="Quattrocento" pitchFamily="34" charset="-122"/>
                <a:cs typeface="Quattrocento" pitchFamily="34" charset="-120"/>
              </a:rPr>
              <a:t>Highway expansions move forward unchecked, alternative investments (transit access, safe sidewalks, clean air corridors) remain underfunded.</a:t>
            </a:r>
            <a:endParaRPr lang="en-US" dirty="0"/>
          </a:p>
        </p:txBody>
      </p:sp>
      <p:sp>
        <p:nvSpPr>
          <p:cNvPr id="21" name="TextBox 20">
            <a:extLst>
              <a:ext uri="{FF2B5EF4-FFF2-40B4-BE49-F238E27FC236}">
                <a16:creationId xmlns:a16="http://schemas.microsoft.com/office/drawing/2014/main" id="{C0CD356F-995E-F9B3-C5C2-17CC9E202E6D}"/>
              </a:ext>
            </a:extLst>
          </p:cNvPr>
          <p:cNvSpPr txBox="1"/>
          <p:nvPr/>
        </p:nvSpPr>
        <p:spPr>
          <a:xfrm>
            <a:off x="268844" y="2505670"/>
            <a:ext cx="3618769" cy="923330"/>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1. </a:t>
            </a:r>
            <a:r>
              <a:rPr lang="en-US" dirty="0">
                <a:solidFill>
                  <a:srgbClr val="F9EEE7"/>
                </a:solidFill>
                <a:latin typeface="Quattrocento" panose="02020502030000000404" pitchFamily="18" charset="0"/>
                <a:ea typeface="Quattrocento" pitchFamily="34" charset="-122"/>
                <a:cs typeface="Quattrocento" pitchFamily="34" charset="-120"/>
              </a:rPr>
              <a:t>Communities by highway corridors experience elevated health effects.</a:t>
            </a:r>
          </a:p>
        </p:txBody>
      </p:sp>
      <p:sp>
        <p:nvSpPr>
          <p:cNvPr id="22" name="TextBox 21">
            <a:extLst>
              <a:ext uri="{FF2B5EF4-FFF2-40B4-BE49-F238E27FC236}">
                <a16:creationId xmlns:a16="http://schemas.microsoft.com/office/drawing/2014/main" id="{45E74628-E0F9-9EE4-5C91-257B56D85F11}"/>
              </a:ext>
            </a:extLst>
          </p:cNvPr>
          <p:cNvSpPr txBox="1"/>
          <p:nvPr/>
        </p:nvSpPr>
        <p:spPr>
          <a:xfrm>
            <a:off x="268843" y="3494829"/>
            <a:ext cx="3618769" cy="1359603"/>
          </a:xfrm>
          <a:prstGeom prst="rect">
            <a:avLst/>
          </a:prstGeom>
          <a:noFill/>
        </p:spPr>
        <p:txBody>
          <a:bodyPr wrap="square" rtlCol="0">
            <a:spAutoFit/>
          </a:bodyPr>
          <a:lstStyle/>
          <a:p>
            <a:pPr>
              <a:lnSpc>
                <a:spcPts val="2450"/>
              </a:lnSpc>
              <a:buSzPct val="100000"/>
            </a:pPr>
            <a:r>
              <a:rPr lang="en-US" b="1" dirty="0">
                <a:solidFill>
                  <a:srgbClr val="F9EEE7"/>
                </a:solidFill>
                <a:latin typeface="Quattrocento" panose="02020502030000000404" pitchFamily="18" charset="0"/>
                <a:ea typeface="Quattrocento" pitchFamily="34" charset="-122"/>
                <a:cs typeface="Quattrocento" pitchFamily="34" charset="-120"/>
              </a:rPr>
              <a:t>2. </a:t>
            </a:r>
            <a:r>
              <a:rPr lang="en-US" dirty="0">
                <a:solidFill>
                  <a:srgbClr val="F9EEE7"/>
                </a:solidFill>
                <a:latin typeface="Quattrocento" panose="02020502030000000404" pitchFamily="18" charset="0"/>
                <a:ea typeface="Quattrocento" pitchFamily="34" charset="-122"/>
                <a:cs typeface="Quattrocento" pitchFamily="34" charset="-120"/>
              </a:rPr>
              <a:t>Low-income + minority communities carry  disproportionate share of traffic-related air pollution.</a:t>
            </a:r>
          </a:p>
        </p:txBody>
      </p:sp>
      <p:sp>
        <p:nvSpPr>
          <p:cNvPr id="23" name="Shape 2">
            <a:extLst>
              <a:ext uri="{FF2B5EF4-FFF2-40B4-BE49-F238E27FC236}">
                <a16:creationId xmlns:a16="http://schemas.microsoft.com/office/drawing/2014/main" id="{0B54B013-3261-DDF4-B034-0A114FB62025}"/>
              </a:ext>
            </a:extLst>
          </p:cNvPr>
          <p:cNvSpPr/>
          <p:nvPr/>
        </p:nvSpPr>
        <p:spPr>
          <a:xfrm flipH="1">
            <a:off x="4034850" y="2191426"/>
            <a:ext cx="3594904" cy="4529414"/>
          </a:xfrm>
          <a:prstGeom prst="snip1Rect">
            <a:avLst/>
          </a:prstGeom>
          <a:solidFill>
            <a:srgbClr val="315251"/>
          </a:solidFill>
          <a:ln/>
        </p:spPr>
        <p:txBody>
          <a:bodyPr/>
          <a:lstStyle/>
          <a:p>
            <a:endParaRPr lang="en-US" dirty="0"/>
          </a:p>
        </p:txBody>
      </p:sp>
      <p:sp>
        <p:nvSpPr>
          <p:cNvPr id="30" name="TextBox 29">
            <a:extLst>
              <a:ext uri="{FF2B5EF4-FFF2-40B4-BE49-F238E27FC236}">
                <a16:creationId xmlns:a16="http://schemas.microsoft.com/office/drawing/2014/main" id="{33D107EB-B5D9-81DE-E0A7-E9E8EBF1C3E2}"/>
              </a:ext>
            </a:extLst>
          </p:cNvPr>
          <p:cNvSpPr txBox="1"/>
          <p:nvPr/>
        </p:nvSpPr>
        <p:spPr>
          <a:xfrm>
            <a:off x="4286307" y="2376258"/>
            <a:ext cx="3343445" cy="1477328"/>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1. </a:t>
            </a:r>
            <a:r>
              <a:rPr lang="en-US" dirty="0">
                <a:solidFill>
                  <a:srgbClr val="F9EEE7"/>
                </a:solidFill>
                <a:latin typeface="Quattrocento" pitchFamily="34" charset="0"/>
                <a:ea typeface="Quattrocento" pitchFamily="34" charset="-122"/>
                <a:cs typeface="Quattrocento" pitchFamily="34" charset="-120"/>
              </a:rPr>
              <a:t>Redirecting funds toward transit, walking, &amp; infill housing delivers some of greatest health gains in overburdened communities.</a:t>
            </a:r>
          </a:p>
        </p:txBody>
      </p:sp>
      <p:sp>
        <p:nvSpPr>
          <p:cNvPr id="31" name="TextBox 30">
            <a:extLst>
              <a:ext uri="{FF2B5EF4-FFF2-40B4-BE49-F238E27FC236}">
                <a16:creationId xmlns:a16="http://schemas.microsoft.com/office/drawing/2014/main" id="{5A29100D-F35D-2E2E-F337-8BF9799322D9}"/>
              </a:ext>
            </a:extLst>
          </p:cNvPr>
          <p:cNvSpPr txBox="1"/>
          <p:nvPr/>
        </p:nvSpPr>
        <p:spPr>
          <a:xfrm>
            <a:off x="4286307" y="3810086"/>
            <a:ext cx="3343445" cy="1477328"/>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2. </a:t>
            </a:r>
            <a:r>
              <a:rPr lang="en-US" dirty="0">
                <a:solidFill>
                  <a:srgbClr val="F9EEE7"/>
                </a:solidFill>
                <a:latin typeface="Quattrocento" pitchFamily="34" charset="0"/>
                <a:ea typeface="Quattrocento" pitchFamily="34" charset="-122"/>
                <a:cs typeface="Quattrocento" pitchFamily="34" charset="-120"/>
              </a:rPr>
              <a:t>Corrective action requirements: recurring opportunities to direct investments toward overburdened communities.</a:t>
            </a:r>
            <a:endParaRPr lang="en-US" dirty="0"/>
          </a:p>
        </p:txBody>
      </p:sp>
      <p:sp>
        <p:nvSpPr>
          <p:cNvPr id="32" name="TextBox 31">
            <a:extLst>
              <a:ext uri="{FF2B5EF4-FFF2-40B4-BE49-F238E27FC236}">
                <a16:creationId xmlns:a16="http://schemas.microsoft.com/office/drawing/2014/main" id="{9798A0D3-C22E-789A-8C90-00BBAB84E66F}"/>
              </a:ext>
            </a:extLst>
          </p:cNvPr>
          <p:cNvSpPr txBox="1"/>
          <p:nvPr/>
        </p:nvSpPr>
        <p:spPr>
          <a:xfrm>
            <a:off x="4286307" y="5298674"/>
            <a:ext cx="3343445" cy="1477328"/>
          </a:xfrm>
          <a:prstGeom prst="rect">
            <a:avLst/>
          </a:prstGeom>
          <a:noFill/>
        </p:spPr>
        <p:txBody>
          <a:bodyPr wrap="square" rtlCol="0">
            <a:spAutoFit/>
          </a:bodyPr>
          <a:lstStyle/>
          <a:p>
            <a:r>
              <a:rPr lang="en-US" b="1" dirty="0">
                <a:solidFill>
                  <a:srgbClr val="F9EEE7"/>
                </a:solidFill>
                <a:latin typeface="Quattrocento" panose="02020502030000000404" pitchFamily="18" charset="0"/>
                <a:ea typeface="Quattrocento" pitchFamily="34" charset="-122"/>
                <a:cs typeface="Quattrocento" pitchFamily="34" charset="-120"/>
              </a:rPr>
              <a:t>3. </a:t>
            </a:r>
            <a:r>
              <a:rPr lang="en-US" dirty="0">
                <a:solidFill>
                  <a:srgbClr val="F9EEE7"/>
                </a:solidFill>
                <a:latin typeface="Quattrocento" pitchFamily="34" charset="0"/>
                <a:ea typeface="Quattrocento" pitchFamily="34" charset="-122"/>
                <a:cs typeface="Quattrocento" pitchFamily="34" charset="-120"/>
              </a:rPr>
              <a:t>Multimodal access scoring encourages investments in transit, walking, and biking that expand options for low-income households.</a:t>
            </a:r>
            <a:endParaRPr lang="en-US" dirty="0"/>
          </a:p>
        </p:txBody>
      </p:sp>
      <p:cxnSp>
        <p:nvCxnSpPr>
          <p:cNvPr id="34" name="Straight Connector 33">
            <a:extLst>
              <a:ext uri="{FF2B5EF4-FFF2-40B4-BE49-F238E27FC236}">
                <a16:creationId xmlns:a16="http://schemas.microsoft.com/office/drawing/2014/main" id="{A5857965-F1A0-C29F-E629-F95E984D553E}"/>
              </a:ext>
            </a:extLst>
          </p:cNvPr>
          <p:cNvCxnSpPr/>
          <p:nvPr/>
        </p:nvCxnSpPr>
        <p:spPr>
          <a:xfrm>
            <a:off x="268843" y="3473058"/>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1A5CE95-CBF0-BE29-A05E-F69C2488260F}"/>
              </a:ext>
            </a:extLst>
          </p:cNvPr>
          <p:cNvCxnSpPr/>
          <p:nvPr/>
        </p:nvCxnSpPr>
        <p:spPr>
          <a:xfrm>
            <a:off x="268843" y="4876719"/>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A034BF4-9C35-20C4-268F-9C21BFAEDCDF}"/>
              </a:ext>
            </a:extLst>
          </p:cNvPr>
          <p:cNvCxnSpPr/>
          <p:nvPr/>
        </p:nvCxnSpPr>
        <p:spPr>
          <a:xfrm>
            <a:off x="4010983" y="3810086"/>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0DCCAD5-66A6-312C-D301-EBCD5197F792}"/>
              </a:ext>
            </a:extLst>
          </p:cNvPr>
          <p:cNvCxnSpPr/>
          <p:nvPr/>
        </p:nvCxnSpPr>
        <p:spPr>
          <a:xfrm>
            <a:off x="4034850" y="5255646"/>
            <a:ext cx="3618769" cy="0"/>
          </a:xfrm>
          <a:prstGeom prst="line">
            <a:avLst/>
          </a:prstGeom>
          <a:ln>
            <a:solidFill>
              <a:srgbClr val="005A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0-#ppt_w/2"/>
                                          </p:val>
                                        </p:tav>
                                        <p:tav tm="100000">
                                          <p:val>
                                            <p:strVal val="#ppt_x"/>
                                          </p:val>
                                        </p:tav>
                                      </p:tavLst>
                                    </p:anim>
                                    <p:anim calcmode="lin" valueType="num">
                                      <p:cBhvr additive="base">
                                        <p:cTn id="19" dur="500" fill="hold"/>
                                        <p:tgtEl>
                                          <p:spTgt spid="18"/>
                                        </p:tgtEl>
                                        <p:attrNameLst>
                                          <p:attrName>ppt_y</p:attrName>
                                        </p:attrNameLst>
                                      </p:cBhvr>
                                      <p:tavLst>
                                        <p:tav tm="0">
                                          <p:val>
                                            <p:strVal val="#ppt_y"/>
                                          </p:val>
                                        </p:tav>
                                        <p:tav tm="100000">
                                          <p:val>
                                            <p:strVal val="#ppt_y"/>
                                          </p:val>
                                        </p:tav>
                                      </p:tavLst>
                                    </p:anim>
                                  </p:childTnLst>
                                </p:cTn>
                              </p:par>
                              <p:par>
                                <p:cTn id="20" presetID="2" presetClass="entr" presetSubtype="8" fill="hold" grpId="1"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0-#ppt_w/2"/>
                                          </p:val>
                                        </p:tav>
                                        <p:tav tm="100000">
                                          <p:val>
                                            <p:strVal val="#ppt_x"/>
                                          </p:val>
                                        </p:tav>
                                      </p:tavLst>
                                    </p:anim>
                                    <p:anim calcmode="lin" valueType="num">
                                      <p:cBhvr additive="base">
                                        <p:cTn id="23"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 calcmode="lin" valueType="num">
                                      <p:cBhvr additive="base">
                                        <p:cTn id="44" dur="500" fill="hold"/>
                                        <p:tgtEl>
                                          <p:spTgt spid="19"/>
                                        </p:tgtEl>
                                        <p:attrNameLst>
                                          <p:attrName>ppt_x</p:attrName>
                                        </p:attrNameLst>
                                      </p:cBhvr>
                                      <p:tavLst>
                                        <p:tav tm="0">
                                          <p:val>
                                            <p:strVal val="1+#ppt_w/2"/>
                                          </p:val>
                                        </p:tav>
                                        <p:tav tm="100000">
                                          <p:val>
                                            <p:strVal val="#ppt_x"/>
                                          </p:val>
                                        </p:tav>
                                      </p:tavLst>
                                    </p:anim>
                                    <p:anim calcmode="lin" valueType="num">
                                      <p:cBhvr additive="base">
                                        <p:cTn id="45"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additive="base">
                                        <p:cTn id="50" dur="500" fill="hold"/>
                                        <p:tgtEl>
                                          <p:spTgt spid="23"/>
                                        </p:tgtEl>
                                        <p:attrNameLst>
                                          <p:attrName>ppt_x</p:attrName>
                                        </p:attrNameLst>
                                      </p:cBhvr>
                                      <p:tavLst>
                                        <p:tav tm="0">
                                          <p:val>
                                            <p:strVal val="1+#ppt_w/2"/>
                                          </p:val>
                                        </p:tav>
                                        <p:tav tm="100000">
                                          <p:val>
                                            <p:strVal val="#ppt_x"/>
                                          </p:val>
                                        </p:tav>
                                      </p:tavLst>
                                    </p:anim>
                                    <p:anim calcmode="lin" valueType="num">
                                      <p:cBhvr additive="base">
                                        <p:cTn id="51"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1" animBg="1"/>
      <p:bldP spid="18" grpId="0" animBg="1"/>
      <p:bldP spid="19" grpId="0" animBg="1"/>
      <p:bldP spid="20" grpId="0"/>
      <p:bldP spid="21" grpId="0"/>
      <p:bldP spid="22" grpId="0"/>
      <p:bldP spid="23" grpId="0" animBg="1"/>
      <p:bldP spid="30" grpId="0"/>
      <p:bldP spid="31"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D78605ED-8F08-2B70-D348-D938794116A0}"/>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905768" y="34836"/>
            <a:ext cx="10291508" cy="6861005"/>
          </a:xfrm>
          <a:prstGeom prst="roundRect">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969B7A10-FC1E-411A-7C21-6A134CDA2251}"/>
              </a:ext>
            </a:extLst>
          </p:cNvPr>
          <p:cNvSpPr/>
          <p:nvPr/>
        </p:nvSpPr>
        <p:spPr>
          <a:xfrm>
            <a:off x="1948543" y="166223"/>
            <a:ext cx="8294914" cy="712088"/>
          </a:xfrm>
          <a:prstGeom prst="rect">
            <a:avLst/>
          </a:prstGeom>
          <a:noFill/>
          <a:ln/>
        </p:spPr>
        <p:txBody>
          <a:bodyPr wrap="square" lIns="0" tIns="0" rIns="0" bIns="0" rtlCol="0" anchor="ctr"/>
          <a:lstStyle/>
          <a:p>
            <a:pPr algn="ctr">
              <a:lnSpc>
                <a:spcPts val="3333"/>
              </a:lnSpc>
            </a:pPr>
            <a:r>
              <a:rPr lang="en-US" sz="5000" b="1" dirty="0">
                <a:solidFill>
                  <a:srgbClr val="E8967A"/>
                </a:solidFill>
                <a:latin typeface="Georgia" panose="02040502050405020303" pitchFamily="18" charset="0"/>
                <a:ea typeface="Quattrocento" pitchFamily="34" charset="-122"/>
                <a:cs typeface="Quattrocento" pitchFamily="34" charset="-120"/>
              </a:rPr>
              <a:t>Recommendations &amp; Ask</a:t>
            </a:r>
            <a:endParaRPr lang="en-US" sz="5000" b="1" dirty="0">
              <a:solidFill>
                <a:srgbClr val="E8967A"/>
              </a:solidFill>
              <a:latin typeface="Georgia" panose="02040502050405020303" pitchFamily="18" charset="0"/>
            </a:endParaRPr>
          </a:p>
        </p:txBody>
      </p:sp>
      <p:grpSp>
        <p:nvGrpSpPr>
          <p:cNvPr id="36" name="Group 35">
            <a:extLst>
              <a:ext uri="{FF2B5EF4-FFF2-40B4-BE49-F238E27FC236}">
                <a16:creationId xmlns:a16="http://schemas.microsoft.com/office/drawing/2014/main" id="{E854EB4D-2F35-B001-2E7A-4E3BF128259E}"/>
              </a:ext>
            </a:extLst>
          </p:cNvPr>
          <p:cNvGrpSpPr/>
          <p:nvPr/>
        </p:nvGrpSpPr>
        <p:grpSpPr>
          <a:xfrm>
            <a:off x="161182" y="799246"/>
            <a:ext cx="3903883" cy="2922191"/>
            <a:chOff x="295816" y="1103239"/>
            <a:chExt cx="4349612" cy="3213217"/>
          </a:xfrm>
        </p:grpSpPr>
        <p:sp>
          <p:nvSpPr>
            <p:cNvPr id="4" name="Shape 2">
              <a:extLst>
                <a:ext uri="{FF2B5EF4-FFF2-40B4-BE49-F238E27FC236}">
                  <a16:creationId xmlns:a16="http://schemas.microsoft.com/office/drawing/2014/main" id="{7D3AF978-9594-37CF-C16C-4E49C916CD80}"/>
                </a:ext>
              </a:extLst>
            </p:cNvPr>
            <p:cNvSpPr/>
            <p:nvPr/>
          </p:nvSpPr>
          <p:spPr>
            <a:xfrm>
              <a:off x="295816" y="1103239"/>
              <a:ext cx="4349612" cy="3213217"/>
            </a:xfrm>
            <a:prstGeom prst="roundRect">
              <a:avLst/>
            </a:prstGeom>
            <a:solidFill>
              <a:srgbClr val="315251"/>
            </a:solidFill>
            <a:ln/>
          </p:spPr>
          <p:txBody>
            <a:bodyPr/>
            <a:lstStyle/>
            <a:p>
              <a:endParaRPr lang="en-US" sz="1500" dirty="0"/>
            </a:p>
          </p:txBody>
        </p:sp>
        <p:sp>
          <p:nvSpPr>
            <p:cNvPr id="13" name="Text 4">
              <a:extLst>
                <a:ext uri="{FF2B5EF4-FFF2-40B4-BE49-F238E27FC236}">
                  <a16:creationId xmlns:a16="http://schemas.microsoft.com/office/drawing/2014/main" id="{3F0F7C17-9142-3A4C-0D1B-64E6BF8FF661}"/>
                </a:ext>
              </a:extLst>
            </p:cNvPr>
            <p:cNvSpPr/>
            <p:nvPr/>
          </p:nvSpPr>
          <p:spPr>
            <a:xfrm>
              <a:off x="501114" y="2253064"/>
              <a:ext cx="2417694" cy="276275"/>
            </a:xfrm>
            <a:prstGeom prst="rect">
              <a:avLst/>
            </a:prstGeom>
            <a:noFill/>
            <a:ln/>
          </p:spPr>
          <p:txBody>
            <a:bodyPr wrap="none" lIns="0" tIns="0" rIns="0" bIns="0" rtlCol="0" anchor="t"/>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NRDC</a:t>
              </a:r>
              <a:endParaRPr lang="en-US" sz="2400" b="1" dirty="0"/>
            </a:p>
          </p:txBody>
        </p:sp>
        <p:sp>
          <p:nvSpPr>
            <p:cNvPr id="14" name="Text 5">
              <a:extLst>
                <a:ext uri="{FF2B5EF4-FFF2-40B4-BE49-F238E27FC236}">
                  <a16:creationId xmlns:a16="http://schemas.microsoft.com/office/drawing/2014/main" id="{3ECFA72C-969C-4EB8-CAB9-2BE91E11D7E6}"/>
                </a:ext>
              </a:extLst>
            </p:cNvPr>
            <p:cNvSpPr/>
            <p:nvPr/>
          </p:nvSpPr>
          <p:spPr>
            <a:xfrm>
              <a:off x="501253" y="2663497"/>
              <a:ext cx="3938735" cy="1219607"/>
            </a:xfrm>
            <a:prstGeom prst="rect">
              <a:avLst/>
            </a:prstGeom>
            <a:noFill/>
            <a:ln/>
          </p:spPr>
          <p:txBody>
            <a:bodyPr wrap="square" lIns="0" tIns="0" rIns="0" bIns="0" rtlCol="0" anchor="t"/>
            <a:lstStyle/>
            <a:p>
              <a:r>
                <a:rPr lang="en-US" sz="2000" dirty="0">
                  <a:solidFill>
                    <a:srgbClr val="F3CABC"/>
                  </a:solidFill>
                  <a:latin typeface="Quattrocento" panose="02020502030000000404" pitchFamily="18" charset="0"/>
                </a:rPr>
                <a:t>Deploy the three-scenario framework and dashboard in legislative advocacy.</a:t>
              </a:r>
            </a:p>
          </p:txBody>
        </p:sp>
      </p:grpSp>
      <p:grpSp>
        <p:nvGrpSpPr>
          <p:cNvPr id="34" name="Group 33">
            <a:extLst>
              <a:ext uri="{FF2B5EF4-FFF2-40B4-BE49-F238E27FC236}">
                <a16:creationId xmlns:a16="http://schemas.microsoft.com/office/drawing/2014/main" id="{9BCEC3BB-0DC5-6ADE-CD66-D9AF1302076A}"/>
              </a:ext>
            </a:extLst>
          </p:cNvPr>
          <p:cNvGrpSpPr/>
          <p:nvPr/>
        </p:nvGrpSpPr>
        <p:grpSpPr>
          <a:xfrm>
            <a:off x="135606" y="3823102"/>
            <a:ext cx="3903883" cy="2983017"/>
            <a:chOff x="295675" y="4559151"/>
            <a:chExt cx="4349753" cy="3213217"/>
          </a:xfrm>
        </p:grpSpPr>
        <p:sp>
          <p:nvSpPr>
            <p:cNvPr id="6" name="Shape 6">
              <a:extLst>
                <a:ext uri="{FF2B5EF4-FFF2-40B4-BE49-F238E27FC236}">
                  <a16:creationId xmlns:a16="http://schemas.microsoft.com/office/drawing/2014/main" id="{81DA1B0E-287D-C7E3-53E0-5BEBCEA9ACDA}"/>
                </a:ext>
              </a:extLst>
            </p:cNvPr>
            <p:cNvSpPr/>
            <p:nvPr/>
          </p:nvSpPr>
          <p:spPr>
            <a:xfrm>
              <a:off x="295675" y="4559151"/>
              <a:ext cx="4349753" cy="3213217"/>
            </a:xfrm>
            <a:prstGeom prst="roundRect">
              <a:avLst/>
            </a:prstGeom>
            <a:solidFill>
              <a:srgbClr val="315251"/>
            </a:solidFill>
            <a:ln/>
          </p:spPr>
          <p:txBody>
            <a:bodyPr/>
            <a:lstStyle/>
            <a:p>
              <a:endParaRPr lang="en-US" sz="1500" dirty="0"/>
            </a:p>
          </p:txBody>
        </p:sp>
        <p:sp>
          <p:nvSpPr>
            <p:cNvPr id="16" name="Text 8">
              <a:extLst>
                <a:ext uri="{FF2B5EF4-FFF2-40B4-BE49-F238E27FC236}">
                  <a16:creationId xmlns:a16="http://schemas.microsoft.com/office/drawing/2014/main" id="{2B4299B4-4681-2C5A-B04D-F29988DD48B5}"/>
                </a:ext>
              </a:extLst>
            </p:cNvPr>
            <p:cNvSpPr/>
            <p:nvPr/>
          </p:nvSpPr>
          <p:spPr>
            <a:xfrm>
              <a:off x="501115" y="5678596"/>
              <a:ext cx="2717570" cy="325808"/>
            </a:xfrm>
            <a:prstGeom prst="roundRect">
              <a:avLst/>
            </a:prstGeom>
            <a:noFill/>
            <a:ln/>
          </p:spPr>
          <p:txBody>
            <a:bodyPr wrap="none" lIns="0" tIns="0" rIns="0" bIns="0" rtlCol="0" anchor="ctr"/>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California</a:t>
              </a:r>
              <a:endParaRPr lang="en-US" sz="2400" b="1" dirty="0"/>
            </a:p>
          </p:txBody>
        </p:sp>
        <p:sp>
          <p:nvSpPr>
            <p:cNvPr id="17" name="Text 9">
              <a:extLst>
                <a:ext uri="{FF2B5EF4-FFF2-40B4-BE49-F238E27FC236}">
                  <a16:creationId xmlns:a16="http://schemas.microsoft.com/office/drawing/2014/main" id="{E7B090D1-D42D-E845-730F-96442DC7CD32}"/>
                </a:ext>
              </a:extLst>
            </p:cNvPr>
            <p:cNvSpPr/>
            <p:nvPr/>
          </p:nvSpPr>
          <p:spPr>
            <a:xfrm>
              <a:off x="422970" y="6073834"/>
              <a:ext cx="3938876" cy="1524507"/>
            </a:xfrm>
            <a:prstGeom prst="roundRect">
              <a:avLst/>
            </a:prstGeom>
            <a:noFill/>
            <a:ln/>
          </p:spPr>
          <p:txBody>
            <a:bodyPr wrap="square" lIns="0" tIns="0" rIns="0" bIns="0" rtlCol="0" anchor="t"/>
            <a:lstStyle/>
            <a:p>
              <a:r>
                <a:rPr lang="en-US" sz="2000" dirty="0">
                  <a:solidFill>
                    <a:srgbClr val="F3CABC"/>
                  </a:solidFill>
                  <a:latin typeface="Quattrocento" panose="02020502030000000404" pitchFamily="18" charset="0"/>
                </a:rPr>
                <a:t>Input VMT-accountability statutory and regulatory language.</a:t>
              </a:r>
            </a:p>
          </p:txBody>
        </p:sp>
      </p:grpSp>
      <p:sp>
        <p:nvSpPr>
          <p:cNvPr id="10" name="Shape 7">
            <a:extLst>
              <a:ext uri="{FF2B5EF4-FFF2-40B4-BE49-F238E27FC236}">
                <a16:creationId xmlns:a16="http://schemas.microsoft.com/office/drawing/2014/main" id="{B3DA270C-AB43-006A-ED39-8220BDDDEE59}"/>
              </a:ext>
            </a:extLst>
          </p:cNvPr>
          <p:cNvSpPr/>
          <p:nvPr/>
        </p:nvSpPr>
        <p:spPr>
          <a:xfrm>
            <a:off x="353769" y="975408"/>
            <a:ext cx="688798" cy="693360"/>
          </a:xfrm>
          <a:prstGeom prst="roundRect">
            <a:avLst/>
          </a:prstGeom>
          <a:solidFill>
            <a:srgbClr val="EF9C82"/>
          </a:solidFill>
          <a:ln/>
        </p:spPr>
        <p:txBody>
          <a:bodyPr/>
          <a:lstStyle/>
          <a:p>
            <a:endParaRPr lang="en-US" sz="1500" dirty="0"/>
          </a:p>
        </p:txBody>
      </p:sp>
      <p:pic>
        <p:nvPicPr>
          <p:cNvPr id="11" name="Picture 10">
            <a:extLst>
              <a:ext uri="{FF2B5EF4-FFF2-40B4-BE49-F238E27FC236}">
                <a16:creationId xmlns:a16="http://schemas.microsoft.com/office/drawing/2014/main" id="{9C78C638-56CE-C677-2A57-E38D812E6794}"/>
              </a:ext>
            </a:extLst>
          </p:cNvPr>
          <p:cNvPicPr>
            <a:picLocks noChangeAspect="1"/>
          </p:cNvPicPr>
          <p:nvPr/>
        </p:nvPicPr>
        <p:blipFill>
          <a:blip r:embed="rId3"/>
          <a:stretch>
            <a:fillRect/>
          </a:stretch>
        </p:blipFill>
        <p:spPr>
          <a:xfrm>
            <a:off x="449371" y="999315"/>
            <a:ext cx="502592" cy="669453"/>
          </a:xfrm>
          <a:prstGeom prst="rect">
            <a:avLst/>
          </a:prstGeom>
        </p:spPr>
      </p:pic>
      <p:sp>
        <p:nvSpPr>
          <p:cNvPr id="12" name="Shape 7">
            <a:extLst>
              <a:ext uri="{FF2B5EF4-FFF2-40B4-BE49-F238E27FC236}">
                <a16:creationId xmlns:a16="http://schemas.microsoft.com/office/drawing/2014/main" id="{404C38BA-9F41-AA59-3793-1330D85695B2}"/>
              </a:ext>
            </a:extLst>
          </p:cNvPr>
          <p:cNvSpPr/>
          <p:nvPr/>
        </p:nvSpPr>
        <p:spPr>
          <a:xfrm>
            <a:off x="353769" y="4000012"/>
            <a:ext cx="688798" cy="693360"/>
          </a:xfrm>
          <a:prstGeom prst="roundRect">
            <a:avLst/>
          </a:prstGeom>
          <a:solidFill>
            <a:srgbClr val="EF9C82"/>
          </a:solidFill>
          <a:ln/>
        </p:spPr>
        <p:txBody>
          <a:bodyPr/>
          <a:lstStyle/>
          <a:p>
            <a:endParaRPr lang="en-US" sz="1500" dirty="0"/>
          </a:p>
        </p:txBody>
      </p:sp>
      <p:sp>
        <p:nvSpPr>
          <p:cNvPr id="25" name="Shape 6">
            <a:extLst>
              <a:ext uri="{FF2B5EF4-FFF2-40B4-BE49-F238E27FC236}">
                <a16:creationId xmlns:a16="http://schemas.microsoft.com/office/drawing/2014/main" id="{1CED5F9A-AF52-CB18-B22E-A24706268879}"/>
              </a:ext>
            </a:extLst>
          </p:cNvPr>
          <p:cNvSpPr/>
          <p:nvPr/>
        </p:nvSpPr>
        <p:spPr>
          <a:xfrm>
            <a:off x="8101543" y="3817130"/>
            <a:ext cx="3903883" cy="2983017"/>
          </a:xfrm>
          <a:prstGeom prst="roundRect">
            <a:avLst/>
          </a:prstGeom>
          <a:solidFill>
            <a:srgbClr val="315251"/>
          </a:solidFill>
          <a:ln/>
        </p:spPr>
        <p:txBody>
          <a:bodyPr/>
          <a:lstStyle/>
          <a:p>
            <a:endParaRPr lang="en-US" sz="1500" dirty="0"/>
          </a:p>
        </p:txBody>
      </p:sp>
      <p:pic>
        <p:nvPicPr>
          <p:cNvPr id="4098" name="Picture 2">
            <a:extLst>
              <a:ext uri="{FF2B5EF4-FFF2-40B4-BE49-F238E27FC236}">
                <a16:creationId xmlns:a16="http://schemas.microsoft.com/office/drawing/2014/main" id="{51E4FF43-F5F4-7A33-3F36-6B63455E62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371" y="4022314"/>
            <a:ext cx="545403" cy="648756"/>
          </a:xfrm>
          <a:prstGeom prst="round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4D36322B-00F9-FC38-4A21-E7EA78E5DD79}"/>
              </a:ext>
            </a:extLst>
          </p:cNvPr>
          <p:cNvGrpSpPr/>
          <p:nvPr/>
        </p:nvGrpSpPr>
        <p:grpSpPr>
          <a:xfrm>
            <a:off x="8127934" y="738420"/>
            <a:ext cx="3903883" cy="2983017"/>
            <a:chOff x="295675" y="4559151"/>
            <a:chExt cx="4349753" cy="3213217"/>
          </a:xfrm>
        </p:grpSpPr>
        <p:sp>
          <p:nvSpPr>
            <p:cNvPr id="27" name="Shape 6">
              <a:extLst>
                <a:ext uri="{FF2B5EF4-FFF2-40B4-BE49-F238E27FC236}">
                  <a16:creationId xmlns:a16="http://schemas.microsoft.com/office/drawing/2014/main" id="{AAAC711C-DE81-DD33-8D58-9B7D395C7B1E}"/>
                </a:ext>
              </a:extLst>
            </p:cNvPr>
            <p:cNvSpPr/>
            <p:nvPr/>
          </p:nvSpPr>
          <p:spPr>
            <a:xfrm>
              <a:off x="295675" y="4559151"/>
              <a:ext cx="4349753" cy="3213217"/>
            </a:xfrm>
            <a:prstGeom prst="roundRect">
              <a:avLst/>
            </a:prstGeom>
            <a:solidFill>
              <a:srgbClr val="315251"/>
            </a:solidFill>
            <a:ln/>
          </p:spPr>
          <p:txBody>
            <a:bodyPr/>
            <a:lstStyle/>
            <a:p>
              <a:endParaRPr lang="en-US" sz="1500" dirty="0"/>
            </a:p>
          </p:txBody>
        </p:sp>
        <p:sp>
          <p:nvSpPr>
            <p:cNvPr id="28" name="Text 8">
              <a:extLst>
                <a:ext uri="{FF2B5EF4-FFF2-40B4-BE49-F238E27FC236}">
                  <a16:creationId xmlns:a16="http://schemas.microsoft.com/office/drawing/2014/main" id="{89AAC7B0-98C3-AE83-E3A5-B870ABA241B7}"/>
                </a:ext>
              </a:extLst>
            </p:cNvPr>
            <p:cNvSpPr/>
            <p:nvPr/>
          </p:nvSpPr>
          <p:spPr>
            <a:xfrm>
              <a:off x="501115" y="5678596"/>
              <a:ext cx="2717570" cy="325808"/>
            </a:xfrm>
            <a:prstGeom prst="roundRect">
              <a:avLst/>
            </a:prstGeom>
            <a:noFill/>
            <a:ln/>
          </p:spPr>
          <p:txBody>
            <a:bodyPr wrap="none" lIns="0" tIns="0" rIns="0" bIns="0" rtlCol="0" anchor="ctr"/>
            <a:lstStyle/>
            <a:p>
              <a:pPr>
                <a:lnSpc>
                  <a:spcPts val="1667"/>
                </a:lnSpc>
              </a:pPr>
              <a:r>
                <a:rPr lang="en-US" sz="2400" b="1" dirty="0">
                  <a:solidFill>
                    <a:srgbClr val="F9EEE7"/>
                  </a:solidFill>
                  <a:latin typeface="Quattrocento" pitchFamily="34" charset="0"/>
                  <a:ea typeface="Quattrocento" pitchFamily="34" charset="-122"/>
                  <a:cs typeface="Quattrocento" pitchFamily="34" charset="-120"/>
                </a:rPr>
                <a:t>Transportation Planners</a:t>
              </a:r>
              <a:endParaRPr lang="en-US" sz="2400" b="1" dirty="0"/>
            </a:p>
          </p:txBody>
        </p:sp>
        <p:sp>
          <p:nvSpPr>
            <p:cNvPr id="29" name="Text 9">
              <a:extLst>
                <a:ext uri="{FF2B5EF4-FFF2-40B4-BE49-F238E27FC236}">
                  <a16:creationId xmlns:a16="http://schemas.microsoft.com/office/drawing/2014/main" id="{74291F71-FDC5-D8DC-15F7-23E15BFCA0BD}"/>
                </a:ext>
              </a:extLst>
            </p:cNvPr>
            <p:cNvSpPr/>
            <p:nvPr/>
          </p:nvSpPr>
          <p:spPr>
            <a:xfrm>
              <a:off x="422970" y="6073834"/>
              <a:ext cx="4193052" cy="1524507"/>
            </a:xfrm>
            <a:prstGeom prst="roundRect">
              <a:avLst/>
            </a:prstGeom>
            <a:noFill/>
            <a:ln/>
          </p:spPr>
          <p:txBody>
            <a:bodyPr wrap="square" lIns="0" tIns="0" rIns="0" bIns="0" rtlCol="0" anchor="t"/>
            <a:lstStyle/>
            <a:p>
              <a:r>
                <a:rPr lang="en-US" sz="2000" dirty="0">
                  <a:solidFill>
                    <a:srgbClr val="F3CABC"/>
                  </a:solidFill>
                  <a:latin typeface="Quattrocento" panose="02020502030000000404" pitchFamily="18" charset="0"/>
                </a:rPr>
                <a:t>Dashboard &amp; data pipeline open-source and reproducible. Any MPO, NGO, or researcher can fork, adapt, and deploy.</a:t>
              </a:r>
            </a:p>
          </p:txBody>
        </p:sp>
      </p:grpSp>
      <p:sp>
        <p:nvSpPr>
          <p:cNvPr id="30" name="Shape 7">
            <a:extLst>
              <a:ext uri="{FF2B5EF4-FFF2-40B4-BE49-F238E27FC236}">
                <a16:creationId xmlns:a16="http://schemas.microsoft.com/office/drawing/2014/main" id="{07DE0CAA-CA0D-942F-8288-840CFE51D9D1}"/>
              </a:ext>
            </a:extLst>
          </p:cNvPr>
          <p:cNvSpPr/>
          <p:nvPr/>
        </p:nvSpPr>
        <p:spPr>
          <a:xfrm>
            <a:off x="8312315" y="948530"/>
            <a:ext cx="688798" cy="693360"/>
          </a:xfrm>
          <a:prstGeom prst="roundRect">
            <a:avLst/>
          </a:prstGeom>
          <a:solidFill>
            <a:srgbClr val="EF9C82"/>
          </a:solidFill>
          <a:ln/>
        </p:spPr>
        <p:txBody>
          <a:bodyPr/>
          <a:lstStyle/>
          <a:p>
            <a:endParaRPr lang="en-US" sz="1500" dirty="0"/>
          </a:p>
        </p:txBody>
      </p:sp>
      <p:sp>
        <p:nvSpPr>
          <p:cNvPr id="33" name="Shape 7">
            <a:extLst>
              <a:ext uri="{FF2B5EF4-FFF2-40B4-BE49-F238E27FC236}">
                <a16:creationId xmlns:a16="http://schemas.microsoft.com/office/drawing/2014/main" id="{5F24CBEC-AD47-34BF-CD08-61B5EF843A69}"/>
              </a:ext>
            </a:extLst>
          </p:cNvPr>
          <p:cNvSpPr/>
          <p:nvPr/>
        </p:nvSpPr>
        <p:spPr>
          <a:xfrm>
            <a:off x="8312315" y="3972250"/>
            <a:ext cx="688798" cy="698820"/>
          </a:xfrm>
          <a:prstGeom prst="roundRect">
            <a:avLst/>
          </a:prstGeom>
          <a:solidFill>
            <a:srgbClr val="EF9C82"/>
          </a:solidFill>
          <a:ln/>
        </p:spPr>
        <p:txBody>
          <a:bodyPr/>
          <a:lstStyle/>
          <a:p>
            <a:endParaRPr lang="en-US" sz="1500" dirty="0"/>
          </a:p>
        </p:txBody>
      </p:sp>
      <p:sp>
        <p:nvSpPr>
          <p:cNvPr id="38" name="Text 8">
            <a:extLst>
              <a:ext uri="{FF2B5EF4-FFF2-40B4-BE49-F238E27FC236}">
                <a16:creationId xmlns:a16="http://schemas.microsoft.com/office/drawing/2014/main" id="{88404522-8CA4-69A0-7EBE-5EF20144E760}"/>
              </a:ext>
            </a:extLst>
          </p:cNvPr>
          <p:cNvSpPr/>
          <p:nvPr/>
        </p:nvSpPr>
        <p:spPr>
          <a:xfrm>
            <a:off x="8301518" y="4797369"/>
            <a:ext cx="3447757" cy="302467"/>
          </a:xfrm>
          <a:prstGeom prst="roundRect">
            <a:avLst/>
          </a:prstGeom>
          <a:noFill/>
          <a:ln/>
        </p:spPr>
        <p:txBody>
          <a:bodyPr wrap="none" lIns="0" tIns="0" rIns="0" bIns="0" rtlCol="0" anchor="ctr"/>
          <a:lstStyle/>
          <a:p>
            <a:pPr>
              <a:lnSpc>
                <a:spcPts val="1667"/>
              </a:lnSpc>
            </a:pPr>
            <a:r>
              <a:rPr lang="en-US" sz="2400" b="1" dirty="0">
                <a:solidFill>
                  <a:srgbClr val="F9EEE7"/>
                </a:solidFill>
                <a:latin typeface="Quattrocento" pitchFamily="34" charset="0"/>
              </a:rPr>
              <a:t>Bay Area City Planners</a:t>
            </a:r>
            <a:endParaRPr lang="en-US" sz="2400" b="1" dirty="0"/>
          </a:p>
        </p:txBody>
      </p:sp>
      <p:sp>
        <p:nvSpPr>
          <p:cNvPr id="39" name="Text 9">
            <a:extLst>
              <a:ext uri="{FF2B5EF4-FFF2-40B4-BE49-F238E27FC236}">
                <a16:creationId xmlns:a16="http://schemas.microsoft.com/office/drawing/2014/main" id="{DB3517BD-B8F8-2AD0-889B-C8895B3F4413}"/>
              </a:ext>
            </a:extLst>
          </p:cNvPr>
          <p:cNvSpPr/>
          <p:nvPr/>
        </p:nvSpPr>
        <p:spPr>
          <a:xfrm>
            <a:off x="8242181" y="5195530"/>
            <a:ext cx="3763245" cy="1415289"/>
          </a:xfrm>
          <a:prstGeom prst="roundRect">
            <a:avLst/>
          </a:prstGeom>
          <a:noFill/>
          <a:ln/>
        </p:spPr>
        <p:txBody>
          <a:bodyPr wrap="square" lIns="0" tIns="0" rIns="0" bIns="0" rtlCol="0" anchor="t"/>
          <a:lstStyle/>
          <a:p>
            <a:r>
              <a:rPr lang="en-US" sz="2000" dirty="0">
                <a:solidFill>
                  <a:srgbClr val="F3CABC"/>
                </a:solidFill>
                <a:latin typeface="Quattrocento" panose="02020502030000000404" pitchFamily="18" charset="0"/>
              </a:rPr>
              <a:t>Prioritize multimodal investments and strengthen protections and engagement in underserved communities.</a:t>
            </a:r>
          </a:p>
        </p:txBody>
      </p:sp>
      <p:pic>
        <p:nvPicPr>
          <p:cNvPr id="41" name="Graphic 40" descr="Bridge scene with solid fill">
            <a:extLst>
              <a:ext uri="{FF2B5EF4-FFF2-40B4-BE49-F238E27FC236}">
                <a16:creationId xmlns:a16="http://schemas.microsoft.com/office/drawing/2014/main" id="{06B9D314-9E05-8172-C72E-727FB720A1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69342" y="3909252"/>
            <a:ext cx="751884" cy="750275"/>
          </a:xfrm>
          <a:prstGeom prst="rect">
            <a:avLst/>
          </a:prstGeom>
        </p:spPr>
      </p:pic>
      <p:pic>
        <p:nvPicPr>
          <p:cNvPr id="45" name="Graphic 44" descr="Group brainstorm outline">
            <a:extLst>
              <a:ext uri="{FF2B5EF4-FFF2-40B4-BE49-F238E27FC236}">
                <a16:creationId xmlns:a16="http://schemas.microsoft.com/office/drawing/2014/main" id="{74293F11-5460-3150-27DE-8DEB48AEB4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12315" y="960073"/>
            <a:ext cx="693360" cy="693360"/>
          </a:xfrm>
          <a:prstGeom prst="rect">
            <a:avLst/>
          </a:prstGeom>
        </p:spPr>
      </p:pic>
    </p:spTree>
    <p:extLst>
      <p:ext uri="{BB962C8B-B14F-4D97-AF65-F5344CB8AC3E}">
        <p14:creationId xmlns:p14="http://schemas.microsoft.com/office/powerpoint/2010/main" val="91978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4098"/>
                                        </p:tgtEl>
                                        <p:attrNameLst>
                                          <p:attrName>style.visibility</p:attrName>
                                        </p:attrNameLst>
                                      </p:cBhvr>
                                      <p:to>
                                        <p:strVal val="visible"/>
                                      </p:to>
                                    </p:set>
                                    <p:animEffect transition="in" filter="fade">
                                      <p:cBhvr>
                                        <p:cTn id="21" dur="500"/>
                                        <p:tgtEl>
                                          <p:spTgt spid="4098"/>
                                        </p:tgtEl>
                                      </p:cBhvr>
                                    </p:animEffect>
                                  </p:childTnLst>
                                </p:cTn>
                              </p:par>
                              <p:par>
                                <p:cTn id="22" presetID="10" presetClass="entr" presetSubtype="0"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par>
                                <p:cTn id="41" presetID="10" presetClass="entr" presetSubtype="0" fill="hold"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25" grpId="0" animBg="1"/>
      <p:bldP spid="30" grpId="0" animBg="1"/>
      <p:bldP spid="33" grpId="0" animBg="1"/>
      <p:bldP spid="38" grpId="0" animBg="1"/>
      <p:bldP spid="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334EF2C-4FA0-8A69-9CD7-4979FB672B83}"/>
              </a:ext>
            </a:extLst>
          </p:cNvPr>
          <p:cNvSpPr/>
          <p:nvPr/>
        </p:nvSpPr>
        <p:spPr>
          <a:xfrm>
            <a:off x="185057" y="-27661"/>
            <a:ext cx="11821886" cy="712088"/>
          </a:xfrm>
          <a:prstGeom prst="rect">
            <a:avLst/>
          </a:prstGeom>
          <a:noFill/>
          <a:ln/>
        </p:spPr>
        <p:txBody>
          <a:bodyPr wrap="square" lIns="0" tIns="0" rIns="0" bIns="0" rtlCol="0" anchor="ctr"/>
          <a:lstStyle/>
          <a:p>
            <a:pPr algn="ctr">
              <a:lnSpc>
                <a:spcPts val="3333"/>
              </a:lnSpc>
            </a:pPr>
            <a:r>
              <a:rPr lang="en-US" sz="3400" b="1" dirty="0">
                <a:solidFill>
                  <a:srgbClr val="E8967A"/>
                </a:solidFill>
                <a:latin typeface="Quattrocento" panose="02020502030000000404" pitchFamily="18" charset="0"/>
                <a:ea typeface="Quattrocento" pitchFamily="34" charset="-122"/>
                <a:cs typeface="Quattrocento" pitchFamily="34" charset="-120"/>
              </a:rPr>
              <a:t>Acknowledgements and Special Thanks</a:t>
            </a:r>
            <a:endParaRPr lang="en-US" sz="3400" b="1" dirty="0">
              <a:solidFill>
                <a:srgbClr val="E8967A"/>
              </a:solidFill>
              <a:latin typeface="Quattrocento" panose="02020502030000000404" pitchFamily="18" charset="0"/>
            </a:endParaRPr>
          </a:p>
        </p:txBody>
      </p:sp>
      <p:pic>
        <p:nvPicPr>
          <p:cNvPr id="3" name="Picture 4" descr="Zak Accuardi, Director, Mobility Choices, Climate &amp; Energy">
            <a:extLst>
              <a:ext uri="{FF2B5EF4-FFF2-40B4-BE49-F238E27FC236}">
                <a16:creationId xmlns:a16="http://schemas.microsoft.com/office/drawing/2014/main" id="{F8CB3345-692C-F30C-EE07-1B3C28D76D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440" r="12912"/>
          <a:stretch>
            <a:fillRect/>
          </a:stretch>
        </p:blipFill>
        <p:spPr bwMode="auto">
          <a:xfrm>
            <a:off x="362830" y="813964"/>
            <a:ext cx="2267966" cy="1595086"/>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46" name="Picture 2" descr="Liane M. Randolph">
            <a:extLst>
              <a:ext uri="{FF2B5EF4-FFF2-40B4-BE49-F238E27FC236}">
                <a16:creationId xmlns:a16="http://schemas.microsoft.com/office/drawing/2014/main" id="{C2193611-20CB-F593-0096-E7598C05CF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9184"/>
          <a:stretch>
            <a:fillRect/>
          </a:stretch>
        </p:blipFill>
        <p:spPr bwMode="auto">
          <a:xfrm>
            <a:off x="3735748" y="608506"/>
            <a:ext cx="1799181" cy="1911148"/>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48" name="Picture 4" descr="Karen Trapenberg Frick">
            <a:extLst>
              <a:ext uri="{FF2B5EF4-FFF2-40B4-BE49-F238E27FC236}">
                <a16:creationId xmlns:a16="http://schemas.microsoft.com/office/drawing/2014/main" id="{158D05A0-E8A8-CEE2-6C93-4BA4BFC0456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004" b="21373"/>
          <a:stretch>
            <a:fillRect/>
          </a:stretch>
        </p:blipFill>
        <p:spPr bwMode="auto">
          <a:xfrm>
            <a:off x="3042347" y="3680838"/>
            <a:ext cx="1885461" cy="2017171"/>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50" name="Picture 6" descr="Egon Terplan - California Forward">
            <a:extLst>
              <a:ext uri="{FF2B5EF4-FFF2-40B4-BE49-F238E27FC236}">
                <a16:creationId xmlns:a16="http://schemas.microsoft.com/office/drawing/2014/main" id="{2A5EF6C6-2A16-A6B3-E737-DF49F31AC9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9049" y="684427"/>
            <a:ext cx="1799181" cy="1799181"/>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CB556C2B-E55A-1EE8-FE0A-FE4F2DCB22D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810" t="23810"/>
          <a:stretch>
            <a:fillRect/>
          </a:stretch>
        </p:blipFill>
        <p:spPr bwMode="auto">
          <a:xfrm>
            <a:off x="185057" y="3615522"/>
            <a:ext cx="1951855" cy="1951855"/>
          </a:xfrm>
          <a:prstGeom prst="ellipse">
            <a:avLst/>
          </a:prstGeom>
          <a:noFill/>
          <a:ln w="38100">
            <a:solidFill>
              <a:srgbClr val="2284A8"/>
            </a:solidFill>
          </a:ln>
        </p:spPr>
      </p:pic>
      <p:sp>
        <p:nvSpPr>
          <p:cNvPr id="10" name="TextBox 9">
            <a:extLst>
              <a:ext uri="{FF2B5EF4-FFF2-40B4-BE49-F238E27FC236}">
                <a16:creationId xmlns:a16="http://schemas.microsoft.com/office/drawing/2014/main" id="{F1FA6E5F-E2CB-B7B9-B2B5-4B2625F138DD}"/>
              </a:ext>
            </a:extLst>
          </p:cNvPr>
          <p:cNvSpPr txBox="1"/>
          <p:nvPr/>
        </p:nvSpPr>
        <p:spPr>
          <a:xfrm>
            <a:off x="-114709" y="5610174"/>
            <a:ext cx="2551386" cy="1277273"/>
          </a:xfrm>
          <a:prstGeom prst="rect">
            <a:avLst/>
          </a:prstGeom>
          <a:noFill/>
        </p:spPr>
        <p:txBody>
          <a:bodyPr wrap="square">
            <a:spAutoFit/>
          </a:bodyPr>
          <a:lstStyle/>
          <a:p>
            <a:pPr algn="ctr" rtl="0">
              <a:buNone/>
            </a:pPr>
            <a:r>
              <a:rPr lang="en-US" sz="2100" b="1" i="0" u="none" strike="noStrike" dirty="0">
                <a:solidFill>
                  <a:srgbClr val="FFFFFF"/>
                </a:solidFill>
                <a:effectLst/>
                <a:latin typeface="Quattrocento" panose="02020502030000000404" pitchFamily="18" charset="0"/>
              </a:rPr>
              <a:t>Kara Vuicich</a:t>
            </a:r>
            <a:endParaRPr lang="en-US" sz="2100" b="1"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Bay Area Metropolitan Transportation Commission Principal Planner, Regional Planning Program</a:t>
            </a:r>
            <a:endParaRPr lang="en-US" sz="1400" dirty="0">
              <a:latin typeface="Quattrocento" panose="02020502030000000404" pitchFamily="18" charset="0"/>
            </a:endParaRPr>
          </a:p>
        </p:txBody>
      </p:sp>
      <p:sp>
        <p:nvSpPr>
          <p:cNvPr id="11" name="TextBox 10">
            <a:extLst>
              <a:ext uri="{FF2B5EF4-FFF2-40B4-BE49-F238E27FC236}">
                <a16:creationId xmlns:a16="http://schemas.microsoft.com/office/drawing/2014/main" id="{65E009F5-1357-33CD-E5A5-F8E57CC827F3}"/>
              </a:ext>
            </a:extLst>
          </p:cNvPr>
          <p:cNvSpPr txBox="1"/>
          <p:nvPr/>
        </p:nvSpPr>
        <p:spPr>
          <a:xfrm>
            <a:off x="2280730" y="5751870"/>
            <a:ext cx="3408694"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Karen Frick, PhD</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Director, Institute of Urban &amp; Regional Development at UC Berkeley; Associate Professor of City &amp; Regional Planning</a:t>
            </a:r>
            <a:endParaRPr lang="en-US" sz="1400" dirty="0">
              <a:latin typeface="Quattrocento" panose="02020502030000000404" pitchFamily="18" charset="0"/>
            </a:endParaRPr>
          </a:p>
        </p:txBody>
      </p:sp>
      <p:sp>
        <p:nvSpPr>
          <p:cNvPr id="12" name="TextBox 11">
            <a:extLst>
              <a:ext uri="{FF2B5EF4-FFF2-40B4-BE49-F238E27FC236}">
                <a16:creationId xmlns:a16="http://schemas.microsoft.com/office/drawing/2014/main" id="{ECBC13C8-28DA-9BDE-F68D-64D36253B213}"/>
              </a:ext>
            </a:extLst>
          </p:cNvPr>
          <p:cNvSpPr txBox="1"/>
          <p:nvPr/>
        </p:nvSpPr>
        <p:spPr>
          <a:xfrm>
            <a:off x="261703" y="2467440"/>
            <a:ext cx="2470220" cy="846386"/>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Zak Accuardi</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Director, Mobility Choices, Climate &amp; Energy at NRDC</a:t>
            </a:r>
            <a:endParaRPr lang="en-US" sz="1400" dirty="0">
              <a:latin typeface="Quattrocento" panose="02020502030000000404" pitchFamily="18" charset="0"/>
            </a:endParaRPr>
          </a:p>
        </p:txBody>
      </p:sp>
      <p:sp>
        <p:nvSpPr>
          <p:cNvPr id="13" name="TextBox 12">
            <a:extLst>
              <a:ext uri="{FF2B5EF4-FFF2-40B4-BE49-F238E27FC236}">
                <a16:creationId xmlns:a16="http://schemas.microsoft.com/office/drawing/2014/main" id="{53A3579C-0D0F-950A-1B4B-6F7FBB3F9E05}"/>
              </a:ext>
            </a:extLst>
          </p:cNvPr>
          <p:cNvSpPr txBox="1"/>
          <p:nvPr/>
        </p:nvSpPr>
        <p:spPr>
          <a:xfrm>
            <a:off x="2978487" y="2519653"/>
            <a:ext cx="3208299"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Liane Randolph, JD</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Former Chair, California Air Resources Board and California Public Utilities Commission</a:t>
            </a:r>
            <a:endParaRPr lang="en-US" sz="1400" dirty="0">
              <a:latin typeface="Quattrocento" panose="02020502030000000404" pitchFamily="18" charset="0"/>
            </a:endParaRPr>
          </a:p>
        </p:txBody>
      </p:sp>
      <p:sp>
        <p:nvSpPr>
          <p:cNvPr id="14" name="TextBox 13">
            <a:extLst>
              <a:ext uri="{FF2B5EF4-FFF2-40B4-BE49-F238E27FC236}">
                <a16:creationId xmlns:a16="http://schemas.microsoft.com/office/drawing/2014/main" id="{D348594E-0384-1CAD-97F6-218184173260}"/>
              </a:ext>
            </a:extLst>
          </p:cNvPr>
          <p:cNvSpPr txBox="1"/>
          <p:nvPr/>
        </p:nvSpPr>
        <p:spPr>
          <a:xfrm>
            <a:off x="6044506" y="2536899"/>
            <a:ext cx="3545130" cy="1154162"/>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Ergon Terplan</a:t>
            </a:r>
            <a:endParaRPr lang="en-US" sz="2100" b="0" dirty="0">
              <a:effectLst/>
              <a:latin typeface="Quattrocento" panose="02020502030000000404" pitchFamily="18" charset="0"/>
            </a:endParaRPr>
          </a:p>
          <a:p>
            <a:pPr algn="ctr" rtl="0">
              <a:buNone/>
            </a:pPr>
            <a:r>
              <a:rPr lang="en-US" sz="1200" b="1" i="0" u="none" strike="noStrike" dirty="0">
                <a:solidFill>
                  <a:srgbClr val="FFFFFF"/>
                </a:solidFill>
                <a:effectLst/>
                <a:latin typeface="Quattrocento" panose="02020502030000000404" pitchFamily="18" charset="0"/>
              </a:rPr>
              <a:t>Senior Policy Advisor, UC Berkeley Institute of Transportation Studies; Former Senior Advisor for Economic Development and Transportation at Governor’s Office of Planning and Research</a:t>
            </a:r>
            <a:endParaRPr lang="en-US" sz="1200" dirty="0">
              <a:latin typeface="Quattrocento" panose="02020502030000000404" pitchFamily="18" charset="0"/>
            </a:endParaRPr>
          </a:p>
        </p:txBody>
      </p:sp>
      <p:sp>
        <p:nvSpPr>
          <p:cNvPr id="15" name="TextBox 14">
            <a:extLst>
              <a:ext uri="{FF2B5EF4-FFF2-40B4-BE49-F238E27FC236}">
                <a16:creationId xmlns:a16="http://schemas.microsoft.com/office/drawing/2014/main" id="{9C4EE5A2-0E6C-A95D-832B-F385E1D7D14F}"/>
              </a:ext>
            </a:extLst>
          </p:cNvPr>
          <p:cNvSpPr txBox="1"/>
          <p:nvPr/>
        </p:nvSpPr>
        <p:spPr>
          <a:xfrm>
            <a:off x="9466815" y="2684292"/>
            <a:ext cx="2660741"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Cole Roberts</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Americas Energy Business Climate &amp; Sustainability Services Partner at ARUP</a:t>
            </a:r>
            <a:endParaRPr lang="en-US" sz="1400" dirty="0">
              <a:latin typeface="Quattrocento" panose="02020502030000000404" pitchFamily="18" charset="0"/>
            </a:endParaRPr>
          </a:p>
        </p:txBody>
      </p:sp>
      <p:pic>
        <p:nvPicPr>
          <p:cNvPr id="6154" name="Picture 10" descr="Cole Roberts, Arup">
            <a:extLst>
              <a:ext uri="{FF2B5EF4-FFF2-40B4-BE49-F238E27FC236}">
                <a16:creationId xmlns:a16="http://schemas.microsoft.com/office/drawing/2014/main" id="{8B80E82B-4C82-DDB1-7167-74C8D4C8B94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4154" b="13846"/>
          <a:stretch>
            <a:fillRect/>
          </a:stretch>
        </p:blipFill>
        <p:spPr bwMode="auto">
          <a:xfrm>
            <a:off x="9765203" y="755574"/>
            <a:ext cx="2063967" cy="1857571"/>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56" name="Picture 12" descr="Profile image">
            <a:extLst>
              <a:ext uri="{FF2B5EF4-FFF2-40B4-BE49-F238E27FC236}">
                <a16:creationId xmlns:a16="http://schemas.microsoft.com/office/drawing/2014/main" id="{69BAF0F1-D023-6E20-1466-2C94700D5A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89424" y="3759522"/>
            <a:ext cx="2031609" cy="2031609"/>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F0624139-824C-843E-B153-651ECFDB064A}"/>
              </a:ext>
            </a:extLst>
          </p:cNvPr>
          <p:cNvSpPr txBox="1"/>
          <p:nvPr/>
        </p:nvSpPr>
        <p:spPr>
          <a:xfrm>
            <a:off x="5636382" y="5865489"/>
            <a:ext cx="2137693" cy="1061829"/>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Sooji Yang</a:t>
            </a:r>
            <a:endParaRPr lang="en-US" sz="2100" b="0" dirty="0">
              <a:effectLst/>
              <a:latin typeface="Quattrocento" panose="02020502030000000404" pitchFamily="18" charset="0"/>
            </a:endParaRPr>
          </a:p>
          <a:p>
            <a:pPr algn="ctr" rtl="0">
              <a:buNone/>
            </a:pPr>
            <a:r>
              <a:rPr lang="en-US" sz="1400" i="0" u="none" strike="noStrike" dirty="0">
                <a:solidFill>
                  <a:srgbClr val="FFFFFF"/>
                </a:solidFill>
                <a:effectLst/>
                <a:latin typeface="Quattrocento" panose="02020502030000000404" pitchFamily="18" charset="0"/>
              </a:rPr>
              <a:t>Master of Public Policy ‘26, UCLA Luskin School of Public Affairs</a:t>
            </a:r>
            <a:endParaRPr lang="en-US" sz="1400" dirty="0">
              <a:latin typeface="Quattrocento" panose="02020502030000000404" pitchFamily="18" charset="0"/>
            </a:endParaRPr>
          </a:p>
        </p:txBody>
      </p:sp>
      <p:sp>
        <p:nvSpPr>
          <p:cNvPr id="18" name="TextBox 17">
            <a:extLst>
              <a:ext uri="{FF2B5EF4-FFF2-40B4-BE49-F238E27FC236}">
                <a16:creationId xmlns:a16="http://schemas.microsoft.com/office/drawing/2014/main" id="{9E6BCE79-68B9-F75A-087E-6097288E35F9}"/>
              </a:ext>
            </a:extLst>
          </p:cNvPr>
          <p:cNvSpPr txBox="1"/>
          <p:nvPr/>
        </p:nvSpPr>
        <p:spPr>
          <a:xfrm>
            <a:off x="7745939" y="5982457"/>
            <a:ext cx="2551386" cy="846386"/>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Saikat Chakrabarti</a:t>
            </a:r>
          </a:p>
          <a:p>
            <a:pPr algn="ctr" rtl="0">
              <a:buNone/>
            </a:pPr>
            <a:r>
              <a:rPr lang="en-US" sz="1400" i="0" u="none" strike="noStrike" dirty="0">
                <a:solidFill>
                  <a:srgbClr val="FFFFFF"/>
                </a:solidFill>
                <a:effectLst/>
                <a:latin typeface="Quattrocento" panose="02020502030000000404" pitchFamily="18" charset="0"/>
              </a:rPr>
              <a:t>Former Chief of Staff for Rep. Alexandria Ocasio-Cortez</a:t>
            </a:r>
            <a:endParaRPr lang="en-US" sz="1400" dirty="0">
              <a:latin typeface="Quattrocento" panose="02020502030000000404" pitchFamily="18" charset="0"/>
            </a:endParaRPr>
          </a:p>
        </p:txBody>
      </p:sp>
      <p:pic>
        <p:nvPicPr>
          <p:cNvPr id="6158" name="Picture 14" descr="Saikat Chakrabarti - Wikipedia">
            <a:extLst>
              <a:ext uri="{FF2B5EF4-FFF2-40B4-BE49-F238E27FC236}">
                <a16:creationId xmlns:a16="http://schemas.microsoft.com/office/drawing/2014/main" id="{DE99A0D3-31F3-3F9C-99BE-401F0E6C53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53623" y="3829367"/>
            <a:ext cx="1593167" cy="2124222"/>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pic>
        <p:nvPicPr>
          <p:cNvPr id="6160" name="Picture 16" descr="Biography | Senator Scott Wiener">
            <a:extLst>
              <a:ext uri="{FF2B5EF4-FFF2-40B4-BE49-F238E27FC236}">
                <a16:creationId xmlns:a16="http://schemas.microsoft.com/office/drawing/2014/main" id="{F1397504-DEAA-62B1-DFAB-01575CD923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07516" y="3870316"/>
            <a:ext cx="1531743" cy="2042324"/>
          </a:xfrm>
          <a:prstGeom prst="ellipse">
            <a:avLst/>
          </a:prstGeom>
          <a:noFill/>
          <a:ln w="38100">
            <a:solidFill>
              <a:srgbClr val="2284A8"/>
            </a:solidFill>
          </a:ln>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79C6BF2D-B288-2C8A-B03E-FDFBBA2500D9}"/>
              </a:ext>
            </a:extLst>
          </p:cNvPr>
          <p:cNvSpPr txBox="1"/>
          <p:nvPr/>
        </p:nvSpPr>
        <p:spPr>
          <a:xfrm>
            <a:off x="10158959" y="6011325"/>
            <a:ext cx="2033042" cy="846386"/>
          </a:xfrm>
          <a:prstGeom prst="rect">
            <a:avLst/>
          </a:prstGeom>
          <a:noFill/>
        </p:spPr>
        <p:txBody>
          <a:bodyPr wrap="square">
            <a:spAutoFit/>
          </a:bodyPr>
          <a:lstStyle/>
          <a:p>
            <a:pPr algn="ctr" rtl="0">
              <a:buNone/>
            </a:pPr>
            <a:r>
              <a:rPr lang="en-US" sz="2100" b="1" dirty="0">
                <a:solidFill>
                  <a:srgbClr val="FFFFFF"/>
                </a:solidFill>
                <a:latin typeface="Quattrocento" panose="02020502030000000404" pitchFamily="18" charset="0"/>
              </a:rPr>
              <a:t>Scott Wiener</a:t>
            </a:r>
          </a:p>
          <a:p>
            <a:pPr algn="ctr" rtl="0">
              <a:buNone/>
            </a:pPr>
            <a:r>
              <a:rPr lang="en-US" sz="1400" i="0" u="none" strike="noStrike" dirty="0">
                <a:solidFill>
                  <a:srgbClr val="FFFFFF"/>
                </a:solidFill>
                <a:effectLst/>
                <a:latin typeface="Quattrocento" panose="02020502030000000404" pitchFamily="18" charset="0"/>
              </a:rPr>
              <a:t>California State Senator, 11</a:t>
            </a:r>
            <a:r>
              <a:rPr lang="en-US" sz="1400" i="0" u="none" strike="noStrike" baseline="30000" dirty="0">
                <a:solidFill>
                  <a:srgbClr val="FFFFFF"/>
                </a:solidFill>
                <a:effectLst/>
                <a:latin typeface="Quattrocento" panose="02020502030000000404" pitchFamily="18" charset="0"/>
              </a:rPr>
              <a:t>th</a:t>
            </a:r>
            <a:r>
              <a:rPr lang="en-US" sz="1400" i="0" u="none" strike="noStrike" dirty="0">
                <a:solidFill>
                  <a:srgbClr val="FFFFFF"/>
                </a:solidFill>
                <a:effectLst/>
                <a:latin typeface="Quattrocento" panose="02020502030000000404" pitchFamily="18" charset="0"/>
              </a:rPr>
              <a:t> District</a:t>
            </a:r>
            <a:endParaRPr lang="en-US" sz="1400" dirty="0">
              <a:latin typeface="Quattrocento" panose="02020502030000000404" pitchFamily="18" charset="0"/>
            </a:endParaRPr>
          </a:p>
        </p:txBody>
      </p:sp>
    </p:spTree>
    <p:extLst>
      <p:ext uri="{BB962C8B-B14F-4D97-AF65-F5344CB8AC3E}">
        <p14:creationId xmlns:p14="http://schemas.microsoft.com/office/powerpoint/2010/main" val="4065881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an Francisco street car">
            <a:extLst>
              <a:ext uri="{FF2B5EF4-FFF2-40B4-BE49-F238E27FC236}">
                <a16:creationId xmlns:a16="http://schemas.microsoft.com/office/drawing/2014/main" id="{48E70C39-B51A-1148-FE8C-99EC385095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an Diego trolley">
            <a:extLst>
              <a:ext uri="{FF2B5EF4-FFF2-40B4-BE49-F238E27FC236}">
                <a16:creationId xmlns:a16="http://schemas.microsoft.com/office/drawing/2014/main" id="{D7682F26-38B0-6AC5-D9A9-041732DC5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826000"/>
            <a:ext cx="12192000" cy="2032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E370E84B-38A2-5C59-D119-BA97CF128B98}"/>
              </a:ext>
            </a:extLst>
          </p:cNvPr>
          <p:cNvSpPr/>
          <p:nvPr/>
        </p:nvSpPr>
        <p:spPr>
          <a:xfrm>
            <a:off x="4135901" y="3072956"/>
            <a:ext cx="3920197" cy="712088"/>
          </a:xfrm>
          <a:prstGeom prst="rect">
            <a:avLst/>
          </a:prstGeom>
          <a:noFill/>
          <a:ln/>
        </p:spPr>
        <p:txBody>
          <a:bodyPr wrap="square" lIns="0" tIns="0" rIns="0" bIns="0" rtlCol="0" anchor="ctr"/>
          <a:lstStyle/>
          <a:p>
            <a:pPr algn="ctr">
              <a:lnSpc>
                <a:spcPts val="3333"/>
              </a:lnSpc>
            </a:pPr>
            <a:r>
              <a:rPr lang="en-US" sz="6000" b="1" dirty="0">
                <a:solidFill>
                  <a:srgbClr val="E8967A"/>
                </a:solidFill>
                <a:latin typeface="Quattrocento" panose="02020502030000000404" pitchFamily="18" charset="0"/>
                <a:ea typeface="Quattrocento" pitchFamily="34" charset="-122"/>
                <a:cs typeface="Quattrocento" pitchFamily="34" charset="-120"/>
              </a:rPr>
              <a:t>Thank you!</a:t>
            </a:r>
            <a:endParaRPr lang="en-US" sz="6000" b="1" dirty="0">
              <a:solidFill>
                <a:srgbClr val="E8967A"/>
              </a:solidFill>
              <a:latin typeface="Quattrocento" panose="02020502030000000404" pitchFamily="18" charset="0"/>
            </a:endParaRPr>
          </a:p>
        </p:txBody>
      </p:sp>
    </p:spTree>
    <p:extLst>
      <p:ext uri="{BB962C8B-B14F-4D97-AF65-F5344CB8AC3E}">
        <p14:creationId xmlns:p14="http://schemas.microsoft.com/office/powerpoint/2010/main" val="123361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21444</TotalTime>
  <Words>3040</Words>
  <Application>Microsoft Macintosh PowerPoint</Application>
  <PresentationFormat>Widescreen</PresentationFormat>
  <Paragraphs>223</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Georgia</vt:lpstr>
      <vt:lpstr>Quattrocento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Forrest Pasturel</cp:lastModifiedBy>
  <cp:revision>45</cp:revision>
  <dcterms:created xsi:type="dcterms:W3CDTF">2013-01-27T09:14:16Z</dcterms:created>
  <dcterms:modified xsi:type="dcterms:W3CDTF">2026-05-15T20:58:27Z</dcterms:modified>
  <cp:category/>
</cp:coreProperties>
</file>